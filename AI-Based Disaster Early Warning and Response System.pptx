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1563" y="1570230"/>
            <a:ext cx="7000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SYNOPSIS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071563" y="1763111"/>
            <a:ext cx="7000875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225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AI-BASED DISASTER EARLY WARNING AND RESPONSE SYSTEM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071563" y="2737452"/>
            <a:ext cx="34432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4F63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SUBMITTED BY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071563" y="2905330"/>
            <a:ext cx="34432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Suraj Singh (230970170043)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71563" y="3073208"/>
            <a:ext cx="34432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Varun Mundepi (230970170046)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71563" y="3241086"/>
            <a:ext cx="34432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Ayush Petwal (230970170013)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71563" y="3451827"/>
            <a:ext cx="34432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B.Tech CSE (AI &amp; ML)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629150" y="2737452"/>
            <a:ext cx="34432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4F63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INSTITUTION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629150" y="2905330"/>
            <a:ext cx="34432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THDC Institute of Hydropower Engineering &amp; Technology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629150" y="3073208"/>
            <a:ext cx="34432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Tehri Garhwal, Uttarakhand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629150" y="3298236"/>
            <a:ext cx="34432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October 2026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71450" y="4925616"/>
            <a:ext cx="250388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THDC-IHET | Department of Computer Science &amp; Engineering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8936831" y="4925616"/>
            <a:ext cx="3571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Declaration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1075134"/>
            <a:ext cx="8229600" cy="2832497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75134"/>
            <a:ext cx="57150" cy="2832497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" y="1418034"/>
            <a:ext cx="75438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hereby declare that the synopsis entitled </a:t>
            </a:r>
            <a:r>
              <a:rPr lang="en-US" sz="12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“AI-Based Disaster Early Warning and Response System”</a:t>
            </a:r>
            <a:r>
              <a:rPr lang="en-US" sz="12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our original work and has not been submitted to any other University </a:t>
            </a:r>
            <a:r>
              <a:rPr lang="en-US" sz="12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Institution for the award of any degree or diploma.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4379119"/>
            <a:ext cx="25907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Suraj Singh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564856"/>
            <a:ext cx="25907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230970170043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276581" y="4379119"/>
            <a:ext cx="25907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Varun Mundepi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76581" y="4564856"/>
            <a:ext cx="25907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230970170046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095963" y="4379119"/>
            <a:ext cx="25907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Ayush Petwal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95963" y="4564856"/>
            <a:ext cx="25907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230970170013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57200" y="4793456"/>
            <a:ext cx="29253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THDC-IHET | Department of Computer Science &amp; Engineering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626078" y="4793456"/>
            <a:ext cx="607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1075134"/>
            <a:ext cx="4029075" cy="774204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75134"/>
            <a:ext cx="28575" cy="774204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6" name="Text 3"/>
          <p:cNvSpPr/>
          <p:nvPr/>
        </p:nvSpPr>
        <p:spPr>
          <a:xfrm>
            <a:off x="600075" y="1356866"/>
            <a:ext cx="28575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0125" y="1374725"/>
            <a:ext cx="169664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&amp; Motivation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57725" y="1075134"/>
            <a:ext cx="4029075" cy="774204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9" name="Shape 6"/>
          <p:cNvSpPr/>
          <p:nvPr/>
        </p:nvSpPr>
        <p:spPr>
          <a:xfrm>
            <a:off x="4657725" y="1075134"/>
            <a:ext cx="28575" cy="774204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10" name="Text 7"/>
          <p:cNvSpPr/>
          <p:nvPr/>
        </p:nvSpPr>
        <p:spPr>
          <a:xfrm>
            <a:off x="4800600" y="1356866"/>
            <a:ext cx="28575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00650" y="1374725"/>
            <a:ext cx="158234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Methodology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020788"/>
            <a:ext cx="4029075" cy="774204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2020788"/>
            <a:ext cx="28575" cy="774204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14" name="Text 11"/>
          <p:cNvSpPr/>
          <p:nvPr/>
        </p:nvSpPr>
        <p:spPr>
          <a:xfrm>
            <a:off x="600075" y="2302520"/>
            <a:ext cx="28575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0125" y="2320379"/>
            <a:ext cx="21717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 &amp; Objectives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57725" y="2020788"/>
            <a:ext cx="4029075" cy="774204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17" name="Shape 14"/>
          <p:cNvSpPr/>
          <p:nvPr/>
        </p:nvSpPr>
        <p:spPr>
          <a:xfrm>
            <a:off x="4657725" y="2020788"/>
            <a:ext cx="28575" cy="774204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302520"/>
            <a:ext cx="28575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00650" y="2320379"/>
            <a:ext cx="130016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 Used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2966442"/>
            <a:ext cx="4029075" cy="774204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2966442"/>
            <a:ext cx="28575" cy="774204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22" name="Text 19"/>
          <p:cNvSpPr/>
          <p:nvPr/>
        </p:nvSpPr>
        <p:spPr>
          <a:xfrm>
            <a:off x="600075" y="3248174"/>
            <a:ext cx="28575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00125" y="3266033"/>
            <a:ext cx="11501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57725" y="2966442"/>
            <a:ext cx="4029075" cy="774204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25" name="Shape 22"/>
          <p:cNvSpPr/>
          <p:nvPr/>
        </p:nvSpPr>
        <p:spPr>
          <a:xfrm>
            <a:off x="4657725" y="2966442"/>
            <a:ext cx="28575" cy="774204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248174"/>
            <a:ext cx="28575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00650" y="3266033"/>
            <a:ext cx="144303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&amp; Timeline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3912096"/>
            <a:ext cx="4029075" cy="774204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3912096"/>
            <a:ext cx="28575" cy="774204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30" name="Text 27"/>
          <p:cNvSpPr/>
          <p:nvPr/>
        </p:nvSpPr>
        <p:spPr>
          <a:xfrm>
            <a:off x="600075" y="4193828"/>
            <a:ext cx="28575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00125" y="4211687"/>
            <a:ext cx="9394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Gap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657725" y="3912096"/>
            <a:ext cx="4029075" cy="774204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33" name="Shape 30"/>
          <p:cNvSpPr/>
          <p:nvPr/>
        </p:nvSpPr>
        <p:spPr>
          <a:xfrm>
            <a:off x="4657725" y="3912096"/>
            <a:ext cx="28575" cy="774204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34" name="Text 31"/>
          <p:cNvSpPr/>
          <p:nvPr/>
        </p:nvSpPr>
        <p:spPr>
          <a:xfrm>
            <a:off x="4800600" y="4193828"/>
            <a:ext cx="28575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08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200650" y="4211687"/>
            <a:ext cx="183594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 &amp; Conclusion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57200" y="4793456"/>
            <a:ext cx="29253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THDC-IHET | Department of Computer Science &amp; Engineering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8626078" y="4793456"/>
            <a:ext cx="607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&amp; Motivation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1451967"/>
            <a:ext cx="3943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India, especially the Himalayan state of </a:t>
            </a:r>
            <a:r>
              <a:rPr lang="en-US" sz="10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Uttarakhand</a:t>
            </a: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is </a:t>
            </a: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frequently hit by devastating floods, flash floods, and </a:t>
            </a: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landslides.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57200" y="2309217"/>
            <a:ext cx="3943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disaster information is fragmented across multiple agencies (IMD, NASA, GSI) and formats, creating significant delays for local decision-makers.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3166467"/>
            <a:ext cx="3943350" cy="1028700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3166467"/>
            <a:ext cx="28575" cy="1028700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66467"/>
            <a:ext cx="3943350" cy="102870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Motivation:</a:t>
            </a: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AI to unify environmental </a:t>
            </a: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into a single, map-based interface for regional </a:t>
            </a:r>
            <a:r>
              <a:rPr lang="en-US" sz="10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disaster preparedness and response.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43450" y="1394817"/>
            <a:ext cx="3943350" cy="2857500"/>
          </a:xfrm>
          <a:prstGeom prst="rect">
            <a:avLst/>
          </a:prstGeom>
          <a:solidFill>
            <a:srgbClr val="F8FBF9"/>
          </a:solidFill>
          <a:ln w="9144">
            <a:solidFill>
              <a:srgbClr val="ECF5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394817"/>
            <a:ext cx="3943350" cy="28575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43450" y="4016573"/>
            <a:ext cx="3943350" cy="235744"/>
          </a:xfrm>
          <a:prstGeom prst="rect">
            <a:avLst/>
          </a:prstGeom>
          <a:solidFill>
            <a:srgbClr val="0E7A44">
              <a:alpha val="9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743450" y="4016573"/>
            <a:ext cx="3943350" cy="23574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Vulnerable regions in the Himalayan state of Uttarakhand.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57200" y="4793456"/>
            <a:ext cx="29253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THDC-IHET | Department of Computer Science &amp; Engineering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8622506" y="4793456"/>
            <a:ext cx="642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 &amp; Objectives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960834"/>
            <a:ext cx="476627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OBJECTIVES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96591"/>
            <a:ext cx="4766277" cy="367903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10891"/>
            <a:ext cx="964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53666" y="1410891"/>
            <a:ext cx="343614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and prepare weather, terrain, and historical hazard data.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778794"/>
            <a:ext cx="4766277" cy="367903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893094"/>
            <a:ext cx="964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3666" y="1893094"/>
            <a:ext cx="3375422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flood and landslide risk models using Random Forest.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2260997"/>
            <a:ext cx="4766277" cy="367903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375297"/>
            <a:ext cx="964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53666" y="2375297"/>
            <a:ext cx="326826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React dashboard with an interactive Leaflet risk map.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" y="2743200"/>
            <a:ext cx="4766277" cy="367903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2857500"/>
            <a:ext cx="964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53666" y="2857500"/>
            <a:ext cx="315396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FastAPI endpoints for prediction and alert history.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509227" y="960834"/>
            <a:ext cx="317757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 SCOPE &amp; LIMITATIONS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09227" y="1296591"/>
            <a:ext cx="3177573" cy="1450181"/>
          </a:xfrm>
          <a:prstGeom prst="rect">
            <a:avLst/>
          </a:prstGeom>
          <a:solidFill>
            <a:srgbClr val="FFF9F9"/>
          </a:solidFill>
          <a:ln w="9144">
            <a:solidFill>
              <a:srgbClr val="FFDA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23552" y="1468041"/>
            <a:ext cx="269179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buSzPct val="100000"/>
              <a:buChar char="•"/>
            </a:pPr>
            <a:r>
              <a:rPr lang="en-US" sz="850" dirty="0">
                <a:solidFill>
                  <a:srgbClr val="721C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status: Not a replacement for official warning services.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823552" y="1832372"/>
            <a:ext cx="269179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buSzPct val="100000"/>
              <a:buChar char="•"/>
            </a:pPr>
            <a:r>
              <a:rPr lang="en-US" sz="850" dirty="0">
                <a:solidFill>
                  <a:srgbClr val="721C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Dependency: Performance relies on the quality of available labels.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823552" y="2196703"/>
            <a:ext cx="269179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buSzPct val="100000"/>
              <a:buChar char="•"/>
            </a:pPr>
            <a:r>
              <a:rPr lang="en-US" sz="850" dirty="0">
                <a:solidFill>
                  <a:srgbClr val="721C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Preliminary preparedness, not tactical emergency response.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57200" y="4793456"/>
            <a:ext cx="29253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THDC-IHET | Department of Computer Science &amp; Engineering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626078" y="4793456"/>
            <a:ext cx="607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Literature Survey &amp; Research Gap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60772" y="964406"/>
            <a:ext cx="1315678" cy="375047"/>
          </a:xfrm>
          <a:prstGeom prst="rect">
            <a:avLst/>
          </a:prstGeom>
          <a:solidFill>
            <a:srgbClr val="ECF5EF"/>
          </a:solidFill>
          <a:ln w="9144">
            <a:solidFill>
              <a:srgbClr val="A9D1B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60772" y="964406"/>
            <a:ext cx="1315678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1776450" y="964406"/>
            <a:ext cx="2112876" cy="375047"/>
          </a:xfrm>
          <a:prstGeom prst="rect">
            <a:avLst/>
          </a:prstGeom>
          <a:solidFill>
            <a:srgbClr val="ECF5EF"/>
          </a:solidFill>
          <a:ln w="9144">
            <a:solidFill>
              <a:srgbClr val="A9D1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76450" y="964406"/>
            <a:ext cx="2112876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Sources / Methods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889325" y="964406"/>
            <a:ext cx="4793903" cy="375047"/>
          </a:xfrm>
          <a:prstGeom prst="rect">
            <a:avLst/>
          </a:prstGeom>
          <a:solidFill>
            <a:srgbClr val="ECF5EF"/>
          </a:solidFill>
          <a:ln w="9144">
            <a:solidFill>
              <a:srgbClr val="A9D1B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89325" y="964406"/>
            <a:ext cx="4793903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8644" y="1450181"/>
            <a:ext cx="80724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Environmental Data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776450" y="1332309"/>
            <a:ext cx="2112876" cy="5143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IMD, NASA (GPM/SRTM), GSI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889325" y="1332309"/>
            <a:ext cx="4793903" cy="5143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precipitation and elevation data provide critical features for mountainous terrain.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8644" y="1964531"/>
            <a:ext cx="9644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776450" y="1846659"/>
            <a:ext cx="2112876" cy="5143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Forest, Logistic Regression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89325" y="1846659"/>
            <a:ext cx="4793903" cy="5143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effectively handles non-linear relationships in slope and rainfall data.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8644" y="2478881"/>
            <a:ext cx="7358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Visualisation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776450" y="2361009"/>
            <a:ext cx="2112876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Leaflet, OpenStreetMap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889325" y="2361009"/>
            <a:ext cx="4793903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map-based dashboards significantly improve situational awareness.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57200" y="2968228"/>
            <a:ext cx="8229600" cy="882253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2968228"/>
            <a:ext cx="42863" cy="882253"/>
          </a:xfrm>
          <a:prstGeom prst="rect">
            <a:avLst/>
          </a:prstGeom>
          <a:solidFill>
            <a:srgbClr val="09522D"/>
          </a:solidFill>
          <a:ln/>
        </p:spPr>
      </p:sp>
      <p:sp>
        <p:nvSpPr>
          <p:cNvPr id="21" name="Text 18"/>
          <p:cNvSpPr/>
          <p:nvPr/>
        </p:nvSpPr>
        <p:spPr>
          <a:xfrm>
            <a:off x="628650" y="3139678"/>
            <a:ext cx="78867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Identified Gap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8650" y="3400425"/>
            <a:ext cx="78867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many systems exist for individual hazards, there is a need for a </a:t>
            </a:r>
            <a:r>
              <a:rPr lang="en-US" sz="8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unified decision-support prototype</a:t>
            </a: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integrates multi-hazard risk </a:t>
            </a: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assessment, map-based visualization, and a formal alert history specifically for the Himalayan context.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57200" y="4793456"/>
            <a:ext cx="29253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THDC-IHET | Department of Computer Science &amp; Engineering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626078" y="4793456"/>
            <a:ext cx="607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Methodology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960834"/>
            <a:ext cx="8229600" cy="3725466"/>
          </a:xfrm>
          <a:prstGeom prst="rect">
            <a:avLst/>
          </a:prstGeom>
          <a:solidFill>
            <a:srgbClr val="F8FBF9"/>
          </a:solidFill>
          <a:ln w="9144">
            <a:solidFill>
              <a:srgbClr val="ECF5E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71575" y="1510903"/>
            <a:ext cx="571500" cy="571500"/>
          </a:xfrm>
          <a:prstGeom prst="ellipse">
            <a:avLst/>
          </a:prstGeom>
          <a:solidFill>
            <a:srgbClr val="0E7A44"/>
          </a:solidFill>
          <a:ln w="45720">
            <a:solidFill>
              <a:srgbClr val="ECF5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71575" y="1510903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2950" y="2196703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Intake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2950" y="2393156"/>
            <a:ext cx="1428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IMD, NASA, GSI APIs &amp; historical hazard records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3248006" y="1510903"/>
            <a:ext cx="571500" cy="571500"/>
          </a:xfrm>
          <a:prstGeom prst="ellipse">
            <a:avLst/>
          </a:prstGeom>
          <a:solidFill>
            <a:srgbClr val="0E7A44"/>
          </a:solidFill>
          <a:ln w="45720">
            <a:solidFill>
              <a:srgbClr val="ECF5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8006" y="1510903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819381" y="2196703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Inference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819381" y="2393156"/>
            <a:ext cx="1428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prediction models (Proposed)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5324438" y="1510903"/>
            <a:ext cx="571500" cy="571500"/>
          </a:xfrm>
          <a:prstGeom prst="ellipse">
            <a:avLst/>
          </a:prstGeom>
          <a:solidFill>
            <a:srgbClr val="0E7A44"/>
          </a:solidFill>
          <a:ln w="45720">
            <a:solidFill>
              <a:srgbClr val="ECF5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24438" y="1510903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95813" y="2196703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Layer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895813" y="2393156"/>
            <a:ext cx="1428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endpoints &amp; PostgreSQL storage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7400869" y="1510903"/>
            <a:ext cx="571500" cy="571500"/>
          </a:xfrm>
          <a:prstGeom prst="ellipse">
            <a:avLst/>
          </a:prstGeom>
          <a:solidFill>
            <a:srgbClr val="0E7A44"/>
          </a:solidFill>
          <a:ln w="45720">
            <a:solidFill>
              <a:srgbClr val="ECF5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0869" y="1510903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972244" y="2196703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972244" y="2393156"/>
            <a:ext cx="1428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frontend with Leaflet interactive map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742950" y="2943225"/>
            <a:ext cx="2116503" cy="292894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22" name="Text 19"/>
          <p:cNvSpPr/>
          <p:nvPr/>
        </p:nvSpPr>
        <p:spPr>
          <a:xfrm>
            <a:off x="742950" y="2943225"/>
            <a:ext cx="2116503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Layer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2859453" y="2943225"/>
            <a:ext cx="5541597" cy="292894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24" name="Text 21"/>
          <p:cNvSpPr/>
          <p:nvPr/>
        </p:nvSpPr>
        <p:spPr>
          <a:xfrm>
            <a:off x="2859453" y="2943225"/>
            <a:ext cx="5541597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Responsibility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828675" y="3321844"/>
            <a:ext cx="8858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&amp; Processing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859453" y="3236119"/>
            <a:ext cx="5541597" cy="29646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Cleaning, feature engineering, and inference pipelines.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28675" y="3621881"/>
            <a:ext cx="6786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&amp; DB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2859453" y="3532584"/>
            <a:ext cx="5541597" cy="3000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routes, alert rules, and persistent prediction logs.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28675" y="3921919"/>
            <a:ext cx="43219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859453" y="3832622"/>
            <a:ext cx="5541597" cy="3000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visualization, charts, and alert management.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57200" y="4793456"/>
            <a:ext cx="29253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THDC-IHET | Department of Computer Science &amp; Engineering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8629650" y="4793456"/>
            <a:ext cx="571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 Used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1075134"/>
            <a:ext cx="1928813" cy="3611166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75134"/>
            <a:ext cx="1928813" cy="42863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6" name="Shape 3"/>
          <p:cNvSpPr/>
          <p:nvPr/>
        </p:nvSpPr>
        <p:spPr>
          <a:xfrm>
            <a:off x="2378869" y="1075134"/>
            <a:ext cx="7144" cy="3611166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679156"/>
            <a:ext cx="1928813" cy="7144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075134"/>
            <a:ext cx="7144" cy="3611166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9" name="Text 6"/>
          <p:cNvSpPr/>
          <p:nvPr/>
        </p:nvSpPr>
        <p:spPr>
          <a:xfrm>
            <a:off x="628650" y="1303734"/>
            <a:ext cx="15859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F63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28650" y="1568053"/>
            <a:ext cx="15859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React.js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8650" y="1857375"/>
            <a:ext cx="1585913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Component-based UI with Leaflet for maps and Axios for API calls.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557463" y="1075134"/>
            <a:ext cx="1928813" cy="3611166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13" name="Shape 10"/>
          <p:cNvSpPr/>
          <p:nvPr/>
        </p:nvSpPr>
        <p:spPr>
          <a:xfrm>
            <a:off x="2557463" y="1075134"/>
            <a:ext cx="1928813" cy="42863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9131" y="1075134"/>
            <a:ext cx="7144" cy="3611166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15" name="Shape 12"/>
          <p:cNvSpPr/>
          <p:nvPr/>
        </p:nvSpPr>
        <p:spPr>
          <a:xfrm>
            <a:off x="2557463" y="4679156"/>
            <a:ext cx="1928813" cy="7144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16" name="Shape 13"/>
          <p:cNvSpPr/>
          <p:nvPr/>
        </p:nvSpPr>
        <p:spPr>
          <a:xfrm>
            <a:off x="2557463" y="1075134"/>
            <a:ext cx="7144" cy="3611166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17" name="Text 14"/>
          <p:cNvSpPr/>
          <p:nvPr/>
        </p:nvSpPr>
        <p:spPr>
          <a:xfrm>
            <a:off x="2728913" y="1303734"/>
            <a:ext cx="15859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F63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2728913" y="1568053"/>
            <a:ext cx="15859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728913" y="1800225"/>
            <a:ext cx="15859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28913" y="2089547"/>
            <a:ext cx="1585913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Asynchronous endpoints, Pydantic validation, and alert logic.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657725" y="1075134"/>
            <a:ext cx="1928813" cy="3611166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22" name="Shape 19"/>
          <p:cNvSpPr/>
          <p:nvPr/>
        </p:nvSpPr>
        <p:spPr>
          <a:xfrm>
            <a:off x="4657725" y="1075134"/>
            <a:ext cx="1928813" cy="42863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23" name="Shape 20"/>
          <p:cNvSpPr/>
          <p:nvPr/>
        </p:nvSpPr>
        <p:spPr>
          <a:xfrm>
            <a:off x="6579394" y="1075134"/>
            <a:ext cx="7144" cy="3611166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24" name="Shape 21"/>
          <p:cNvSpPr/>
          <p:nvPr/>
        </p:nvSpPr>
        <p:spPr>
          <a:xfrm>
            <a:off x="4657725" y="4679156"/>
            <a:ext cx="1928813" cy="7144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25" name="Shape 22"/>
          <p:cNvSpPr/>
          <p:nvPr/>
        </p:nvSpPr>
        <p:spPr>
          <a:xfrm>
            <a:off x="4657725" y="1075134"/>
            <a:ext cx="7144" cy="3611166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26" name="Text 23"/>
          <p:cNvSpPr/>
          <p:nvPr/>
        </p:nvSpPr>
        <p:spPr>
          <a:xfrm>
            <a:off x="4829175" y="1303734"/>
            <a:ext cx="15859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F63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&amp; ML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829175" y="1568053"/>
            <a:ext cx="15859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29175" y="1800225"/>
            <a:ext cx="15859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Pandas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29175" y="2089547"/>
            <a:ext cx="1585913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cleaning, Random Forest models, and model evaluation.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757988" y="1075134"/>
            <a:ext cx="1928813" cy="3611166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31" name="Shape 28"/>
          <p:cNvSpPr/>
          <p:nvPr/>
        </p:nvSpPr>
        <p:spPr>
          <a:xfrm>
            <a:off x="6757988" y="1075134"/>
            <a:ext cx="1928813" cy="42863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32" name="Shape 29"/>
          <p:cNvSpPr/>
          <p:nvPr/>
        </p:nvSpPr>
        <p:spPr>
          <a:xfrm>
            <a:off x="8679656" y="1075134"/>
            <a:ext cx="7144" cy="3611166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33" name="Shape 30"/>
          <p:cNvSpPr/>
          <p:nvPr/>
        </p:nvSpPr>
        <p:spPr>
          <a:xfrm>
            <a:off x="6757988" y="4679156"/>
            <a:ext cx="1928813" cy="7144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34" name="Shape 31"/>
          <p:cNvSpPr/>
          <p:nvPr/>
        </p:nvSpPr>
        <p:spPr>
          <a:xfrm>
            <a:off x="6757988" y="1075134"/>
            <a:ext cx="7144" cy="3611166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35" name="Text 32"/>
          <p:cNvSpPr/>
          <p:nvPr/>
        </p:nvSpPr>
        <p:spPr>
          <a:xfrm>
            <a:off x="6929438" y="1303734"/>
            <a:ext cx="15859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F63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INFRASTRUCTURE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929438" y="1568053"/>
            <a:ext cx="15859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929438" y="1800225"/>
            <a:ext cx="15859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929438" y="2089547"/>
            <a:ext cx="1585913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data storage, SQLAlchemy ORM, and version control.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457200" y="4793456"/>
            <a:ext cx="29253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THDC-IHET | Department of Computer Science &amp; Engineering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8626078" y="4793456"/>
            <a:ext cx="607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 &amp; Timeline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960834"/>
            <a:ext cx="40005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METRICS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278731"/>
            <a:ext cx="1428750" cy="317897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582341"/>
            <a:ext cx="1428750" cy="14288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78731"/>
            <a:ext cx="1428750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885950" y="1278731"/>
            <a:ext cx="2571750" cy="317897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9" name="Shape 6"/>
          <p:cNvSpPr/>
          <p:nvPr/>
        </p:nvSpPr>
        <p:spPr>
          <a:xfrm>
            <a:off x="1885950" y="1582341"/>
            <a:ext cx="2571750" cy="14288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10" name="Text 7"/>
          <p:cNvSpPr/>
          <p:nvPr/>
        </p:nvSpPr>
        <p:spPr>
          <a:xfrm>
            <a:off x="1885950" y="1278731"/>
            <a:ext cx="2571750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Metric (Proposed)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1589484"/>
            <a:ext cx="142875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Models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885950" y="1589484"/>
            <a:ext cx="257175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F1-Score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903809"/>
            <a:ext cx="1428750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API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885950" y="1903809"/>
            <a:ext cx="2571750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Time, Uptime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0" y="2221706"/>
            <a:ext cx="1428750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Pipeline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885950" y="2221706"/>
            <a:ext cx="2571750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Success Rate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2657475"/>
            <a:ext cx="40005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Leakage-aware test splitting will be used for model validation.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686300" y="960834"/>
            <a:ext cx="40005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14-WEEK TIMELINE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86300" y="1278731"/>
            <a:ext cx="4000500" cy="1628775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20" name="Text 17"/>
          <p:cNvSpPr/>
          <p:nvPr/>
        </p:nvSpPr>
        <p:spPr>
          <a:xfrm>
            <a:off x="4857750" y="1484114"/>
            <a:ext cx="7143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F63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W1–W3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5572125" y="1450181"/>
            <a:ext cx="2164556" cy="171450"/>
          </a:xfrm>
          <a:prstGeom prst="roundRect">
            <a:avLst/>
          </a:prstGeom>
          <a:solidFill>
            <a:srgbClr val="A9D1B9"/>
          </a:solidFill>
          <a:ln/>
        </p:spPr>
      </p:sp>
      <p:sp>
        <p:nvSpPr>
          <p:cNvPr id="22" name="Text 19"/>
          <p:cNvSpPr/>
          <p:nvPr/>
        </p:nvSpPr>
        <p:spPr>
          <a:xfrm>
            <a:off x="7822406" y="1475184"/>
            <a:ext cx="6929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Research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857750" y="1741289"/>
            <a:ext cx="7143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F63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W4–W7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5572125" y="1707356"/>
            <a:ext cx="2150269" cy="171450"/>
          </a:xfrm>
          <a:prstGeom prst="roundRect">
            <a:avLst/>
          </a:prstGeom>
          <a:solidFill>
            <a:srgbClr val="A9D1B9"/>
          </a:solidFill>
          <a:ln/>
        </p:spPr>
      </p:sp>
      <p:sp>
        <p:nvSpPr>
          <p:cNvPr id="25" name="Text 22"/>
          <p:cNvSpPr/>
          <p:nvPr/>
        </p:nvSpPr>
        <p:spPr>
          <a:xfrm>
            <a:off x="7808119" y="1732359"/>
            <a:ext cx="7072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857750" y="1998464"/>
            <a:ext cx="7143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F63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W8–W9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5572125" y="1964531"/>
            <a:ext cx="2239566" cy="171450"/>
          </a:xfrm>
          <a:prstGeom prst="roundRect">
            <a:avLst/>
          </a:prstGeom>
          <a:solidFill>
            <a:srgbClr val="A9D1B9"/>
          </a:solidFill>
          <a:ln/>
        </p:spPr>
      </p:sp>
      <p:sp>
        <p:nvSpPr>
          <p:cNvPr id="28" name="Text 25"/>
          <p:cNvSpPr/>
          <p:nvPr/>
        </p:nvSpPr>
        <p:spPr>
          <a:xfrm>
            <a:off x="7897416" y="1989534"/>
            <a:ext cx="61793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Dev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857750" y="2255639"/>
            <a:ext cx="7143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F63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W10–W11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572125" y="2221706"/>
            <a:ext cx="2218134" cy="171450"/>
          </a:xfrm>
          <a:prstGeom prst="roundRect">
            <a:avLst/>
          </a:prstGeom>
          <a:solidFill>
            <a:srgbClr val="A9D1B9"/>
          </a:solidFill>
          <a:ln/>
        </p:spPr>
      </p:sp>
      <p:sp>
        <p:nvSpPr>
          <p:cNvPr id="31" name="Text 28"/>
          <p:cNvSpPr/>
          <p:nvPr/>
        </p:nvSpPr>
        <p:spPr>
          <a:xfrm>
            <a:off x="7875984" y="2246709"/>
            <a:ext cx="6393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Dev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857750" y="2512814"/>
            <a:ext cx="7143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F63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W12–W14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5572125" y="2478881"/>
            <a:ext cx="2110978" cy="171450"/>
          </a:xfrm>
          <a:prstGeom prst="roundRect">
            <a:avLst/>
          </a:prstGeom>
          <a:solidFill>
            <a:srgbClr val="A9D1B9"/>
          </a:solidFill>
          <a:ln/>
        </p:spPr>
      </p:sp>
      <p:sp>
        <p:nvSpPr>
          <p:cNvPr id="34" name="Text 31"/>
          <p:cNvSpPr/>
          <p:nvPr/>
        </p:nvSpPr>
        <p:spPr>
          <a:xfrm>
            <a:off x="7768828" y="2503884"/>
            <a:ext cx="7465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Demo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57200" y="4793456"/>
            <a:ext cx="29253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THDC-IHET | Department of Computer Science &amp; Engineering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8626078" y="4793456"/>
            <a:ext cx="607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Major Contributions &amp; Future Scope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960834"/>
            <a:ext cx="3971925" cy="3725466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60834"/>
            <a:ext cx="3971925" cy="28575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189434"/>
            <a:ext cx="351472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INTENDED CONTRIBUTIONS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1535906"/>
            <a:ext cx="114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85825" y="1535906"/>
            <a:ext cx="3314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unified full-stack prototype (React + FastAPI) for Himalayan hazards.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85800" y="1993106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85825" y="1993106"/>
            <a:ext cx="31075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Hazard-specific ML pipelines for flood and landslide risk.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5800" y="2278856"/>
            <a:ext cx="114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85825" y="2278856"/>
            <a:ext cx="3314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Map-based visualization of risk categories and data timestamps.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14875" y="960834"/>
            <a:ext cx="3971925" cy="3725466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714875" y="960834"/>
            <a:ext cx="3971925" cy="28575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15" name="Text 12"/>
          <p:cNvSpPr/>
          <p:nvPr/>
        </p:nvSpPr>
        <p:spPr>
          <a:xfrm>
            <a:off x="4943475" y="1189434"/>
            <a:ext cx="351472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EXTENSIONS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43475" y="1535906"/>
            <a:ext cx="114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43500" y="1535906"/>
            <a:ext cx="3314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of real-time sensor networks for higher local precision.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943475" y="1993106"/>
            <a:ext cx="114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43500" y="1993106"/>
            <a:ext cx="3314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 to other hazards (e.g., forest fires, seismic activity).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943475" y="2450306"/>
            <a:ext cx="114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43500" y="2450306"/>
            <a:ext cx="3314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Mobile-native alerts using push notifications and SMS gateways.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57200" y="4793456"/>
            <a:ext cx="29253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THDC-IHET | Department of Computer Science &amp; Engineering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583216" y="4793456"/>
            <a:ext cx="1035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1030151"/>
            <a:ext cx="64293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357313" y="1787389"/>
            <a:ext cx="642937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2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as a </a:t>
            </a:r>
            <a:r>
              <a:rPr lang="en-US" sz="12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web-based decision-support prototype</a:t>
            </a:r>
            <a:r>
              <a:rPr lang="en-US" sz="12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flood and landslide risk in Uttarakhand.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57313" y="2450306"/>
            <a:ext cx="642937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2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data processing, machine learning, and map-based visualization.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357313" y="2838915"/>
            <a:ext cx="642937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2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Focuses on </a:t>
            </a:r>
            <a:r>
              <a:rPr lang="en-US" sz="12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preliminary preparedness</a:t>
            </a:r>
            <a:r>
              <a:rPr lang="en-US" sz="1250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communication of uncertainty.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357313" y="3456124"/>
            <a:ext cx="6429375" cy="657225"/>
          </a:xfrm>
          <a:prstGeom prst="rect">
            <a:avLst/>
          </a:prstGeom>
          <a:solidFill>
            <a:srgbClr val="ECF5EF"/>
          </a:solidFill>
          <a:ln/>
        </p:spPr>
      </p:sp>
      <p:sp>
        <p:nvSpPr>
          <p:cNvPr id="8" name="Shape 5"/>
          <p:cNvSpPr/>
          <p:nvPr/>
        </p:nvSpPr>
        <p:spPr>
          <a:xfrm>
            <a:off x="1357313" y="3456124"/>
            <a:ext cx="57150" cy="657225"/>
          </a:xfrm>
          <a:prstGeom prst="rect">
            <a:avLst/>
          </a:prstGeom>
          <a:solidFill>
            <a:srgbClr val="0E7A44"/>
          </a:solidFill>
          <a:ln/>
        </p:spPr>
      </p:sp>
      <p:sp>
        <p:nvSpPr>
          <p:cNvPr id="9" name="Text 6"/>
          <p:cNvSpPr/>
          <p:nvPr/>
        </p:nvSpPr>
        <p:spPr>
          <a:xfrm>
            <a:off x="1357313" y="3456124"/>
            <a:ext cx="6429375" cy="657225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520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"This prototype is intended for academic learning and preparedness support; it does not replace or override official disaster warning services."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793456"/>
            <a:ext cx="29253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THDC-IHET | Department of Computer Science &amp; Engineering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608219" y="4793456"/>
            <a:ext cx="785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14325" y="960834"/>
            <a:ext cx="171450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"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14325" y="960834"/>
            <a:ext cx="171450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counter(ref)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14325" y="960834"/>
            <a:ext cx="171450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 ]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0075" y="960834"/>
            <a:ext cx="3857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India Meteorological Department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00075" y="1120843"/>
            <a:ext cx="3857625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https://mausam.imd.gov.in/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314325" y="1393701"/>
            <a:ext cx="192881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"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14325" y="1393701"/>
            <a:ext cx="192881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counter(ref)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14325" y="1393701"/>
            <a:ext cx="192881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 ]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00075" y="1393701"/>
            <a:ext cx="3857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Scikit-learn Documentation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00075" y="1553710"/>
            <a:ext cx="3857625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https://scikit-learn.org/stable/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314325" y="1826568"/>
            <a:ext cx="192881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"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14325" y="1826568"/>
            <a:ext cx="192881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counter(ref)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314325" y="1826568"/>
            <a:ext cx="192881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 ]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00075" y="1826568"/>
            <a:ext cx="3857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Pandas &amp; NumPy Documentation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00075" y="1986576"/>
            <a:ext cx="3857625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https://pandas.pydata.org | https://numpy.org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314325" y="2259434"/>
            <a:ext cx="196453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"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314325" y="2259434"/>
            <a:ext cx="196453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counter(ref)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314325" y="2259434"/>
            <a:ext cx="196453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 ]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00075" y="2259434"/>
            <a:ext cx="3857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 Documentation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0075" y="2419443"/>
            <a:ext cx="3857625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https://fastapi.tiangolo.com/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4543425" y="960834"/>
            <a:ext cx="189309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"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543425" y="960834"/>
            <a:ext cx="189309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counter(ref)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543425" y="960834"/>
            <a:ext cx="189309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 ]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829175" y="960834"/>
            <a:ext cx="3857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 &amp; PostGIS Documentation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29175" y="1120843"/>
            <a:ext cx="3857625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https://www.postgresql.org | https://postgis.net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4543425" y="1393701"/>
            <a:ext cx="192881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"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543425" y="1393701"/>
            <a:ext cx="192881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counter(ref)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543425" y="1393701"/>
            <a:ext cx="192881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 ]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829175" y="1393701"/>
            <a:ext cx="3857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React.js Documentation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29175" y="1553710"/>
            <a:ext cx="3857625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https://react.dev/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4543425" y="1826568"/>
            <a:ext cx="185738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"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43425" y="1826568"/>
            <a:ext cx="185738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counter(ref)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543425" y="1826568"/>
            <a:ext cx="185738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E7A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 ]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829175" y="1826568"/>
            <a:ext cx="3857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5201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Leaflet &amp; OpenStreetMap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829175" y="1986576"/>
            <a:ext cx="3857625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https://leafletjs.com | https://openstreetmap.org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457200" y="4793456"/>
            <a:ext cx="29253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THDC-IHET | Department of Computer Science &amp; Engineering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8586788" y="4793456"/>
            <a:ext cx="1000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F63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2026-10-12T14:28:09Z</dcterms:created>
  <dcterms:modified xsi:type="dcterms:W3CDTF">2026-10-12T14:28:09Z</dcterms:modified>
</cp:coreProperties>
</file>