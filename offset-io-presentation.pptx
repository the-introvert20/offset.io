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is offset.io - a personal carbon intelligence and reduction platform I built for the 1M1B AI for Sustainability internship with IBM SkillsBuild and AICTE."
Say the tagline as the story of the product: Measure, Understand, Simulate, Optimize, Track.
Point at the trace on the right: "This is a real calculation from the app. 390 km driven per month, times the emission factor for that fuel type, times 12 months, equals about 899 kg of CO2 a year. Nothing is hidden, and we show the confidence band because this is an estimate."
Transition: "To explain why I built it this way, let me start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simply: "Almost every carbon calculator works like a quiz. You answer a few questions, it gives you a number like 4.5 tonnes, and that's the end."
"The number itself doesn't change anything. To actually reduce emissions a person needs four things: where the emissions come from, what they can change, what would happen if they changed it, and whether they are improving."
Keep it conversational - ask the audience: "If I told you your footprint is 4.5 tonnes, what would you do tomorrow morning?" That lands the gap.
Transition: "So there is a clear gap between measuring and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"Traditional tools are a straight line - questionnaire, footprint, done. The user hits a dead end."
"offset.io is a loop. You measure, you understand where the emissions come from, you simulate a change before committing to it, you optimise a plan within your budget, and then you track it. The tracking data feeds back into the next cycle."
Emphasise the one sentence at the bottom - this is the core idea of the whole project.
Transition: "Here is what that loop actually looks like as 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ten features. Read the three column headers - Measure and Understand, Simulate and Decide, Track and Improve - and then pick one feature from each.
Suggested picks: transparent emission factors (you can see the maths), the What-If simulator (test a change before making it), and the Carbon Coach (ask questions about your own numbers).
Key line: "All of this sits on one stored activity model, so the simulator, the plan and the diary are always talking about the same footprint."
Transition: "Let me show you what happens under the hood when you enter an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left flow slowly with your hand: activities go in, factors are looked up, the engine calculates, you get a footprint with an uncertainty range, that powers the dashboard, simulator and recommendations, the optimizer builds a plan, and the diary tracks it.
Then the formula: "Quantity times emission factor times frequency multiplier. If you drive 390 km a month, the multiplier is 12 because monthly means twelve times a year."
Say the multipliers out loud: daily 365, weekly 52, monthly 12, yearly 1. Non-technical audiences understand the product instantly once they hear this.
End on the box at the bottom right: the engine refuses to guess. Missing factor equals a visible error, not a fake number.
Transition: "Now, the question everyone asks - where is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the internship evaluation. Say this line exactly: "AI does not calculate the carbon footprint."
Explain: "The numbers come from a deterministic engine - the same inputs always give the same output, and every step is auditable. The AI layer is the Carbon Coach, which explains those numbers in plain language."
Two modes: local mode is the default, uses deterministic rules over your real footprint, needs no internet or external AI. Groq mode is optional and gives richer conversational answers, and if the key is missing or the request fails it silently falls back to local.
Walk the pipeline left to right: real data, calculation engine, recommendations, coach, explanation. AI sits at the end, not at the start.
Transition: "That separation is enforced by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and confident. "The app is layered. The browser talks to API routes, every request is authenticated and validated, services orchestrate the work, and the actual maths lives in pure engines that know nothing about React or the database."
Why it matters: "Because the engines are pure functions, I can unit test them directly. There are 67 automated tests across 18 suites."
Name the six engines quickly - calculator, uncertainty, recommendation, optimizer, anomaly, coach - and note the optimizer is a greedy knapsack algorithm and the anomaly detector is a z-score, in case a technical evaluator wants to dig in.
Transition: "Here is how that appears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demo slide. If you have a live build, open it here instead of talking over the mockups - and replace these placeholder diagrams with real screenshots before submission.
If demoing: show the calculate page first (transparency), then move a slider in the simulator, then generate a reduction plan, then log one diary entry.
If not demoing: pick two features and describe them in one sentence each. Do not read all six.
Be honest that this is a prototype - nothing here is a claimed commercial result.
Transition: "Because this deals with people's data and with estimates, responsible AI mattered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engineering, not paperwork: "Each of these principles maps to something I actually built."
Transparency - the calculate page shows input times factor equals result with the source link. Fairness - factors are region-aware with a documented global fallback. Privacy - every record is scoped to a signed-in user with a secure session cookie. Honesty - the app shows a confidence band instead of pretending to be exact. Human control - the user decides what to simulate and what to adopt.
The bottom strip is important: I documented the known limitations in the README rather than hiding them. Evaluators respect that.
Transition: "So what impact is this meant to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primary alignment is SDG 13, Climate Action, because the whole product is about personal emissions. The secondary is SDG 12, Responsible Consumption and Production, because the categories are travel, energy, diet and waste - all consumption choices."
Walk the pathway: measure, awareness, understanding, action, tracking.
Then say the honest line at the bottom out loud, do not skip it: "This is expected impact from a prototype. I am not claiming any measured carbon reduction, and the platform reports estimated emissions." That honesty is itself part of the evaluation criteria.
Transition: "Finally, where this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roadmap brisk - read three of the six, and mention that these are genuinely open items in the repo, not marketing promises.
Then slow down and deliver the closing line with a pause between the sentences: "Don't just calculate your footprint. Understand it. Change it. Track it."
Finish with the one-line description and thank the panel. Then stop talking and invite questions - do not keep adding detail after the closing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p:bgPr>
    </p:bg>
    <p:spTree>
      <p:nvGrpSpPr>
        <p:cNvPr id="1" name=""/>
        <p:cNvGrpSpPr/>
        <p:nvPr/>
      </p:nvGrpSpPr>
      <p:grpSpPr>
        <a:xfrm>
          <a:off x="0" y="0"/>
          <a:ext cx="0" cy="0"/>
          <a:chOff x="0" y="0"/>
          <a:chExt cx="0" cy="0"/>
        </a:xfrm>
      </p:grpSpPr>
      <p:sp>
        <p:nvSpPr>
          <p:cNvPr id="2" name="Text 0"/>
          <p:cNvSpPr txBox="1"/>
          <p:nvPr/>
        </p:nvSpPr>
        <p:spPr>
          <a:xfrm>
            <a:off x="685800" y="960120"/>
            <a:ext cx="6400800" cy="1371600"/>
          </a:xfrm>
          <a:prstGeom prst="rect">
            <a:avLst/>
          </a:prstGeom>
          <a:noFill/>
          <a:ln/>
        </p:spPr>
        <p:txBody>
          <a:bodyPr wrap="square" lIns="0" tIns="0" rIns="0" bIns="0" rtlCol="0" anchor="ctr"/>
          <a:lstStyle/>
          <a:p>
            <a:pPr indent="0" marL="0">
              <a:buNone/>
            </a:pPr>
            <a:r>
              <a:rPr lang="en-US" sz="8000" b="1" spc="-200" kern="0" dirty="0">
                <a:solidFill>
                  <a:srgbClr val="FFFFFF"/>
                </a:solidFill>
                <a:latin typeface="Arial" pitchFamily="34" charset="0"/>
                <a:ea typeface="Arial" pitchFamily="34" charset="-122"/>
                <a:cs typeface="Arial" pitchFamily="34" charset="-120"/>
              </a:rPr>
              <a:t>offset.io</a:t>
            </a:r>
            <a:endParaRPr lang="en-US" sz="8000" dirty="0"/>
          </a:p>
        </p:txBody>
      </p:sp>
      <p:sp>
        <p:nvSpPr>
          <p:cNvPr id="3" name="Text 1"/>
          <p:cNvSpPr txBox="1"/>
          <p:nvPr/>
        </p:nvSpPr>
        <p:spPr>
          <a:xfrm>
            <a:off x="731520" y="2286000"/>
            <a:ext cx="5852160" cy="457200"/>
          </a:xfrm>
          <a:prstGeom prst="rect">
            <a:avLst/>
          </a:prstGeom>
          <a:noFill/>
          <a:ln/>
        </p:spPr>
        <p:txBody>
          <a:bodyPr wrap="square" lIns="0" tIns="0" rIns="0" bIns="0" rtlCol="0" anchor="ctr"/>
          <a:lstStyle/>
          <a:p>
            <a:pPr indent="0" marL="0">
              <a:buNone/>
            </a:pPr>
            <a:r>
              <a:rPr lang="en-US" sz="1900" b="1" dirty="0">
                <a:solidFill>
                  <a:srgbClr val="00BFD8"/>
                </a:solidFill>
                <a:latin typeface="Arial" pitchFamily="34" charset="0"/>
                <a:ea typeface="Arial" pitchFamily="34" charset="-122"/>
                <a:cs typeface="Arial" pitchFamily="34" charset="-120"/>
              </a:rPr>
              <a:t>Personal Carbon Intelligence &amp; Reduction Platform</a:t>
            </a:r>
            <a:endParaRPr lang="en-US" sz="1900" dirty="0"/>
          </a:p>
        </p:txBody>
      </p:sp>
      <p:sp>
        <p:nvSpPr>
          <p:cNvPr id="4" name="Shape 2"/>
          <p:cNvSpPr/>
          <p:nvPr/>
        </p:nvSpPr>
        <p:spPr>
          <a:xfrm>
            <a:off x="731520" y="2971800"/>
            <a:ext cx="1042416" cy="384048"/>
          </a:xfrm>
          <a:prstGeom prst="roundRect">
            <a:avLst>
              <a:gd name="adj" fmla="val 23810"/>
            </a:avLst>
          </a:prstGeom>
          <a:solidFill>
            <a:srgbClr val="00BFD8"/>
          </a:solidFill>
          <a:ln w="12700">
            <a:solidFill>
              <a:srgbClr val="00BFD8"/>
            </a:solidFill>
            <a:prstDash val="solid"/>
          </a:ln>
        </p:spPr>
      </p:sp>
      <p:sp>
        <p:nvSpPr>
          <p:cNvPr id="5" name="Text 3"/>
          <p:cNvSpPr txBox="1"/>
          <p:nvPr/>
        </p:nvSpPr>
        <p:spPr>
          <a:xfrm>
            <a:off x="731520" y="2971800"/>
            <a:ext cx="1042416" cy="384048"/>
          </a:xfrm>
          <a:prstGeom prst="rect">
            <a:avLst/>
          </a:prstGeom>
          <a:noFill/>
          <a:ln/>
        </p:spPr>
        <p:txBody>
          <a:bodyPr wrap="square" lIns="0" tIns="0" rIns="0" bIns="0" rtlCol="0" anchor="ctr"/>
          <a:lstStyle/>
          <a:p>
            <a:pPr algn="ctr" indent="0" marL="0">
              <a:buNone/>
            </a:pPr>
            <a:r>
              <a:rPr lang="en-US" sz="1000" b="1" dirty="0">
                <a:solidFill>
                  <a:srgbClr val="0B0B0B"/>
                </a:solidFill>
                <a:latin typeface="Arial" pitchFamily="34" charset="0"/>
                <a:ea typeface="Arial" pitchFamily="34" charset="-122"/>
                <a:cs typeface="Arial" pitchFamily="34" charset="-120"/>
              </a:rPr>
              <a:t>Measure</a:t>
            </a:r>
            <a:endParaRPr lang="en-US" sz="1000" dirty="0"/>
          </a:p>
        </p:txBody>
      </p:sp>
      <p:sp>
        <p:nvSpPr>
          <p:cNvPr id="6" name="Text 4"/>
          <p:cNvSpPr txBox="1"/>
          <p:nvPr/>
        </p:nvSpPr>
        <p:spPr>
          <a:xfrm>
            <a:off x="1773936" y="2971800"/>
            <a:ext cx="109728" cy="384048"/>
          </a:xfrm>
          <a:prstGeom prst="rect">
            <a:avLst/>
          </a:prstGeom>
          <a:noFill/>
          <a:ln/>
        </p:spPr>
        <p:txBody>
          <a:bodyPr wrap="square" lIns="0" tIns="0" rIns="0" bIns="0" rtlCol="0" anchor="ctr"/>
          <a:lstStyle/>
          <a:p>
            <a:pPr algn="ctr" indent="0" marL="0">
              <a:buNone/>
            </a:pPr>
            <a:r>
              <a:rPr lang="en-US" sz="1400" dirty="0">
                <a:solidFill>
                  <a:srgbClr val="8C8C86"/>
                </a:solidFill>
                <a:latin typeface="Arial" pitchFamily="34" charset="0"/>
                <a:ea typeface="Arial" pitchFamily="34" charset="-122"/>
                <a:cs typeface="Arial" pitchFamily="34" charset="-120"/>
              </a:rPr>
              <a:t>›</a:t>
            </a:r>
            <a:endParaRPr lang="en-US" sz="1400" dirty="0"/>
          </a:p>
        </p:txBody>
      </p:sp>
      <p:sp>
        <p:nvSpPr>
          <p:cNvPr id="7" name="Shape 5"/>
          <p:cNvSpPr/>
          <p:nvPr/>
        </p:nvSpPr>
        <p:spPr>
          <a:xfrm>
            <a:off x="1883664" y="2971800"/>
            <a:ext cx="1042416" cy="384048"/>
          </a:xfrm>
          <a:prstGeom prst="roundRect">
            <a:avLst>
              <a:gd name="adj" fmla="val 23810"/>
            </a:avLst>
          </a:prstGeom>
          <a:solidFill>
            <a:srgbClr val="FFFFFF"/>
          </a:solidFill>
          <a:ln w="12700">
            <a:solidFill>
              <a:srgbClr val="111111"/>
            </a:solidFill>
            <a:prstDash val="solid"/>
          </a:ln>
        </p:spPr>
      </p:sp>
      <p:sp>
        <p:nvSpPr>
          <p:cNvPr id="8" name="Text 6"/>
          <p:cNvSpPr txBox="1"/>
          <p:nvPr/>
        </p:nvSpPr>
        <p:spPr>
          <a:xfrm>
            <a:off x="1883664" y="2971800"/>
            <a:ext cx="1042416" cy="384048"/>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Understand</a:t>
            </a:r>
            <a:endParaRPr lang="en-US" sz="1000" dirty="0"/>
          </a:p>
        </p:txBody>
      </p:sp>
      <p:sp>
        <p:nvSpPr>
          <p:cNvPr id="9" name="Text 7"/>
          <p:cNvSpPr txBox="1"/>
          <p:nvPr/>
        </p:nvSpPr>
        <p:spPr>
          <a:xfrm>
            <a:off x="2926080" y="2971800"/>
            <a:ext cx="109728" cy="384048"/>
          </a:xfrm>
          <a:prstGeom prst="rect">
            <a:avLst/>
          </a:prstGeom>
          <a:noFill/>
          <a:ln/>
        </p:spPr>
        <p:txBody>
          <a:bodyPr wrap="square" lIns="0" tIns="0" rIns="0" bIns="0" rtlCol="0" anchor="ctr"/>
          <a:lstStyle/>
          <a:p>
            <a:pPr algn="ctr" indent="0" marL="0">
              <a:buNone/>
            </a:pPr>
            <a:r>
              <a:rPr lang="en-US" sz="1400" dirty="0">
                <a:solidFill>
                  <a:srgbClr val="8C8C86"/>
                </a:solidFill>
                <a:latin typeface="Arial" pitchFamily="34" charset="0"/>
                <a:ea typeface="Arial" pitchFamily="34" charset="-122"/>
                <a:cs typeface="Arial" pitchFamily="34" charset="-120"/>
              </a:rPr>
              <a:t>›</a:t>
            </a:r>
            <a:endParaRPr lang="en-US" sz="1400" dirty="0"/>
          </a:p>
        </p:txBody>
      </p:sp>
      <p:sp>
        <p:nvSpPr>
          <p:cNvPr id="10" name="Shape 8"/>
          <p:cNvSpPr/>
          <p:nvPr/>
        </p:nvSpPr>
        <p:spPr>
          <a:xfrm>
            <a:off x="3035808" y="2971800"/>
            <a:ext cx="1042416" cy="384048"/>
          </a:xfrm>
          <a:prstGeom prst="roundRect">
            <a:avLst>
              <a:gd name="adj" fmla="val 23810"/>
            </a:avLst>
          </a:prstGeom>
          <a:solidFill>
            <a:srgbClr val="00BFD8"/>
          </a:solidFill>
          <a:ln w="12700">
            <a:solidFill>
              <a:srgbClr val="00BFD8"/>
            </a:solidFill>
            <a:prstDash val="solid"/>
          </a:ln>
        </p:spPr>
      </p:sp>
      <p:sp>
        <p:nvSpPr>
          <p:cNvPr id="11" name="Text 9"/>
          <p:cNvSpPr txBox="1"/>
          <p:nvPr/>
        </p:nvSpPr>
        <p:spPr>
          <a:xfrm>
            <a:off x="3035808" y="2971800"/>
            <a:ext cx="1042416" cy="384048"/>
          </a:xfrm>
          <a:prstGeom prst="rect">
            <a:avLst/>
          </a:prstGeom>
          <a:noFill/>
          <a:ln/>
        </p:spPr>
        <p:txBody>
          <a:bodyPr wrap="square" lIns="0" tIns="0" rIns="0" bIns="0" rtlCol="0" anchor="ctr"/>
          <a:lstStyle/>
          <a:p>
            <a:pPr algn="ctr" indent="0" marL="0">
              <a:buNone/>
            </a:pPr>
            <a:r>
              <a:rPr lang="en-US" sz="1000" b="1" dirty="0">
                <a:solidFill>
                  <a:srgbClr val="0B0B0B"/>
                </a:solidFill>
                <a:latin typeface="Arial" pitchFamily="34" charset="0"/>
                <a:ea typeface="Arial" pitchFamily="34" charset="-122"/>
                <a:cs typeface="Arial" pitchFamily="34" charset="-120"/>
              </a:rPr>
              <a:t>Simulate</a:t>
            </a:r>
            <a:endParaRPr lang="en-US" sz="1000" dirty="0"/>
          </a:p>
        </p:txBody>
      </p:sp>
      <p:sp>
        <p:nvSpPr>
          <p:cNvPr id="12" name="Text 10"/>
          <p:cNvSpPr txBox="1"/>
          <p:nvPr/>
        </p:nvSpPr>
        <p:spPr>
          <a:xfrm>
            <a:off x="4078224" y="2971800"/>
            <a:ext cx="109728" cy="384048"/>
          </a:xfrm>
          <a:prstGeom prst="rect">
            <a:avLst/>
          </a:prstGeom>
          <a:noFill/>
          <a:ln/>
        </p:spPr>
        <p:txBody>
          <a:bodyPr wrap="square" lIns="0" tIns="0" rIns="0" bIns="0" rtlCol="0" anchor="ctr"/>
          <a:lstStyle/>
          <a:p>
            <a:pPr algn="ctr" indent="0" marL="0">
              <a:buNone/>
            </a:pPr>
            <a:r>
              <a:rPr lang="en-US" sz="1400" dirty="0">
                <a:solidFill>
                  <a:srgbClr val="8C8C86"/>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4187952" y="2971800"/>
            <a:ext cx="1042416" cy="384048"/>
          </a:xfrm>
          <a:prstGeom prst="roundRect">
            <a:avLst>
              <a:gd name="adj" fmla="val 23810"/>
            </a:avLst>
          </a:prstGeom>
          <a:solidFill>
            <a:srgbClr val="FFFFFF"/>
          </a:solidFill>
          <a:ln w="12700">
            <a:solidFill>
              <a:srgbClr val="111111"/>
            </a:solidFill>
            <a:prstDash val="solid"/>
          </a:ln>
        </p:spPr>
      </p:sp>
      <p:sp>
        <p:nvSpPr>
          <p:cNvPr id="14" name="Text 12"/>
          <p:cNvSpPr txBox="1"/>
          <p:nvPr/>
        </p:nvSpPr>
        <p:spPr>
          <a:xfrm>
            <a:off x="4187952" y="2971800"/>
            <a:ext cx="1042416" cy="384048"/>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Optimize</a:t>
            </a:r>
            <a:endParaRPr lang="en-US" sz="1000" dirty="0"/>
          </a:p>
        </p:txBody>
      </p:sp>
      <p:sp>
        <p:nvSpPr>
          <p:cNvPr id="15" name="Text 13"/>
          <p:cNvSpPr txBox="1"/>
          <p:nvPr/>
        </p:nvSpPr>
        <p:spPr>
          <a:xfrm>
            <a:off x="5230368" y="2971800"/>
            <a:ext cx="109728" cy="384048"/>
          </a:xfrm>
          <a:prstGeom prst="rect">
            <a:avLst/>
          </a:prstGeom>
          <a:noFill/>
          <a:ln/>
        </p:spPr>
        <p:txBody>
          <a:bodyPr wrap="square" lIns="0" tIns="0" rIns="0" bIns="0" rtlCol="0" anchor="ctr"/>
          <a:lstStyle/>
          <a:p>
            <a:pPr algn="ctr" indent="0" marL="0">
              <a:buNone/>
            </a:pPr>
            <a:r>
              <a:rPr lang="en-US" sz="1400" dirty="0">
                <a:solidFill>
                  <a:srgbClr val="8C8C86"/>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5340096" y="2971800"/>
            <a:ext cx="1042416" cy="384048"/>
          </a:xfrm>
          <a:prstGeom prst="roundRect">
            <a:avLst>
              <a:gd name="adj" fmla="val 23810"/>
            </a:avLst>
          </a:prstGeom>
          <a:solidFill>
            <a:srgbClr val="00BFD8"/>
          </a:solidFill>
          <a:ln w="12700">
            <a:solidFill>
              <a:srgbClr val="00BFD8"/>
            </a:solidFill>
            <a:prstDash val="solid"/>
          </a:ln>
        </p:spPr>
      </p:sp>
      <p:sp>
        <p:nvSpPr>
          <p:cNvPr id="17" name="Text 15"/>
          <p:cNvSpPr txBox="1"/>
          <p:nvPr/>
        </p:nvSpPr>
        <p:spPr>
          <a:xfrm>
            <a:off x="5340096" y="2971800"/>
            <a:ext cx="1042416" cy="384048"/>
          </a:xfrm>
          <a:prstGeom prst="rect">
            <a:avLst/>
          </a:prstGeom>
          <a:noFill/>
          <a:ln/>
        </p:spPr>
        <p:txBody>
          <a:bodyPr wrap="square" lIns="0" tIns="0" rIns="0" bIns="0" rtlCol="0" anchor="ctr"/>
          <a:lstStyle/>
          <a:p>
            <a:pPr algn="ctr" indent="0" marL="0">
              <a:buNone/>
            </a:pPr>
            <a:r>
              <a:rPr lang="en-US" sz="1000" b="1" dirty="0">
                <a:solidFill>
                  <a:srgbClr val="0B0B0B"/>
                </a:solidFill>
                <a:latin typeface="Arial" pitchFamily="34" charset="0"/>
                <a:ea typeface="Arial" pitchFamily="34" charset="-122"/>
                <a:cs typeface="Arial" pitchFamily="34" charset="-120"/>
              </a:rPr>
              <a:t>Track</a:t>
            </a:r>
            <a:endParaRPr lang="en-US" sz="1000" dirty="0"/>
          </a:p>
        </p:txBody>
      </p:sp>
      <p:sp>
        <p:nvSpPr>
          <p:cNvPr id="18" name="Text 16"/>
          <p:cNvSpPr txBox="1"/>
          <p:nvPr/>
        </p:nvSpPr>
        <p:spPr>
          <a:xfrm>
            <a:off x="731520" y="3611880"/>
            <a:ext cx="5577840" cy="548640"/>
          </a:xfrm>
          <a:prstGeom prst="rect">
            <a:avLst/>
          </a:prstGeom>
          <a:noFill/>
          <a:ln/>
        </p:spPr>
        <p:txBody>
          <a:bodyPr wrap="square" lIns="0" tIns="0" rIns="0" bIns="0" rtlCol="0" anchor="ctr"/>
          <a:lstStyle/>
          <a:p>
            <a:pPr indent="0" marL="0">
              <a:lnSpc>
                <a:spcPts val="1800"/>
              </a:lnSpc>
              <a:buNone/>
            </a:pPr>
            <a:r>
              <a:rPr lang="en-US" sz="1200" dirty="0">
                <a:solidFill>
                  <a:srgbClr val="C9C9C4"/>
                </a:solidFill>
                <a:latin typeface="Arial" pitchFamily="34" charset="0"/>
                <a:ea typeface="Arial" pitchFamily="34" charset="-122"/>
                <a:cs typeface="Arial" pitchFamily="34" charset="-120"/>
              </a:rPr>
              <a:t>A prototype platform that measures an estimated personal carbon footprint, explains it, and helps plan reductions.</a:t>
            </a:r>
            <a:endParaRPr lang="en-US" sz="1200" dirty="0"/>
          </a:p>
        </p:txBody>
      </p:sp>
      <p:sp>
        <p:nvSpPr>
          <p:cNvPr id="19" name="Shape 17"/>
          <p:cNvSpPr/>
          <p:nvPr/>
        </p:nvSpPr>
        <p:spPr>
          <a:xfrm>
            <a:off x="731520" y="4617720"/>
            <a:ext cx="5577840" cy="0"/>
          </a:xfrm>
          <a:prstGeom prst="line">
            <a:avLst/>
          </a:prstGeom>
          <a:noFill/>
          <a:ln w="12700">
            <a:solidFill>
              <a:srgbClr val="3A3A38"/>
            </a:solidFill>
            <a:prstDash val="solid"/>
          </a:ln>
        </p:spPr>
      </p:sp>
      <p:sp>
        <p:nvSpPr>
          <p:cNvPr id="20" name="Text 18"/>
          <p:cNvSpPr txBox="1"/>
          <p:nvPr/>
        </p:nvSpPr>
        <p:spPr>
          <a:xfrm>
            <a:off x="731520" y="4846320"/>
            <a:ext cx="2926080" cy="8229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[Your Name]</a:t>
            </a:r>
            <a:endParaRPr lang="en-US" sz="1200" dirty="0"/>
          </a:p>
          <a:p>
            <a:pPr indent="0" marL="0">
              <a:buNone/>
            </a:pPr>
            <a:r>
              <a:rPr lang="en-US" sz="1200" dirty="0">
                <a:solidFill>
                  <a:srgbClr val="C9C9C4"/>
                </a:solidFill>
                <a:latin typeface="Arial" pitchFamily="34" charset="0"/>
                <a:ea typeface="Arial" pitchFamily="34" charset="-122"/>
                <a:cs typeface="Arial" pitchFamily="34" charset="-120"/>
              </a:rPr>
              <a:t>[Your College]</a:t>
            </a:r>
            <a:endParaRPr lang="en-US" sz="1200" dirty="0"/>
          </a:p>
        </p:txBody>
      </p:sp>
      <p:sp>
        <p:nvSpPr>
          <p:cNvPr id="21" name="Text 19"/>
          <p:cNvSpPr txBox="1"/>
          <p:nvPr/>
        </p:nvSpPr>
        <p:spPr>
          <a:xfrm>
            <a:off x="3840480" y="4846320"/>
            <a:ext cx="2743200" cy="914400"/>
          </a:xfrm>
          <a:prstGeom prst="rect">
            <a:avLst/>
          </a:prstGeom>
          <a:noFill/>
          <a:ln/>
        </p:spPr>
        <p:txBody>
          <a:bodyPr wrap="square" lIns="0" tIns="0" rIns="0" bIns="0" rtlCol="0" anchor="t"/>
          <a:lstStyle/>
          <a:p>
            <a:pPr indent="0" marL="0">
              <a:buNone/>
            </a:pPr>
            <a:r>
              <a:rPr lang="en-US" sz="1300" b="1" dirty="0">
                <a:solidFill>
                  <a:srgbClr val="FFC93C"/>
                </a:solidFill>
                <a:latin typeface="Arial" pitchFamily="34" charset="0"/>
                <a:ea typeface="Arial" pitchFamily="34" charset="-122"/>
                <a:cs typeface="Arial" pitchFamily="34" charset="-120"/>
              </a:rPr>
              <a:t>1M1B AI for Sustainability</a:t>
            </a:r>
            <a:endParaRPr lang="en-US" sz="1300" dirty="0"/>
          </a:p>
          <a:p>
            <a:pPr indent="0" marL="0">
              <a:buNone/>
            </a:pPr>
            <a:r>
              <a:rPr lang="en-US" sz="1100" dirty="0">
                <a:solidFill>
                  <a:srgbClr val="C9C9C4"/>
                </a:solidFill>
                <a:latin typeface="Arial" pitchFamily="34" charset="0"/>
                <a:ea typeface="Arial" pitchFamily="34" charset="-122"/>
                <a:cs typeface="Arial" pitchFamily="34" charset="-120"/>
              </a:rPr>
              <a:t>Virtual Internship</a:t>
            </a:r>
            <a:endParaRPr lang="en-US" sz="1300" dirty="0"/>
          </a:p>
          <a:p>
            <a:pPr indent="0" marL="0">
              <a:buNone/>
            </a:pPr>
            <a:r>
              <a:rPr lang="en-US" sz="1100" dirty="0">
                <a:solidFill>
                  <a:srgbClr val="FFFFFF"/>
                </a:solidFill>
                <a:latin typeface="Arial" pitchFamily="34" charset="0"/>
                <a:ea typeface="Arial" pitchFamily="34" charset="-122"/>
                <a:cs typeface="Arial" pitchFamily="34" charset="-120"/>
              </a:rPr>
              <a:t>IBM SkillsBuild  ·  AICTE</a:t>
            </a:r>
            <a:endParaRPr lang="en-US" sz="1300" dirty="0"/>
          </a:p>
        </p:txBody>
      </p:sp>
      <p:sp>
        <p:nvSpPr>
          <p:cNvPr id="22" name="Shape 20"/>
          <p:cNvSpPr/>
          <p:nvPr/>
        </p:nvSpPr>
        <p:spPr>
          <a:xfrm>
            <a:off x="6903720" y="960120"/>
            <a:ext cx="4663440" cy="3246120"/>
          </a:xfrm>
          <a:prstGeom prst="roundRect">
            <a:avLst>
              <a:gd name="adj" fmla="val 1690"/>
            </a:avLst>
          </a:prstGeom>
          <a:solidFill>
            <a:srgbClr val="151515"/>
          </a:solidFill>
          <a:ln w="12700">
            <a:solidFill>
              <a:srgbClr val="111111"/>
            </a:solidFill>
            <a:prstDash val="solid"/>
          </a:ln>
        </p:spPr>
      </p:sp>
      <p:sp>
        <p:nvSpPr>
          <p:cNvPr id="23" name="Shape 21"/>
          <p:cNvSpPr/>
          <p:nvPr/>
        </p:nvSpPr>
        <p:spPr>
          <a:xfrm>
            <a:off x="6903720" y="960120"/>
            <a:ext cx="4663440" cy="3246120"/>
          </a:xfrm>
          <a:prstGeom prst="roundRect">
            <a:avLst>
              <a:gd name="adj" fmla="val 1690"/>
            </a:avLst>
          </a:prstGeom>
          <a:solidFill>
            <a:srgbClr val="151515"/>
          </a:solidFill>
          <a:ln w="12700">
            <a:solidFill>
              <a:srgbClr val="3A3A38"/>
            </a:solidFill>
            <a:prstDash val="solid"/>
          </a:ln>
        </p:spPr>
      </p:sp>
      <p:sp>
        <p:nvSpPr>
          <p:cNvPr id="24" name="Text 22"/>
          <p:cNvSpPr txBox="1"/>
          <p:nvPr/>
        </p:nvSpPr>
        <p:spPr>
          <a:xfrm>
            <a:off x="7223760" y="1207008"/>
            <a:ext cx="4023360" cy="274320"/>
          </a:xfrm>
          <a:prstGeom prst="rect">
            <a:avLst/>
          </a:prstGeom>
          <a:noFill/>
          <a:ln/>
        </p:spPr>
        <p:txBody>
          <a:bodyPr wrap="square" lIns="0" tIns="0" rIns="0" bIns="0" rtlCol="0" anchor="ctr"/>
          <a:lstStyle/>
          <a:p>
            <a:pPr indent="0" marL="0">
              <a:buNone/>
            </a:pPr>
            <a:r>
              <a:rPr lang="en-US" sz="1000" b="1" spc="200" kern="0" dirty="0">
                <a:solidFill>
                  <a:srgbClr val="00BFD8"/>
                </a:solidFill>
                <a:latin typeface="Arial" pitchFamily="34" charset="0"/>
                <a:ea typeface="Arial" pitchFamily="34" charset="-122"/>
                <a:cs typeface="Arial" pitchFamily="34" charset="-120"/>
              </a:rPr>
              <a:t>CALCULATION TRACE</a:t>
            </a:r>
            <a:endParaRPr lang="en-US" sz="1000" dirty="0"/>
          </a:p>
        </p:txBody>
      </p:sp>
      <p:sp>
        <p:nvSpPr>
          <p:cNvPr id="25" name="Text 23"/>
          <p:cNvSpPr txBox="1"/>
          <p:nvPr/>
        </p:nvSpPr>
        <p:spPr>
          <a:xfrm>
            <a:off x="7223760" y="1572768"/>
            <a:ext cx="402336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390 km/monthly</a:t>
            </a:r>
            <a:endParaRPr lang="en-US" sz="2000" dirty="0"/>
          </a:p>
        </p:txBody>
      </p:sp>
      <p:sp>
        <p:nvSpPr>
          <p:cNvPr id="26" name="Text 24"/>
          <p:cNvSpPr txBox="1"/>
          <p:nvPr/>
        </p:nvSpPr>
        <p:spPr>
          <a:xfrm>
            <a:off x="7223760" y="1938528"/>
            <a:ext cx="4023360" cy="274320"/>
          </a:xfrm>
          <a:prstGeom prst="rect">
            <a:avLst/>
          </a:prstGeom>
          <a:noFill/>
          <a:ln/>
        </p:spPr>
        <p:txBody>
          <a:bodyPr wrap="square" lIns="0" tIns="0" rIns="0" bIns="0" rtlCol="0" anchor="ctr"/>
          <a:lstStyle/>
          <a:p>
            <a:pPr indent="0" marL="0">
              <a:buNone/>
            </a:pPr>
            <a:r>
              <a:rPr lang="en-US" sz="1300" dirty="0">
                <a:solidFill>
                  <a:srgbClr val="C9C9C4"/>
                </a:solidFill>
                <a:latin typeface="Arial" pitchFamily="34" charset="0"/>
                <a:ea typeface="Arial" pitchFamily="34" charset="-122"/>
                <a:cs typeface="Arial" pitchFamily="34" charset="-120"/>
              </a:rPr>
              <a:t>×  0.192 kg CO₂e/km  (emission factor)</a:t>
            </a:r>
            <a:endParaRPr lang="en-US" sz="1300" dirty="0"/>
          </a:p>
        </p:txBody>
      </p:sp>
      <p:sp>
        <p:nvSpPr>
          <p:cNvPr id="27" name="Text 25"/>
          <p:cNvSpPr txBox="1"/>
          <p:nvPr/>
        </p:nvSpPr>
        <p:spPr>
          <a:xfrm>
            <a:off x="7223760" y="2212848"/>
            <a:ext cx="4023360" cy="274320"/>
          </a:xfrm>
          <a:prstGeom prst="rect">
            <a:avLst/>
          </a:prstGeom>
          <a:noFill/>
          <a:ln/>
        </p:spPr>
        <p:txBody>
          <a:bodyPr wrap="square" lIns="0" tIns="0" rIns="0" bIns="0" rtlCol="0" anchor="ctr"/>
          <a:lstStyle/>
          <a:p>
            <a:pPr indent="0" marL="0">
              <a:buNone/>
            </a:pPr>
            <a:r>
              <a:rPr lang="en-US" sz="1300" dirty="0">
                <a:solidFill>
                  <a:srgbClr val="C9C9C4"/>
                </a:solidFill>
                <a:latin typeface="Arial" pitchFamily="34" charset="0"/>
                <a:ea typeface="Arial" pitchFamily="34" charset="-122"/>
                <a:cs typeface="Arial" pitchFamily="34" charset="-120"/>
              </a:rPr>
              <a:t>×  12  (frequency multiplier)</a:t>
            </a:r>
            <a:endParaRPr lang="en-US" sz="1300" dirty="0"/>
          </a:p>
        </p:txBody>
      </p:sp>
      <p:sp>
        <p:nvSpPr>
          <p:cNvPr id="28" name="Shape 26"/>
          <p:cNvSpPr/>
          <p:nvPr/>
        </p:nvSpPr>
        <p:spPr>
          <a:xfrm>
            <a:off x="7223760" y="2578608"/>
            <a:ext cx="4023360" cy="0"/>
          </a:xfrm>
          <a:prstGeom prst="line">
            <a:avLst/>
          </a:prstGeom>
          <a:noFill/>
          <a:ln w="12700">
            <a:solidFill>
              <a:srgbClr val="3A3A38"/>
            </a:solidFill>
            <a:prstDash val="solid"/>
          </a:ln>
        </p:spPr>
      </p:sp>
      <p:sp>
        <p:nvSpPr>
          <p:cNvPr id="29" name="Text 27"/>
          <p:cNvSpPr txBox="1"/>
          <p:nvPr/>
        </p:nvSpPr>
        <p:spPr>
          <a:xfrm>
            <a:off x="7223760" y="2697480"/>
            <a:ext cx="4023360" cy="411480"/>
          </a:xfrm>
          <a:prstGeom prst="rect">
            <a:avLst/>
          </a:prstGeom>
          <a:noFill/>
          <a:ln/>
        </p:spPr>
        <p:txBody>
          <a:bodyPr wrap="square" lIns="0" tIns="0" rIns="0" bIns="0" rtlCol="0" anchor="ctr"/>
          <a:lstStyle/>
          <a:p>
            <a:pPr indent="0" marL="0">
              <a:buNone/>
            </a:pPr>
            <a:r>
              <a:rPr lang="en-US" sz="2200" b="1" dirty="0">
                <a:solidFill>
                  <a:srgbClr val="FFC93C"/>
                </a:solidFill>
                <a:latin typeface="Arial" pitchFamily="34" charset="0"/>
                <a:ea typeface="Arial" pitchFamily="34" charset="-122"/>
                <a:cs typeface="Arial" pitchFamily="34" charset="-120"/>
              </a:rPr>
              <a:t>= 898.56 kg CO₂e / year</a:t>
            </a:r>
            <a:endParaRPr lang="en-US" sz="2200" dirty="0"/>
          </a:p>
        </p:txBody>
      </p:sp>
      <p:sp>
        <p:nvSpPr>
          <p:cNvPr id="30" name="Shape 28"/>
          <p:cNvSpPr/>
          <p:nvPr/>
        </p:nvSpPr>
        <p:spPr>
          <a:xfrm>
            <a:off x="7223760" y="3246120"/>
            <a:ext cx="1371600" cy="365760"/>
          </a:xfrm>
          <a:prstGeom prst="roundRect">
            <a:avLst>
              <a:gd name="adj" fmla="val 25000"/>
            </a:avLst>
          </a:prstGeom>
          <a:solidFill>
            <a:srgbClr val="FF5A4E"/>
          </a:solidFill>
          <a:ln w="12700">
            <a:solidFill>
              <a:srgbClr val="FF5A4E"/>
            </a:solidFill>
            <a:prstDash val="solid"/>
          </a:ln>
        </p:spPr>
      </p:sp>
      <p:sp>
        <p:nvSpPr>
          <p:cNvPr id="31" name="Text 29"/>
          <p:cNvSpPr txBox="1"/>
          <p:nvPr/>
        </p:nvSpPr>
        <p:spPr>
          <a:xfrm>
            <a:off x="7223760" y="3246120"/>
            <a:ext cx="13716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MEDIUM</a:t>
            </a:r>
            <a:endParaRPr lang="en-US" sz="1000" dirty="0"/>
          </a:p>
        </p:txBody>
      </p:sp>
      <p:sp>
        <p:nvSpPr>
          <p:cNvPr id="32" name="Text 30"/>
          <p:cNvSpPr txBox="1"/>
          <p:nvPr/>
        </p:nvSpPr>
        <p:spPr>
          <a:xfrm>
            <a:off x="8686800" y="3246120"/>
            <a:ext cx="2651760" cy="365760"/>
          </a:xfrm>
          <a:prstGeom prst="rect">
            <a:avLst/>
          </a:prstGeom>
          <a:noFill/>
          <a:ln/>
        </p:spPr>
        <p:txBody>
          <a:bodyPr wrap="square" lIns="0" tIns="0" rIns="0" bIns="0" rtlCol="0" anchor="ctr"/>
          <a:lstStyle/>
          <a:p>
            <a:pPr indent="0" marL="0">
              <a:buNone/>
            </a:pPr>
            <a:r>
              <a:rPr lang="en-US" sz="900" dirty="0">
                <a:solidFill>
                  <a:srgbClr val="9A9A95"/>
                </a:solidFill>
                <a:latin typeface="Arial" pitchFamily="34" charset="0"/>
                <a:ea typeface="Arial" pitchFamily="34" charset="-122"/>
                <a:cs typeface="Arial" pitchFamily="34" charset="-120"/>
              </a:rPr>
              <a:t>confidence band ± 15%  ·  estimate, not a measurement</a:t>
            </a:r>
            <a:endParaRPr lang="en-US" sz="900" dirty="0"/>
          </a:p>
        </p:txBody>
      </p:sp>
      <p:sp>
        <p:nvSpPr>
          <p:cNvPr id="33" name="Text 31"/>
          <p:cNvSpPr txBox="1"/>
          <p:nvPr/>
        </p:nvSpPr>
        <p:spPr>
          <a:xfrm>
            <a:off x="6903720" y="4434840"/>
            <a:ext cx="1097280" cy="4572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23</a:t>
            </a:r>
            <a:endParaRPr lang="en-US" sz="2600" dirty="0"/>
          </a:p>
        </p:txBody>
      </p:sp>
      <p:sp>
        <p:nvSpPr>
          <p:cNvPr id="34" name="Text 32"/>
          <p:cNvSpPr txBox="1"/>
          <p:nvPr/>
        </p:nvSpPr>
        <p:spPr>
          <a:xfrm>
            <a:off x="6903720" y="4892040"/>
            <a:ext cx="1097280" cy="548640"/>
          </a:xfrm>
          <a:prstGeom prst="rect">
            <a:avLst/>
          </a:prstGeom>
          <a:noFill/>
          <a:ln/>
        </p:spPr>
        <p:txBody>
          <a:bodyPr wrap="square" lIns="0" tIns="0" rIns="0" bIns="0" rtlCol="0" anchor="ctr"/>
          <a:lstStyle/>
          <a:p>
            <a:pPr indent="0" marL="0">
              <a:lnSpc>
                <a:spcPts val="1100"/>
              </a:lnSpc>
              <a:buNone/>
            </a:pPr>
            <a:r>
              <a:rPr lang="en-US" sz="900" dirty="0">
                <a:solidFill>
                  <a:srgbClr val="9A9A95"/>
                </a:solidFill>
                <a:latin typeface="Arial" pitchFamily="34" charset="0"/>
                <a:ea typeface="Arial" pitchFamily="34" charset="-122"/>
                <a:cs typeface="Arial" pitchFamily="34" charset="-120"/>
              </a:rPr>
              <a:t>seeded emission factors</a:t>
            </a:r>
            <a:endParaRPr lang="en-US" sz="900" dirty="0"/>
          </a:p>
        </p:txBody>
      </p:sp>
      <p:sp>
        <p:nvSpPr>
          <p:cNvPr id="35" name="Text 33"/>
          <p:cNvSpPr txBox="1"/>
          <p:nvPr/>
        </p:nvSpPr>
        <p:spPr>
          <a:xfrm>
            <a:off x="8092440" y="4434840"/>
            <a:ext cx="1097280" cy="457200"/>
          </a:xfrm>
          <a:prstGeom prst="rect">
            <a:avLst/>
          </a:prstGeom>
          <a:noFill/>
          <a:ln/>
        </p:spPr>
        <p:txBody>
          <a:bodyPr wrap="square" lIns="0" tIns="0" rIns="0" bIns="0" rtlCol="0" anchor="ctr"/>
          <a:lstStyle/>
          <a:p>
            <a:pPr indent="0" marL="0">
              <a:buNone/>
            </a:pPr>
            <a:r>
              <a:rPr lang="en-US" sz="2600" b="1" dirty="0">
                <a:solidFill>
                  <a:srgbClr val="00BFD8"/>
                </a:solidFill>
                <a:latin typeface="Arial" pitchFamily="34" charset="0"/>
                <a:ea typeface="Arial" pitchFamily="34" charset="-122"/>
                <a:cs typeface="Arial" pitchFamily="34" charset="-120"/>
              </a:rPr>
              <a:t>6</a:t>
            </a:r>
            <a:endParaRPr lang="en-US" sz="2600" dirty="0"/>
          </a:p>
        </p:txBody>
      </p:sp>
      <p:sp>
        <p:nvSpPr>
          <p:cNvPr id="36" name="Text 34"/>
          <p:cNvSpPr txBox="1"/>
          <p:nvPr/>
        </p:nvSpPr>
        <p:spPr>
          <a:xfrm>
            <a:off x="8092440" y="4892040"/>
            <a:ext cx="1097280" cy="548640"/>
          </a:xfrm>
          <a:prstGeom prst="rect">
            <a:avLst/>
          </a:prstGeom>
          <a:noFill/>
          <a:ln/>
        </p:spPr>
        <p:txBody>
          <a:bodyPr wrap="square" lIns="0" tIns="0" rIns="0" bIns="0" rtlCol="0" anchor="ctr"/>
          <a:lstStyle/>
          <a:p>
            <a:pPr indent="0" marL="0">
              <a:lnSpc>
                <a:spcPts val="1100"/>
              </a:lnSpc>
              <a:buNone/>
            </a:pPr>
            <a:r>
              <a:rPr lang="en-US" sz="900" dirty="0">
                <a:solidFill>
                  <a:srgbClr val="9A9A95"/>
                </a:solidFill>
                <a:latin typeface="Arial" pitchFamily="34" charset="0"/>
                <a:ea typeface="Arial" pitchFamily="34" charset="-122"/>
                <a:cs typeface="Arial" pitchFamily="34" charset="-120"/>
              </a:rPr>
              <a:t>pure domain engines</a:t>
            </a:r>
            <a:endParaRPr lang="en-US" sz="900" dirty="0"/>
          </a:p>
        </p:txBody>
      </p:sp>
      <p:sp>
        <p:nvSpPr>
          <p:cNvPr id="37" name="Text 35"/>
          <p:cNvSpPr txBox="1"/>
          <p:nvPr/>
        </p:nvSpPr>
        <p:spPr>
          <a:xfrm>
            <a:off x="9281160" y="4434840"/>
            <a:ext cx="1097280" cy="4572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16</a:t>
            </a:r>
            <a:endParaRPr lang="en-US" sz="2600" dirty="0"/>
          </a:p>
        </p:txBody>
      </p:sp>
      <p:sp>
        <p:nvSpPr>
          <p:cNvPr id="38" name="Text 36"/>
          <p:cNvSpPr txBox="1"/>
          <p:nvPr/>
        </p:nvSpPr>
        <p:spPr>
          <a:xfrm>
            <a:off x="9281160" y="4892040"/>
            <a:ext cx="1097280" cy="548640"/>
          </a:xfrm>
          <a:prstGeom prst="rect">
            <a:avLst/>
          </a:prstGeom>
          <a:noFill/>
          <a:ln/>
        </p:spPr>
        <p:txBody>
          <a:bodyPr wrap="square" lIns="0" tIns="0" rIns="0" bIns="0" rtlCol="0" anchor="ctr"/>
          <a:lstStyle/>
          <a:p>
            <a:pPr indent="0" marL="0">
              <a:lnSpc>
                <a:spcPts val="1100"/>
              </a:lnSpc>
              <a:buNone/>
            </a:pPr>
            <a:r>
              <a:rPr lang="en-US" sz="900" dirty="0">
                <a:solidFill>
                  <a:srgbClr val="9A9A95"/>
                </a:solidFill>
                <a:latin typeface="Arial" pitchFamily="34" charset="0"/>
                <a:ea typeface="Arial" pitchFamily="34" charset="-122"/>
                <a:cs typeface="Arial" pitchFamily="34" charset="-120"/>
              </a:rPr>
              <a:t>REST API routes</a:t>
            </a:r>
            <a:endParaRPr lang="en-US" sz="900" dirty="0"/>
          </a:p>
        </p:txBody>
      </p:sp>
      <p:sp>
        <p:nvSpPr>
          <p:cNvPr id="39" name="Text 37"/>
          <p:cNvSpPr txBox="1"/>
          <p:nvPr/>
        </p:nvSpPr>
        <p:spPr>
          <a:xfrm>
            <a:off x="10469880" y="4434840"/>
            <a:ext cx="1097280" cy="457200"/>
          </a:xfrm>
          <a:prstGeom prst="rect">
            <a:avLst/>
          </a:prstGeom>
          <a:noFill/>
          <a:ln/>
        </p:spPr>
        <p:txBody>
          <a:bodyPr wrap="square" lIns="0" tIns="0" rIns="0" bIns="0" rtlCol="0" anchor="ctr"/>
          <a:lstStyle/>
          <a:p>
            <a:pPr indent="0" marL="0">
              <a:buNone/>
            </a:pPr>
            <a:r>
              <a:rPr lang="en-US" sz="2600" b="1" dirty="0">
                <a:solidFill>
                  <a:srgbClr val="00BFD8"/>
                </a:solidFill>
                <a:latin typeface="Arial" pitchFamily="34" charset="0"/>
                <a:ea typeface="Arial" pitchFamily="34" charset="-122"/>
                <a:cs typeface="Arial" pitchFamily="34" charset="-120"/>
              </a:rPr>
              <a:t>67</a:t>
            </a:r>
            <a:endParaRPr lang="en-US" sz="2600" dirty="0"/>
          </a:p>
        </p:txBody>
      </p:sp>
      <p:sp>
        <p:nvSpPr>
          <p:cNvPr id="40" name="Text 38"/>
          <p:cNvSpPr txBox="1"/>
          <p:nvPr/>
        </p:nvSpPr>
        <p:spPr>
          <a:xfrm>
            <a:off x="10469880" y="4892040"/>
            <a:ext cx="1097280" cy="548640"/>
          </a:xfrm>
          <a:prstGeom prst="rect">
            <a:avLst/>
          </a:prstGeom>
          <a:noFill/>
          <a:ln/>
        </p:spPr>
        <p:txBody>
          <a:bodyPr wrap="square" lIns="0" tIns="0" rIns="0" bIns="0" rtlCol="0" anchor="ctr"/>
          <a:lstStyle/>
          <a:p>
            <a:pPr indent="0" marL="0">
              <a:lnSpc>
                <a:spcPts val="1100"/>
              </a:lnSpc>
              <a:buNone/>
            </a:pPr>
            <a:r>
              <a:rPr lang="en-US" sz="900" dirty="0">
                <a:solidFill>
                  <a:srgbClr val="9A9A95"/>
                </a:solidFill>
                <a:latin typeface="Arial" pitchFamily="34" charset="0"/>
                <a:ea typeface="Arial" pitchFamily="34" charset="-122"/>
                <a:cs typeface="Arial" pitchFamily="34" charset="-120"/>
              </a:rPr>
              <a:t>automated tests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111111"/>
                </a:solidFill>
                <a:latin typeface="Arial" pitchFamily="34" charset="0"/>
                <a:ea typeface="Arial" pitchFamily="34" charset="-122"/>
                <a:cs typeface="Arial" pitchFamily="34" charset="-120"/>
              </a:rPr>
              <a:t>Knowing your footprint isn't enough.</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indent="0" marL="0">
              <a:buNone/>
            </a:pPr>
            <a:r>
              <a:rPr lang="en-US" sz="1400" dirty="0">
                <a:solidFill>
                  <a:srgbClr val="8C8C86"/>
                </a:solidFill>
                <a:latin typeface="Arial" pitchFamily="34" charset="0"/>
                <a:ea typeface="Arial" pitchFamily="34" charset="-122"/>
                <a:cs typeface="Arial" pitchFamily="34" charset="-120"/>
              </a:rPr>
              <a:t>Most calculators hand you a number and stop there.</a:t>
            </a:r>
            <a:endParaRPr lang="en-US" sz="1400" dirty="0"/>
          </a:p>
        </p:txBody>
      </p:sp>
      <p:sp>
        <p:nvSpPr>
          <p:cNvPr id="4" name="Shape 2"/>
          <p:cNvSpPr/>
          <p:nvPr/>
        </p:nvSpPr>
        <p:spPr>
          <a:xfrm>
            <a:off x="548640" y="1783080"/>
            <a:ext cx="4114800" cy="3566160"/>
          </a:xfrm>
          <a:prstGeom prst="roundRect">
            <a:avLst>
              <a:gd name="adj" fmla="val 1538"/>
            </a:avLst>
          </a:prstGeom>
          <a:solidFill>
            <a:srgbClr val="FFFFFF"/>
          </a:solidFill>
          <a:ln w="12700">
            <a:solidFill>
              <a:srgbClr val="111111"/>
            </a:solidFill>
            <a:prstDash val="solid"/>
          </a:ln>
        </p:spPr>
      </p:sp>
      <p:sp>
        <p:nvSpPr>
          <p:cNvPr id="5" name="Text 3"/>
          <p:cNvSpPr txBox="1"/>
          <p:nvPr/>
        </p:nvSpPr>
        <p:spPr>
          <a:xfrm>
            <a:off x="868680" y="2057400"/>
            <a:ext cx="3474720" cy="256032"/>
          </a:xfrm>
          <a:prstGeom prst="rect">
            <a:avLst/>
          </a:prstGeom>
          <a:noFill/>
          <a:ln/>
        </p:spPr>
        <p:txBody>
          <a:bodyPr wrap="square" lIns="0" tIns="0" rIns="0" bIns="0" rtlCol="0" anchor="ctr"/>
          <a:lstStyle/>
          <a:p>
            <a:pPr indent="0" marL="0">
              <a:buNone/>
            </a:pPr>
            <a:r>
              <a:rPr lang="en-US" sz="1000" b="1" spc="200" kern="0" dirty="0">
                <a:solidFill>
                  <a:srgbClr val="8C8C86"/>
                </a:solidFill>
                <a:latin typeface="Arial" pitchFamily="34" charset="0"/>
                <a:ea typeface="Arial" pitchFamily="34" charset="-122"/>
                <a:cs typeface="Arial" pitchFamily="34" charset="-120"/>
              </a:rPr>
              <a:t>THE USUAL EXPERIENCE</a:t>
            </a:r>
            <a:endParaRPr lang="en-US" sz="1000" dirty="0"/>
          </a:p>
        </p:txBody>
      </p:sp>
      <p:sp>
        <p:nvSpPr>
          <p:cNvPr id="6" name="Shape 4"/>
          <p:cNvSpPr/>
          <p:nvPr/>
        </p:nvSpPr>
        <p:spPr>
          <a:xfrm>
            <a:off x="868680" y="2468880"/>
            <a:ext cx="310896" cy="310896"/>
          </a:xfrm>
          <a:prstGeom prst="ellipse">
            <a:avLst/>
          </a:prstGeom>
          <a:solidFill>
            <a:srgbClr val="111111"/>
          </a:solidFill>
          <a:ln w="12700">
            <a:solidFill>
              <a:srgbClr val="111111"/>
            </a:solidFill>
            <a:prstDash val="solid"/>
          </a:ln>
        </p:spPr>
      </p:sp>
      <p:sp>
        <p:nvSpPr>
          <p:cNvPr id="7" name="Text 5"/>
          <p:cNvSpPr txBox="1"/>
          <p:nvPr/>
        </p:nvSpPr>
        <p:spPr>
          <a:xfrm>
            <a:off x="868680" y="24688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325880" y="2468880"/>
            <a:ext cx="3017520" cy="310896"/>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Answer ~10 questions</a:t>
            </a:r>
            <a:endParaRPr lang="en-US" sz="1400" dirty="0"/>
          </a:p>
        </p:txBody>
      </p:sp>
      <p:sp>
        <p:nvSpPr>
          <p:cNvPr id="9" name="Shape 7"/>
          <p:cNvSpPr/>
          <p:nvPr/>
        </p:nvSpPr>
        <p:spPr>
          <a:xfrm>
            <a:off x="868680" y="3182112"/>
            <a:ext cx="310896" cy="310896"/>
          </a:xfrm>
          <a:prstGeom prst="ellipse">
            <a:avLst/>
          </a:prstGeom>
          <a:solidFill>
            <a:srgbClr val="111111"/>
          </a:solidFill>
          <a:ln w="12700">
            <a:solidFill>
              <a:srgbClr val="111111"/>
            </a:solidFill>
            <a:prstDash val="solid"/>
          </a:ln>
        </p:spPr>
      </p:sp>
      <p:sp>
        <p:nvSpPr>
          <p:cNvPr id="10" name="Text 8"/>
          <p:cNvSpPr txBox="1"/>
          <p:nvPr/>
        </p:nvSpPr>
        <p:spPr>
          <a:xfrm>
            <a:off x="868680" y="3182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9"/>
          <p:cNvSpPr txBox="1"/>
          <p:nvPr/>
        </p:nvSpPr>
        <p:spPr>
          <a:xfrm>
            <a:off x="1325880" y="3182112"/>
            <a:ext cx="3017520" cy="310896"/>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Get one static estimate</a:t>
            </a:r>
            <a:endParaRPr lang="en-US" sz="1400" dirty="0"/>
          </a:p>
        </p:txBody>
      </p:sp>
      <p:sp>
        <p:nvSpPr>
          <p:cNvPr id="12" name="Shape 10"/>
          <p:cNvSpPr/>
          <p:nvPr/>
        </p:nvSpPr>
        <p:spPr>
          <a:xfrm>
            <a:off x="868680" y="3895344"/>
            <a:ext cx="310896" cy="310896"/>
          </a:xfrm>
          <a:prstGeom prst="ellipse">
            <a:avLst/>
          </a:prstGeom>
          <a:solidFill>
            <a:srgbClr val="8C8C86"/>
          </a:solidFill>
          <a:ln w="12700">
            <a:solidFill>
              <a:srgbClr val="8C8C86"/>
            </a:solidFill>
            <a:prstDash val="solid"/>
          </a:ln>
        </p:spPr>
      </p:sp>
      <p:sp>
        <p:nvSpPr>
          <p:cNvPr id="13" name="Text 11"/>
          <p:cNvSpPr txBox="1"/>
          <p:nvPr/>
        </p:nvSpPr>
        <p:spPr>
          <a:xfrm>
            <a:off x="868680" y="38953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txBox="1"/>
          <p:nvPr/>
        </p:nvSpPr>
        <p:spPr>
          <a:xfrm>
            <a:off x="1325880" y="3895344"/>
            <a:ext cx="3017520" cy="310896"/>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Close the tab</a:t>
            </a:r>
            <a:endParaRPr lang="en-US" sz="1400" dirty="0"/>
          </a:p>
        </p:txBody>
      </p:sp>
      <p:sp>
        <p:nvSpPr>
          <p:cNvPr id="15" name="Shape 13"/>
          <p:cNvSpPr/>
          <p:nvPr/>
        </p:nvSpPr>
        <p:spPr>
          <a:xfrm>
            <a:off x="868680" y="4572000"/>
            <a:ext cx="3474720" cy="548640"/>
          </a:xfrm>
          <a:prstGeom prst="roundRect">
            <a:avLst>
              <a:gd name="adj" fmla="val 16667"/>
            </a:avLst>
          </a:prstGeom>
          <a:solidFill>
            <a:srgbClr val="EDEBE4"/>
          </a:solidFill>
          <a:ln w="12700">
            <a:solidFill>
              <a:srgbClr val="EDEBE4"/>
            </a:solidFill>
            <a:prstDash val="solid"/>
          </a:ln>
        </p:spPr>
      </p:sp>
      <p:sp>
        <p:nvSpPr>
          <p:cNvPr id="16" name="Text 14"/>
          <p:cNvSpPr txBox="1"/>
          <p:nvPr/>
        </p:nvSpPr>
        <p:spPr>
          <a:xfrm>
            <a:off x="868680" y="4572000"/>
            <a:ext cx="3474720" cy="548640"/>
          </a:xfrm>
          <a:prstGeom prst="rect">
            <a:avLst/>
          </a:prstGeom>
          <a:noFill/>
          <a:ln/>
        </p:spPr>
        <p:txBody>
          <a:bodyPr wrap="square" lIns="0" tIns="0" rIns="0" bIns="0" rtlCol="0" anchor="ctr"/>
          <a:lstStyle/>
          <a:p>
            <a:pPr algn="ctr" indent="0" marL="0">
              <a:buNone/>
            </a:pPr>
            <a:r>
              <a:rPr lang="en-US" sz="1200" b="1" dirty="0">
                <a:solidFill>
                  <a:srgbClr val="FF5A4E"/>
                </a:solidFill>
                <a:latin typeface="Arial" pitchFamily="34" charset="0"/>
                <a:ea typeface="Arial" pitchFamily="34" charset="-122"/>
                <a:cs typeface="Arial" pitchFamily="34" charset="-120"/>
              </a:rPr>
              <a:t>One number. One time. No next step.</a:t>
            </a:r>
            <a:endParaRPr lang="en-US" sz="1200" dirty="0"/>
          </a:p>
        </p:txBody>
      </p:sp>
      <p:sp>
        <p:nvSpPr>
          <p:cNvPr id="17" name="Shape 15"/>
          <p:cNvSpPr/>
          <p:nvPr/>
        </p:nvSpPr>
        <p:spPr>
          <a:xfrm>
            <a:off x="5029200" y="1783080"/>
            <a:ext cx="3291840" cy="1600200"/>
          </a:xfrm>
          <a:prstGeom prst="roundRect">
            <a:avLst>
              <a:gd name="adj" fmla="val 3429"/>
            </a:avLst>
          </a:prstGeom>
          <a:solidFill>
            <a:srgbClr val="FFFFFF"/>
          </a:solidFill>
          <a:ln w="12700">
            <a:solidFill>
              <a:srgbClr val="111111"/>
            </a:solidFill>
            <a:prstDash val="solid"/>
          </a:ln>
        </p:spPr>
      </p:sp>
      <p:sp>
        <p:nvSpPr>
          <p:cNvPr id="18" name="Shape 16"/>
          <p:cNvSpPr/>
          <p:nvPr/>
        </p:nvSpPr>
        <p:spPr>
          <a:xfrm>
            <a:off x="5321808" y="2075688"/>
            <a:ext cx="237744" cy="237744"/>
          </a:xfrm>
          <a:prstGeom prst="ellipse">
            <a:avLst/>
          </a:prstGeom>
          <a:solidFill>
            <a:srgbClr val="00BFD8"/>
          </a:solidFill>
          <a:ln w="12700">
            <a:solidFill>
              <a:srgbClr val="00BFD8"/>
            </a:solidFill>
            <a:prstDash val="solid"/>
          </a:ln>
        </p:spPr>
      </p:sp>
      <p:sp>
        <p:nvSpPr>
          <p:cNvPr id="19" name="Text 17"/>
          <p:cNvSpPr txBox="1"/>
          <p:nvPr/>
        </p:nvSpPr>
        <p:spPr>
          <a:xfrm>
            <a:off x="5321808" y="2441448"/>
            <a:ext cx="2697480" cy="777240"/>
          </a:xfrm>
          <a:prstGeom prst="rect">
            <a:avLst/>
          </a:prstGeom>
          <a:noFill/>
          <a:ln/>
        </p:spPr>
        <p:txBody>
          <a:bodyPr wrap="square" lIns="0" tIns="0" rIns="0" bIns="0" rtlCol="0" anchor="ctr"/>
          <a:lstStyle/>
          <a:p>
            <a:pPr indent="0" marL="0">
              <a:lnSpc>
                <a:spcPts val="2000"/>
              </a:lnSpc>
              <a:buNone/>
            </a:pPr>
            <a:r>
              <a:rPr lang="en-US" sz="1500" b="1" dirty="0">
                <a:solidFill>
                  <a:srgbClr val="111111"/>
                </a:solidFill>
                <a:latin typeface="Arial" pitchFamily="34" charset="0"/>
                <a:ea typeface="Arial" pitchFamily="34" charset="-122"/>
                <a:cs typeface="Arial" pitchFamily="34" charset="-120"/>
              </a:rPr>
              <a:t>Where do my emissions actually come from?</a:t>
            </a:r>
            <a:endParaRPr lang="en-US" sz="1500" dirty="0"/>
          </a:p>
        </p:txBody>
      </p:sp>
      <p:sp>
        <p:nvSpPr>
          <p:cNvPr id="20" name="Shape 18"/>
          <p:cNvSpPr/>
          <p:nvPr/>
        </p:nvSpPr>
        <p:spPr>
          <a:xfrm>
            <a:off x="8595360" y="1783080"/>
            <a:ext cx="3291840" cy="1600200"/>
          </a:xfrm>
          <a:prstGeom prst="roundRect">
            <a:avLst>
              <a:gd name="adj" fmla="val 3429"/>
            </a:avLst>
          </a:prstGeom>
          <a:solidFill>
            <a:srgbClr val="FFFFFF"/>
          </a:solidFill>
          <a:ln w="12700">
            <a:solidFill>
              <a:srgbClr val="111111"/>
            </a:solidFill>
            <a:prstDash val="solid"/>
          </a:ln>
        </p:spPr>
      </p:sp>
      <p:sp>
        <p:nvSpPr>
          <p:cNvPr id="21" name="Shape 19"/>
          <p:cNvSpPr/>
          <p:nvPr/>
        </p:nvSpPr>
        <p:spPr>
          <a:xfrm>
            <a:off x="8887968" y="2075688"/>
            <a:ext cx="237744" cy="237744"/>
          </a:xfrm>
          <a:prstGeom prst="ellipse">
            <a:avLst/>
          </a:prstGeom>
          <a:solidFill>
            <a:srgbClr val="FFC93C"/>
          </a:solidFill>
          <a:ln w="12700">
            <a:solidFill>
              <a:srgbClr val="FFC93C"/>
            </a:solidFill>
            <a:prstDash val="solid"/>
          </a:ln>
        </p:spPr>
      </p:sp>
      <p:sp>
        <p:nvSpPr>
          <p:cNvPr id="22" name="Text 20"/>
          <p:cNvSpPr txBox="1"/>
          <p:nvPr/>
        </p:nvSpPr>
        <p:spPr>
          <a:xfrm>
            <a:off x="8887968" y="2441448"/>
            <a:ext cx="2697480" cy="777240"/>
          </a:xfrm>
          <a:prstGeom prst="rect">
            <a:avLst/>
          </a:prstGeom>
          <a:noFill/>
          <a:ln/>
        </p:spPr>
        <p:txBody>
          <a:bodyPr wrap="square" lIns="0" tIns="0" rIns="0" bIns="0" rtlCol="0" anchor="ctr"/>
          <a:lstStyle/>
          <a:p>
            <a:pPr indent="0" marL="0">
              <a:lnSpc>
                <a:spcPts val="2000"/>
              </a:lnSpc>
              <a:buNone/>
            </a:pPr>
            <a:r>
              <a:rPr lang="en-US" sz="1500" b="1" dirty="0">
                <a:solidFill>
                  <a:srgbClr val="111111"/>
                </a:solidFill>
                <a:latin typeface="Arial" pitchFamily="34" charset="0"/>
                <a:ea typeface="Arial" pitchFamily="34" charset="-122"/>
                <a:cs typeface="Arial" pitchFamily="34" charset="-120"/>
              </a:rPr>
              <a:t>Which of these can I realistically change?</a:t>
            </a:r>
            <a:endParaRPr lang="en-US" sz="1500" dirty="0"/>
          </a:p>
        </p:txBody>
      </p:sp>
      <p:sp>
        <p:nvSpPr>
          <p:cNvPr id="23" name="Shape 21"/>
          <p:cNvSpPr/>
          <p:nvPr/>
        </p:nvSpPr>
        <p:spPr>
          <a:xfrm>
            <a:off x="5029200" y="3611880"/>
            <a:ext cx="3291840" cy="1600200"/>
          </a:xfrm>
          <a:prstGeom prst="roundRect">
            <a:avLst>
              <a:gd name="adj" fmla="val 3429"/>
            </a:avLst>
          </a:prstGeom>
          <a:solidFill>
            <a:srgbClr val="FFFFFF"/>
          </a:solidFill>
          <a:ln w="12700">
            <a:solidFill>
              <a:srgbClr val="111111"/>
            </a:solidFill>
            <a:prstDash val="solid"/>
          </a:ln>
        </p:spPr>
      </p:sp>
      <p:sp>
        <p:nvSpPr>
          <p:cNvPr id="24" name="Shape 22"/>
          <p:cNvSpPr/>
          <p:nvPr/>
        </p:nvSpPr>
        <p:spPr>
          <a:xfrm>
            <a:off x="5321808" y="3904488"/>
            <a:ext cx="237744" cy="237744"/>
          </a:xfrm>
          <a:prstGeom prst="ellipse">
            <a:avLst/>
          </a:prstGeom>
          <a:solidFill>
            <a:srgbClr val="7B5CFF"/>
          </a:solidFill>
          <a:ln w="12700">
            <a:solidFill>
              <a:srgbClr val="7B5CFF"/>
            </a:solidFill>
            <a:prstDash val="solid"/>
          </a:ln>
        </p:spPr>
      </p:sp>
      <p:sp>
        <p:nvSpPr>
          <p:cNvPr id="25" name="Text 23"/>
          <p:cNvSpPr txBox="1"/>
          <p:nvPr/>
        </p:nvSpPr>
        <p:spPr>
          <a:xfrm>
            <a:off x="5321808" y="4270248"/>
            <a:ext cx="2697480" cy="777240"/>
          </a:xfrm>
          <a:prstGeom prst="rect">
            <a:avLst/>
          </a:prstGeom>
          <a:noFill/>
          <a:ln/>
        </p:spPr>
        <p:txBody>
          <a:bodyPr wrap="square" lIns="0" tIns="0" rIns="0" bIns="0" rtlCol="0" anchor="ctr"/>
          <a:lstStyle/>
          <a:p>
            <a:pPr indent="0" marL="0">
              <a:lnSpc>
                <a:spcPts val="2000"/>
              </a:lnSpc>
              <a:buNone/>
            </a:pPr>
            <a:r>
              <a:rPr lang="en-US" sz="1500" b="1" dirty="0">
                <a:solidFill>
                  <a:srgbClr val="111111"/>
                </a:solidFill>
                <a:latin typeface="Arial" pitchFamily="34" charset="0"/>
                <a:ea typeface="Arial" pitchFamily="34" charset="-122"/>
                <a:cs typeface="Arial" pitchFamily="34" charset="-120"/>
              </a:rPr>
              <a:t>What happens to my footprint if I change it?</a:t>
            </a:r>
            <a:endParaRPr lang="en-US" sz="1500" dirty="0"/>
          </a:p>
        </p:txBody>
      </p:sp>
      <p:sp>
        <p:nvSpPr>
          <p:cNvPr id="26" name="Shape 24"/>
          <p:cNvSpPr/>
          <p:nvPr/>
        </p:nvSpPr>
        <p:spPr>
          <a:xfrm>
            <a:off x="8595360" y="3611880"/>
            <a:ext cx="3291840" cy="1600200"/>
          </a:xfrm>
          <a:prstGeom prst="roundRect">
            <a:avLst>
              <a:gd name="adj" fmla="val 3429"/>
            </a:avLst>
          </a:prstGeom>
          <a:solidFill>
            <a:srgbClr val="FFFFFF"/>
          </a:solidFill>
          <a:ln w="12700">
            <a:solidFill>
              <a:srgbClr val="111111"/>
            </a:solidFill>
            <a:prstDash val="solid"/>
          </a:ln>
        </p:spPr>
      </p:sp>
      <p:sp>
        <p:nvSpPr>
          <p:cNvPr id="27" name="Shape 25"/>
          <p:cNvSpPr/>
          <p:nvPr/>
        </p:nvSpPr>
        <p:spPr>
          <a:xfrm>
            <a:off x="8887968" y="3904488"/>
            <a:ext cx="237744" cy="237744"/>
          </a:xfrm>
          <a:prstGeom prst="ellipse">
            <a:avLst/>
          </a:prstGeom>
          <a:solidFill>
            <a:srgbClr val="FF5A4E"/>
          </a:solidFill>
          <a:ln w="12700">
            <a:solidFill>
              <a:srgbClr val="FF5A4E"/>
            </a:solidFill>
            <a:prstDash val="solid"/>
          </a:ln>
        </p:spPr>
      </p:sp>
      <p:sp>
        <p:nvSpPr>
          <p:cNvPr id="28" name="Text 26"/>
          <p:cNvSpPr txBox="1"/>
          <p:nvPr/>
        </p:nvSpPr>
        <p:spPr>
          <a:xfrm>
            <a:off x="8887968" y="4270248"/>
            <a:ext cx="2697480" cy="777240"/>
          </a:xfrm>
          <a:prstGeom prst="rect">
            <a:avLst/>
          </a:prstGeom>
          <a:noFill/>
          <a:ln/>
        </p:spPr>
        <p:txBody>
          <a:bodyPr wrap="square" lIns="0" tIns="0" rIns="0" bIns="0" rtlCol="0" anchor="ctr"/>
          <a:lstStyle/>
          <a:p>
            <a:pPr indent="0" marL="0">
              <a:lnSpc>
                <a:spcPts val="2000"/>
              </a:lnSpc>
              <a:buNone/>
            </a:pPr>
            <a:r>
              <a:rPr lang="en-US" sz="1500" b="1" dirty="0">
                <a:solidFill>
                  <a:srgbClr val="111111"/>
                </a:solidFill>
                <a:latin typeface="Arial" pitchFamily="34" charset="0"/>
                <a:ea typeface="Arial" pitchFamily="34" charset="-122"/>
                <a:cs typeface="Arial" pitchFamily="34" charset="-120"/>
              </a:rPr>
              <a:t>Am I actually improving over time?</a:t>
            </a:r>
            <a:endParaRPr lang="en-US" sz="1500" dirty="0"/>
          </a:p>
        </p:txBody>
      </p:sp>
      <p:sp>
        <p:nvSpPr>
          <p:cNvPr id="29" name="Text 27"/>
          <p:cNvSpPr txBox="1"/>
          <p:nvPr/>
        </p:nvSpPr>
        <p:spPr>
          <a:xfrm>
            <a:off x="5029200" y="5532120"/>
            <a:ext cx="6583680" cy="365760"/>
          </a:xfrm>
          <a:prstGeom prst="rect">
            <a:avLst/>
          </a:prstGeom>
          <a:noFill/>
          <a:ln/>
        </p:spPr>
        <p:txBody>
          <a:bodyPr wrap="square" lIns="0" tIns="0" rIns="0" bIns="0" rtlCol="0" anchor="ctr"/>
          <a:lstStyle/>
          <a:p>
            <a:pPr indent="0" marL="0">
              <a:buNone/>
            </a:pPr>
            <a:r>
              <a:rPr lang="en-US" sz="1200" dirty="0">
                <a:solidFill>
                  <a:srgbClr val="8C8C86"/>
                </a:solidFill>
                <a:latin typeface="Arial" pitchFamily="34" charset="0"/>
                <a:ea typeface="Arial" pitchFamily="34" charset="-122"/>
                <a:cs typeface="Arial" pitchFamily="34" charset="-120"/>
              </a:rPr>
              <a:t>These four questions are where behaviour change actually happens — and where a static calculator leaves the user alone.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111111"/>
                </a:solidFill>
                <a:latin typeface="Arial" pitchFamily="34" charset="0"/>
                <a:ea typeface="Arial" pitchFamily="34" charset="-122"/>
                <a:cs typeface="Arial" pitchFamily="34" charset="-120"/>
              </a:rPr>
              <a:t>The gap</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indent="0" marL="0">
              <a:buNone/>
            </a:pPr>
            <a:r>
              <a:rPr lang="en-US" sz="1400" dirty="0">
                <a:solidFill>
                  <a:srgbClr val="8C8C86"/>
                </a:solidFill>
                <a:latin typeface="Arial" pitchFamily="34" charset="0"/>
                <a:ea typeface="Arial" pitchFamily="34" charset="-122"/>
                <a:cs typeface="Arial" pitchFamily="34" charset="-120"/>
              </a:rPr>
              <a:t>Measurement is a moment. Decisions are a loop.</a:t>
            </a:r>
            <a:endParaRPr lang="en-US" sz="1400" dirty="0"/>
          </a:p>
        </p:txBody>
      </p:sp>
      <p:sp>
        <p:nvSpPr>
          <p:cNvPr id="4" name="Text 2"/>
          <p:cNvSpPr txBox="1"/>
          <p:nvPr/>
        </p:nvSpPr>
        <p:spPr>
          <a:xfrm>
            <a:off x="548640" y="1828800"/>
            <a:ext cx="4572000" cy="274320"/>
          </a:xfrm>
          <a:prstGeom prst="rect">
            <a:avLst/>
          </a:prstGeom>
          <a:noFill/>
          <a:ln/>
        </p:spPr>
        <p:txBody>
          <a:bodyPr wrap="square" lIns="0" tIns="0" rIns="0" bIns="0" rtlCol="0" anchor="ctr"/>
          <a:lstStyle/>
          <a:p>
            <a:pPr indent="0" marL="0">
              <a:buNone/>
            </a:pPr>
            <a:r>
              <a:rPr lang="en-US" sz="1100" b="1" spc="200" kern="0" dirty="0">
                <a:solidFill>
                  <a:srgbClr val="8C8C86"/>
                </a:solidFill>
                <a:latin typeface="Arial" pitchFamily="34" charset="0"/>
                <a:ea typeface="Arial" pitchFamily="34" charset="-122"/>
                <a:cs typeface="Arial" pitchFamily="34" charset="-120"/>
              </a:rPr>
              <a:t>TRADITIONAL CALCULATOR</a:t>
            </a:r>
            <a:endParaRPr lang="en-US" sz="1100" dirty="0"/>
          </a:p>
        </p:txBody>
      </p:sp>
      <p:sp>
        <p:nvSpPr>
          <p:cNvPr id="5" name="Shape 3"/>
          <p:cNvSpPr/>
          <p:nvPr/>
        </p:nvSpPr>
        <p:spPr>
          <a:xfrm>
            <a:off x="548640" y="2194560"/>
            <a:ext cx="2011680" cy="658368"/>
          </a:xfrm>
          <a:prstGeom prst="roundRect">
            <a:avLst>
              <a:gd name="adj" fmla="val 13889"/>
            </a:avLst>
          </a:prstGeom>
          <a:solidFill>
            <a:srgbClr val="FFFFFF"/>
          </a:solidFill>
          <a:ln w="12700">
            <a:solidFill>
              <a:srgbClr val="111111"/>
            </a:solidFill>
            <a:prstDash val="solid"/>
          </a:ln>
        </p:spPr>
      </p:sp>
      <p:sp>
        <p:nvSpPr>
          <p:cNvPr id="6" name="Text 4"/>
          <p:cNvSpPr txBox="1"/>
          <p:nvPr/>
        </p:nvSpPr>
        <p:spPr>
          <a:xfrm>
            <a:off x="548640" y="2194560"/>
            <a:ext cx="2011680" cy="658368"/>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Questionnaire</a:t>
            </a:r>
            <a:endParaRPr lang="en-US" sz="1300" dirty="0"/>
          </a:p>
        </p:txBody>
      </p:sp>
      <p:sp>
        <p:nvSpPr>
          <p:cNvPr id="7" name="Text 5"/>
          <p:cNvSpPr txBox="1"/>
          <p:nvPr/>
        </p:nvSpPr>
        <p:spPr>
          <a:xfrm>
            <a:off x="2560320" y="2194560"/>
            <a:ext cx="274320" cy="274320"/>
          </a:xfrm>
          <a:prstGeom prst="rect">
            <a:avLst/>
          </a:prstGeom>
          <a:noFill/>
          <a:ln/>
        </p:spPr>
        <p:txBody>
          <a:bodyPr wrap="square" lIns="0" tIns="0" rIns="0" bIns="0" rtlCol="0" anchor="ctr"/>
          <a:lstStyle/>
          <a:p>
            <a:pPr algn="ctr" indent="0" marL="0">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2834640" y="2194560"/>
            <a:ext cx="2011680" cy="658368"/>
          </a:xfrm>
          <a:prstGeom prst="roundRect">
            <a:avLst>
              <a:gd name="adj" fmla="val 13889"/>
            </a:avLst>
          </a:prstGeom>
          <a:solidFill>
            <a:srgbClr val="FFFFFF"/>
          </a:solidFill>
          <a:ln w="12700">
            <a:solidFill>
              <a:srgbClr val="111111"/>
            </a:solidFill>
            <a:prstDash val="solid"/>
          </a:ln>
        </p:spPr>
      </p:sp>
      <p:sp>
        <p:nvSpPr>
          <p:cNvPr id="9" name="Text 7"/>
          <p:cNvSpPr txBox="1"/>
          <p:nvPr/>
        </p:nvSpPr>
        <p:spPr>
          <a:xfrm>
            <a:off x="2834640" y="2194560"/>
            <a:ext cx="2011680" cy="658368"/>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Footprint</a:t>
            </a:r>
            <a:endParaRPr lang="en-US" sz="1300" dirty="0"/>
          </a:p>
        </p:txBody>
      </p:sp>
      <p:sp>
        <p:nvSpPr>
          <p:cNvPr id="10" name="Text 8"/>
          <p:cNvSpPr txBox="1"/>
          <p:nvPr/>
        </p:nvSpPr>
        <p:spPr>
          <a:xfrm>
            <a:off x="4846320" y="2194560"/>
            <a:ext cx="274320" cy="274320"/>
          </a:xfrm>
          <a:prstGeom prst="rect">
            <a:avLst/>
          </a:prstGeom>
          <a:noFill/>
          <a:ln/>
        </p:spPr>
        <p:txBody>
          <a:bodyPr wrap="square" lIns="0" tIns="0" rIns="0" bIns="0" rtlCol="0" anchor="ctr"/>
          <a:lstStyle/>
          <a:p>
            <a:pPr algn="ctr" indent="0" marL="0">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5120640" y="2194560"/>
            <a:ext cx="2011680" cy="658368"/>
          </a:xfrm>
          <a:prstGeom prst="roundRect">
            <a:avLst>
              <a:gd name="adj" fmla="val 13889"/>
            </a:avLst>
          </a:prstGeom>
          <a:solidFill>
            <a:srgbClr val="EDEBE4"/>
          </a:solidFill>
          <a:ln w="12700">
            <a:solidFill>
              <a:srgbClr val="EDEBE4"/>
            </a:solidFill>
            <a:prstDash val="solid"/>
          </a:ln>
        </p:spPr>
      </p:sp>
      <p:sp>
        <p:nvSpPr>
          <p:cNvPr id="12" name="Text 10"/>
          <p:cNvSpPr txBox="1"/>
          <p:nvPr/>
        </p:nvSpPr>
        <p:spPr>
          <a:xfrm>
            <a:off x="5120640" y="2194560"/>
            <a:ext cx="2011680" cy="658368"/>
          </a:xfrm>
          <a:prstGeom prst="rect">
            <a:avLst/>
          </a:prstGeom>
          <a:noFill/>
          <a:ln/>
        </p:spPr>
        <p:txBody>
          <a:bodyPr wrap="square" lIns="0" tIns="0" rIns="0" bIns="0" rtlCol="0" anchor="ctr"/>
          <a:lstStyle/>
          <a:p>
            <a:pPr algn="ctr" indent="0" marL="0">
              <a:buNone/>
            </a:pPr>
            <a:r>
              <a:rPr lang="en-US" sz="1300" b="1" dirty="0">
                <a:solidFill>
                  <a:srgbClr val="8C8C86"/>
                </a:solidFill>
                <a:latin typeface="Arial" pitchFamily="34" charset="0"/>
                <a:ea typeface="Arial" pitchFamily="34" charset="-122"/>
                <a:cs typeface="Arial" pitchFamily="34" charset="-120"/>
              </a:rPr>
              <a:t>Done</a:t>
            </a:r>
            <a:endParaRPr lang="en-US" sz="1300" dirty="0"/>
          </a:p>
        </p:txBody>
      </p:sp>
      <p:sp>
        <p:nvSpPr>
          <p:cNvPr id="13" name="Shape 11"/>
          <p:cNvSpPr/>
          <p:nvPr/>
        </p:nvSpPr>
        <p:spPr>
          <a:xfrm>
            <a:off x="7498080" y="2523744"/>
            <a:ext cx="411480" cy="0"/>
          </a:xfrm>
          <a:prstGeom prst="line">
            <a:avLst/>
          </a:prstGeom>
          <a:noFill/>
          <a:ln w="25400">
            <a:solidFill>
              <a:srgbClr val="FF5A4E"/>
            </a:solidFill>
            <a:prstDash val="dash"/>
          </a:ln>
        </p:spPr>
      </p:sp>
      <p:sp>
        <p:nvSpPr>
          <p:cNvPr id="14" name="Text 12"/>
          <p:cNvSpPr txBox="1"/>
          <p:nvPr/>
        </p:nvSpPr>
        <p:spPr>
          <a:xfrm>
            <a:off x="7955280" y="2194560"/>
            <a:ext cx="2011680" cy="658368"/>
          </a:xfrm>
          <a:prstGeom prst="rect">
            <a:avLst/>
          </a:prstGeom>
          <a:noFill/>
          <a:ln/>
        </p:spPr>
        <p:txBody>
          <a:bodyPr wrap="square" lIns="0" tIns="0" rIns="0" bIns="0" rtlCol="0" anchor="ctr"/>
          <a:lstStyle/>
          <a:p>
            <a:pPr indent="0" marL="0">
              <a:buNone/>
            </a:pPr>
            <a:r>
              <a:rPr lang="en-US" sz="1300" b="1" dirty="0">
                <a:solidFill>
                  <a:srgbClr val="FF5A4E"/>
                </a:solidFill>
                <a:latin typeface="Arial" pitchFamily="34" charset="0"/>
                <a:ea typeface="Arial" pitchFamily="34" charset="-122"/>
                <a:cs typeface="Arial" pitchFamily="34" charset="-120"/>
              </a:rPr>
              <a:t>✕  dead end</a:t>
            </a:r>
            <a:endParaRPr lang="en-US" sz="1300" dirty="0"/>
          </a:p>
        </p:txBody>
      </p:sp>
      <p:sp>
        <p:nvSpPr>
          <p:cNvPr id="15" name="Shape 13"/>
          <p:cNvSpPr/>
          <p:nvPr/>
        </p:nvSpPr>
        <p:spPr>
          <a:xfrm>
            <a:off x="548640" y="3337560"/>
            <a:ext cx="11064240" cy="0"/>
          </a:xfrm>
          <a:prstGeom prst="line">
            <a:avLst/>
          </a:prstGeom>
          <a:noFill/>
          <a:ln w="12700">
            <a:solidFill>
              <a:srgbClr val="D8D5CC"/>
            </a:solidFill>
            <a:prstDash val="solid"/>
          </a:ln>
        </p:spPr>
      </p:sp>
      <p:sp>
        <p:nvSpPr>
          <p:cNvPr id="16" name="Text 14"/>
          <p:cNvSpPr txBox="1"/>
          <p:nvPr/>
        </p:nvSpPr>
        <p:spPr>
          <a:xfrm>
            <a:off x="548640" y="3520440"/>
            <a:ext cx="4572000" cy="274320"/>
          </a:xfrm>
          <a:prstGeom prst="rect">
            <a:avLst/>
          </a:prstGeom>
          <a:noFill/>
          <a:ln/>
        </p:spPr>
        <p:txBody>
          <a:bodyPr wrap="square" lIns="0" tIns="0" rIns="0" bIns="0" rtlCol="0" anchor="ctr"/>
          <a:lstStyle/>
          <a:p>
            <a:pPr indent="0" marL="0">
              <a:buNone/>
            </a:pPr>
            <a:r>
              <a:rPr lang="en-US" sz="1100" b="1" spc="200" kern="0" dirty="0">
                <a:solidFill>
                  <a:srgbClr val="111111"/>
                </a:solidFill>
                <a:latin typeface="Arial" pitchFamily="34" charset="0"/>
                <a:ea typeface="Arial" pitchFamily="34" charset="-122"/>
                <a:cs typeface="Arial" pitchFamily="34" charset="-120"/>
              </a:rPr>
              <a:t>OFFSET.IO</a:t>
            </a:r>
            <a:endParaRPr lang="en-US" sz="1100" dirty="0"/>
          </a:p>
        </p:txBody>
      </p:sp>
      <p:sp>
        <p:nvSpPr>
          <p:cNvPr id="17" name="Shape 15"/>
          <p:cNvSpPr/>
          <p:nvPr/>
        </p:nvSpPr>
        <p:spPr>
          <a:xfrm>
            <a:off x="548640" y="3886200"/>
            <a:ext cx="1965960" cy="713232"/>
          </a:xfrm>
          <a:prstGeom prst="roundRect">
            <a:avLst>
              <a:gd name="adj" fmla="val 12821"/>
            </a:avLst>
          </a:prstGeom>
          <a:solidFill>
            <a:srgbClr val="00BFD8"/>
          </a:solidFill>
          <a:ln w="12700">
            <a:solidFill>
              <a:srgbClr val="00BFD8"/>
            </a:solidFill>
            <a:prstDash val="solid"/>
          </a:ln>
        </p:spPr>
      </p:sp>
      <p:sp>
        <p:nvSpPr>
          <p:cNvPr id="18" name="Text 16"/>
          <p:cNvSpPr txBox="1"/>
          <p:nvPr/>
        </p:nvSpPr>
        <p:spPr>
          <a:xfrm>
            <a:off x="548640" y="3886200"/>
            <a:ext cx="19659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Measure</a:t>
            </a:r>
            <a:endParaRPr lang="en-US" sz="1300" dirty="0"/>
          </a:p>
        </p:txBody>
      </p:sp>
      <p:sp>
        <p:nvSpPr>
          <p:cNvPr id="19" name="Text 17"/>
          <p:cNvSpPr txBox="1"/>
          <p:nvPr/>
        </p:nvSpPr>
        <p:spPr>
          <a:xfrm>
            <a:off x="2514600" y="3886200"/>
            <a:ext cx="274320" cy="27432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2788920" y="3886200"/>
            <a:ext cx="1965960" cy="713232"/>
          </a:xfrm>
          <a:prstGeom prst="roundRect">
            <a:avLst>
              <a:gd name="adj" fmla="val 12821"/>
            </a:avLst>
          </a:prstGeom>
          <a:solidFill>
            <a:srgbClr val="1F6FEB"/>
          </a:solidFill>
          <a:ln w="12700">
            <a:solidFill>
              <a:srgbClr val="1F6FEB"/>
            </a:solidFill>
            <a:prstDash val="solid"/>
          </a:ln>
        </p:spPr>
      </p:sp>
      <p:sp>
        <p:nvSpPr>
          <p:cNvPr id="21" name="Text 19"/>
          <p:cNvSpPr txBox="1"/>
          <p:nvPr/>
        </p:nvSpPr>
        <p:spPr>
          <a:xfrm>
            <a:off x="2788920" y="3886200"/>
            <a:ext cx="19659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Understand</a:t>
            </a:r>
            <a:endParaRPr lang="en-US" sz="1300" dirty="0"/>
          </a:p>
        </p:txBody>
      </p:sp>
      <p:sp>
        <p:nvSpPr>
          <p:cNvPr id="22" name="Text 20"/>
          <p:cNvSpPr txBox="1"/>
          <p:nvPr/>
        </p:nvSpPr>
        <p:spPr>
          <a:xfrm>
            <a:off x="4754880" y="3886200"/>
            <a:ext cx="274320" cy="27432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a:t>
            </a:r>
            <a:endParaRPr lang="en-US" sz="1600" dirty="0"/>
          </a:p>
        </p:txBody>
      </p:sp>
      <p:sp>
        <p:nvSpPr>
          <p:cNvPr id="23" name="Shape 21"/>
          <p:cNvSpPr/>
          <p:nvPr/>
        </p:nvSpPr>
        <p:spPr>
          <a:xfrm>
            <a:off x="5029200" y="3886200"/>
            <a:ext cx="1965960" cy="713232"/>
          </a:xfrm>
          <a:prstGeom prst="roundRect">
            <a:avLst>
              <a:gd name="adj" fmla="val 12821"/>
            </a:avLst>
          </a:prstGeom>
          <a:solidFill>
            <a:srgbClr val="7B5CFF"/>
          </a:solidFill>
          <a:ln w="12700">
            <a:solidFill>
              <a:srgbClr val="7B5CFF"/>
            </a:solidFill>
            <a:prstDash val="solid"/>
          </a:ln>
        </p:spPr>
      </p:sp>
      <p:sp>
        <p:nvSpPr>
          <p:cNvPr id="24" name="Text 22"/>
          <p:cNvSpPr txBox="1"/>
          <p:nvPr/>
        </p:nvSpPr>
        <p:spPr>
          <a:xfrm>
            <a:off x="5029200" y="3886200"/>
            <a:ext cx="19659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Simulate</a:t>
            </a:r>
            <a:endParaRPr lang="en-US" sz="1300" dirty="0"/>
          </a:p>
        </p:txBody>
      </p:sp>
      <p:sp>
        <p:nvSpPr>
          <p:cNvPr id="25" name="Text 23"/>
          <p:cNvSpPr txBox="1"/>
          <p:nvPr/>
        </p:nvSpPr>
        <p:spPr>
          <a:xfrm>
            <a:off x="6995160" y="3886200"/>
            <a:ext cx="274320" cy="27432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7269480" y="3886200"/>
            <a:ext cx="1965960" cy="713232"/>
          </a:xfrm>
          <a:prstGeom prst="roundRect">
            <a:avLst>
              <a:gd name="adj" fmla="val 12821"/>
            </a:avLst>
          </a:prstGeom>
          <a:solidFill>
            <a:srgbClr val="FFC93C"/>
          </a:solidFill>
          <a:ln w="12700">
            <a:solidFill>
              <a:srgbClr val="FFC93C"/>
            </a:solidFill>
            <a:prstDash val="solid"/>
          </a:ln>
        </p:spPr>
      </p:sp>
      <p:sp>
        <p:nvSpPr>
          <p:cNvPr id="27" name="Text 25"/>
          <p:cNvSpPr txBox="1"/>
          <p:nvPr/>
        </p:nvSpPr>
        <p:spPr>
          <a:xfrm>
            <a:off x="7269480" y="3886200"/>
            <a:ext cx="1965960" cy="713232"/>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Optimize</a:t>
            </a:r>
            <a:endParaRPr lang="en-US" sz="1300" dirty="0"/>
          </a:p>
        </p:txBody>
      </p:sp>
      <p:sp>
        <p:nvSpPr>
          <p:cNvPr id="28" name="Text 26"/>
          <p:cNvSpPr txBox="1"/>
          <p:nvPr/>
        </p:nvSpPr>
        <p:spPr>
          <a:xfrm>
            <a:off x="9235440" y="3886200"/>
            <a:ext cx="274320" cy="27432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9509760" y="3886200"/>
            <a:ext cx="1965960" cy="713232"/>
          </a:xfrm>
          <a:prstGeom prst="roundRect">
            <a:avLst>
              <a:gd name="adj" fmla="val 12821"/>
            </a:avLst>
          </a:prstGeom>
          <a:solidFill>
            <a:srgbClr val="FF5A4E"/>
          </a:solidFill>
          <a:ln w="12700">
            <a:solidFill>
              <a:srgbClr val="FF5A4E"/>
            </a:solidFill>
            <a:prstDash val="solid"/>
          </a:ln>
        </p:spPr>
      </p:sp>
      <p:sp>
        <p:nvSpPr>
          <p:cNvPr id="30" name="Text 28"/>
          <p:cNvSpPr txBox="1"/>
          <p:nvPr/>
        </p:nvSpPr>
        <p:spPr>
          <a:xfrm>
            <a:off x="9509760" y="3886200"/>
            <a:ext cx="1965960" cy="71323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Track</a:t>
            </a:r>
            <a:endParaRPr lang="en-US" sz="1300" dirty="0"/>
          </a:p>
        </p:txBody>
      </p:sp>
      <p:sp>
        <p:nvSpPr>
          <p:cNvPr id="31" name="Shape 29"/>
          <p:cNvSpPr/>
          <p:nvPr/>
        </p:nvSpPr>
        <p:spPr>
          <a:xfrm>
            <a:off x="1554480" y="4800600"/>
            <a:ext cx="9189720" cy="0"/>
          </a:xfrm>
          <a:prstGeom prst="line">
            <a:avLst/>
          </a:prstGeom>
          <a:noFill/>
          <a:ln w="19050">
            <a:solidFill>
              <a:srgbClr val="111111"/>
            </a:solidFill>
            <a:prstDash val="dash"/>
          </a:ln>
        </p:spPr>
      </p:sp>
      <p:sp>
        <p:nvSpPr>
          <p:cNvPr id="32" name="Shape 30"/>
          <p:cNvSpPr/>
          <p:nvPr/>
        </p:nvSpPr>
        <p:spPr>
          <a:xfrm>
            <a:off x="1554480" y="4800600"/>
            <a:ext cx="0" cy="-201168"/>
          </a:xfrm>
          <a:prstGeom prst="line">
            <a:avLst/>
          </a:prstGeom>
          <a:noFill/>
          <a:ln w="19050">
            <a:solidFill>
              <a:srgbClr val="111111"/>
            </a:solidFill>
            <a:prstDash val="dash"/>
          </a:ln>
        </p:spPr>
      </p:sp>
      <p:sp>
        <p:nvSpPr>
          <p:cNvPr id="33" name="Text 31"/>
          <p:cNvSpPr txBox="1"/>
          <p:nvPr/>
        </p:nvSpPr>
        <p:spPr>
          <a:xfrm>
            <a:off x="1737360" y="4846320"/>
            <a:ext cx="4572000" cy="274320"/>
          </a:xfrm>
          <a:prstGeom prst="rect">
            <a:avLst/>
          </a:prstGeom>
          <a:noFill/>
          <a:ln/>
        </p:spPr>
        <p:txBody>
          <a:bodyPr wrap="square" lIns="0" tIns="0" rIns="0" bIns="0" rtlCol="0" anchor="ctr"/>
          <a:lstStyle/>
          <a:p>
            <a:pPr indent="0" marL="0">
              <a:buNone/>
            </a:pPr>
            <a:r>
              <a:rPr lang="en-US" sz="1100" b="1" dirty="0">
                <a:solidFill>
                  <a:srgbClr val="111111"/>
                </a:solidFill>
                <a:latin typeface="Arial" pitchFamily="34" charset="0"/>
                <a:ea typeface="Arial" pitchFamily="34" charset="-122"/>
                <a:cs typeface="Arial" pitchFamily="34" charset="-120"/>
              </a:rPr>
              <a:t>↑  new data feeds the next cycle</a:t>
            </a:r>
            <a:endParaRPr lang="en-US" sz="1100" dirty="0"/>
          </a:p>
        </p:txBody>
      </p:sp>
      <p:sp>
        <p:nvSpPr>
          <p:cNvPr id="34" name="Shape 32"/>
          <p:cNvSpPr/>
          <p:nvPr/>
        </p:nvSpPr>
        <p:spPr>
          <a:xfrm>
            <a:off x="548640" y="5349240"/>
            <a:ext cx="11064240" cy="868680"/>
          </a:xfrm>
          <a:prstGeom prst="roundRect">
            <a:avLst>
              <a:gd name="adj" fmla="val 6316"/>
            </a:avLst>
          </a:prstGeom>
          <a:solidFill>
            <a:srgbClr val="EDEBE4"/>
          </a:solidFill>
          <a:ln w="12700">
            <a:solidFill>
              <a:srgbClr val="111111"/>
            </a:solidFill>
            <a:prstDash val="solid"/>
          </a:ln>
        </p:spPr>
      </p:sp>
      <p:sp>
        <p:nvSpPr>
          <p:cNvPr id="35" name="Text 33"/>
          <p:cNvSpPr txBox="1"/>
          <p:nvPr/>
        </p:nvSpPr>
        <p:spPr>
          <a:xfrm>
            <a:off x="914400" y="5349240"/>
            <a:ext cx="10332720" cy="868680"/>
          </a:xfrm>
          <a:prstGeom prst="rect">
            <a:avLst/>
          </a:prstGeom>
          <a:noFill/>
          <a:ln/>
        </p:spPr>
        <p:txBody>
          <a:bodyPr wrap="square" lIns="0" tIns="0" rIns="0" bIns="0" rtlCol="0" anchor="ctr"/>
          <a:lstStyle/>
          <a:p>
            <a:pPr indent="0" marL="0">
              <a:buNone/>
            </a:pPr>
            <a:r>
              <a:rPr lang="en-US" sz="1700" b="1" dirty="0">
                <a:solidFill>
                  <a:srgbClr val="111111"/>
                </a:solidFill>
                <a:latin typeface="Arial" pitchFamily="34" charset="0"/>
                <a:ea typeface="Arial" pitchFamily="34" charset="-122"/>
                <a:cs typeface="Arial" pitchFamily="34" charset="-120"/>
              </a:rPr>
              <a:t>offset.io turns carbon measurement into an ongoing decision-support system, not a one-time score.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111111"/>
                </a:solidFill>
                <a:latin typeface="Arial" pitchFamily="34" charset="0"/>
                <a:ea typeface="Arial" pitchFamily="34" charset="-122"/>
                <a:cs typeface="Arial" pitchFamily="34" charset="-120"/>
              </a:rPr>
              <a:t>offset.io</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indent="0" marL="0">
              <a:buNone/>
            </a:pPr>
            <a:r>
              <a:rPr lang="en-US" sz="1400" dirty="0">
                <a:solidFill>
                  <a:srgbClr val="8C8C86"/>
                </a:solidFill>
                <a:latin typeface="Arial" pitchFamily="34" charset="0"/>
                <a:ea typeface="Arial" pitchFamily="34" charset="-122"/>
                <a:cs typeface="Arial" pitchFamily="34" charset="-120"/>
              </a:rPr>
              <a:t>One product, built around the loop.</a:t>
            </a:r>
            <a:endParaRPr lang="en-US" sz="1400" dirty="0"/>
          </a:p>
        </p:txBody>
      </p:sp>
      <p:sp>
        <p:nvSpPr>
          <p:cNvPr id="4" name="Shape 2"/>
          <p:cNvSpPr/>
          <p:nvPr/>
        </p:nvSpPr>
        <p:spPr>
          <a:xfrm>
            <a:off x="548640" y="1691640"/>
            <a:ext cx="3474720" cy="4160520"/>
          </a:xfrm>
          <a:prstGeom prst="roundRect">
            <a:avLst>
              <a:gd name="adj" fmla="val 1579"/>
            </a:avLst>
          </a:prstGeom>
          <a:solidFill>
            <a:srgbClr val="FFFFFF"/>
          </a:solidFill>
          <a:ln w="12700">
            <a:solidFill>
              <a:srgbClr val="111111"/>
            </a:solidFill>
            <a:prstDash val="solid"/>
          </a:ln>
        </p:spPr>
      </p:sp>
      <p:sp>
        <p:nvSpPr>
          <p:cNvPr id="5" name="Shape 3"/>
          <p:cNvSpPr/>
          <p:nvPr/>
        </p:nvSpPr>
        <p:spPr>
          <a:xfrm>
            <a:off x="548640" y="1691640"/>
            <a:ext cx="3474720" cy="457200"/>
          </a:xfrm>
          <a:prstGeom prst="roundRect">
            <a:avLst>
              <a:gd name="adj" fmla="val 12000"/>
            </a:avLst>
          </a:prstGeom>
          <a:solidFill>
            <a:srgbClr val="00BFD8"/>
          </a:solidFill>
          <a:ln w="12700">
            <a:solidFill>
              <a:srgbClr val="00BFD8"/>
            </a:solidFill>
            <a:prstDash val="solid"/>
          </a:ln>
        </p:spPr>
      </p:sp>
      <p:sp>
        <p:nvSpPr>
          <p:cNvPr id="6" name="Text 4"/>
          <p:cNvSpPr txBox="1"/>
          <p:nvPr/>
        </p:nvSpPr>
        <p:spPr>
          <a:xfrm>
            <a:off x="804672" y="1691640"/>
            <a:ext cx="3017520" cy="457200"/>
          </a:xfrm>
          <a:prstGeom prst="rect">
            <a:avLst/>
          </a:prstGeom>
          <a:noFill/>
          <a:ln/>
        </p:spPr>
        <p:txBody>
          <a:bodyPr wrap="square" lIns="0" tIns="0" rIns="0" bIns="0" rtlCol="0" anchor="ctr"/>
          <a:lstStyle/>
          <a:p>
            <a:pPr indent="0" marL="0">
              <a:buNone/>
            </a:pPr>
            <a:r>
              <a:rPr lang="en-US" sz="1000" b="1" spc="100" kern="0" dirty="0">
                <a:solidFill>
                  <a:srgbClr val="0B0B0B"/>
                </a:solidFill>
                <a:latin typeface="Arial" pitchFamily="34" charset="0"/>
                <a:ea typeface="Arial" pitchFamily="34" charset="-122"/>
                <a:cs typeface="Arial" pitchFamily="34" charset="-120"/>
              </a:rPr>
              <a:t>01 · MEASURE &amp; UNDERSTAND</a:t>
            </a:r>
            <a:endParaRPr lang="en-US" sz="1000" dirty="0"/>
          </a:p>
        </p:txBody>
      </p:sp>
      <p:sp>
        <p:nvSpPr>
          <p:cNvPr id="7" name="Text 5"/>
          <p:cNvSpPr txBox="1"/>
          <p:nvPr/>
        </p:nvSpPr>
        <p:spPr>
          <a:xfrm>
            <a:off x="804672" y="2331720"/>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Activity-based calculation</a:t>
            </a:r>
            <a:endParaRPr lang="en-US" sz="1300" dirty="0"/>
          </a:p>
        </p:txBody>
      </p:sp>
      <p:sp>
        <p:nvSpPr>
          <p:cNvPr id="8" name="Text 6"/>
          <p:cNvSpPr txBox="1"/>
          <p:nvPr/>
        </p:nvSpPr>
        <p:spPr>
          <a:xfrm>
            <a:off x="804672" y="2606040"/>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Persistent travel, energy, diet and waste activities</a:t>
            </a:r>
            <a:endParaRPr lang="en-US" sz="1000" dirty="0"/>
          </a:p>
        </p:txBody>
      </p:sp>
      <p:sp>
        <p:nvSpPr>
          <p:cNvPr id="9" name="Text 7"/>
          <p:cNvSpPr txBox="1"/>
          <p:nvPr/>
        </p:nvSpPr>
        <p:spPr>
          <a:xfrm>
            <a:off x="804672" y="3191256"/>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Transparent emission factors</a:t>
            </a:r>
            <a:endParaRPr lang="en-US" sz="1300" dirty="0"/>
          </a:p>
        </p:txBody>
      </p:sp>
      <p:sp>
        <p:nvSpPr>
          <p:cNvPr id="10" name="Text 8"/>
          <p:cNvSpPr txBox="1"/>
          <p:nvPr/>
        </p:nvSpPr>
        <p:spPr>
          <a:xfrm>
            <a:off x="804672" y="3465576"/>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Region-aware lookup with source attribution</a:t>
            </a:r>
            <a:endParaRPr lang="en-US" sz="1000" dirty="0"/>
          </a:p>
        </p:txBody>
      </p:sp>
      <p:sp>
        <p:nvSpPr>
          <p:cNvPr id="11" name="Text 9"/>
          <p:cNvSpPr txBox="1"/>
          <p:nvPr/>
        </p:nvSpPr>
        <p:spPr>
          <a:xfrm>
            <a:off x="804672" y="4050792"/>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Uncertainty &amp; confidence</a:t>
            </a:r>
            <a:endParaRPr lang="en-US" sz="1300" dirty="0"/>
          </a:p>
        </p:txBody>
      </p:sp>
      <p:sp>
        <p:nvSpPr>
          <p:cNvPr id="12" name="Text 10"/>
          <p:cNvSpPr txBox="1"/>
          <p:nvPr/>
        </p:nvSpPr>
        <p:spPr>
          <a:xfrm>
            <a:off x="804672" y="4325112"/>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Weighted score plus a likely min–max range</a:t>
            </a:r>
            <a:endParaRPr lang="en-US" sz="1000" dirty="0"/>
          </a:p>
        </p:txBody>
      </p:sp>
      <p:sp>
        <p:nvSpPr>
          <p:cNvPr id="13" name="Shape 11"/>
          <p:cNvSpPr/>
          <p:nvPr/>
        </p:nvSpPr>
        <p:spPr>
          <a:xfrm>
            <a:off x="4261104" y="1691640"/>
            <a:ext cx="3474720" cy="4160520"/>
          </a:xfrm>
          <a:prstGeom prst="roundRect">
            <a:avLst>
              <a:gd name="adj" fmla="val 1579"/>
            </a:avLst>
          </a:prstGeom>
          <a:solidFill>
            <a:srgbClr val="FFFFFF"/>
          </a:solidFill>
          <a:ln w="12700">
            <a:solidFill>
              <a:srgbClr val="111111"/>
            </a:solidFill>
            <a:prstDash val="solid"/>
          </a:ln>
        </p:spPr>
      </p:sp>
      <p:sp>
        <p:nvSpPr>
          <p:cNvPr id="14" name="Shape 12"/>
          <p:cNvSpPr/>
          <p:nvPr/>
        </p:nvSpPr>
        <p:spPr>
          <a:xfrm>
            <a:off x="4261104" y="1691640"/>
            <a:ext cx="3474720" cy="457200"/>
          </a:xfrm>
          <a:prstGeom prst="roundRect">
            <a:avLst>
              <a:gd name="adj" fmla="val 12000"/>
            </a:avLst>
          </a:prstGeom>
          <a:solidFill>
            <a:srgbClr val="7B5CFF"/>
          </a:solidFill>
          <a:ln w="12700">
            <a:solidFill>
              <a:srgbClr val="7B5CFF"/>
            </a:solidFill>
            <a:prstDash val="solid"/>
          </a:ln>
        </p:spPr>
      </p:sp>
      <p:sp>
        <p:nvSpPr>
          <p:cNvPr id="15" name="Text 13"/>
          <p:cNvSpPr txBox="1"/>
          <p:nvPr/>
        </p:nvSpPr>
        <p:spPr>
          <a:xfrm>
            <a:off x="4517136" y="1691640"/>
            <a:ext cx="3017520" cy="45720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02 · SIMULATE &amp; DECIDE</a:t>
            </a:r>
            <a:endParaRPr lang="en-US" sz="1000" dirty="0"/>
          </a:p>
        </p:txBody>
      </p:sp>
      <p:sp>
        <p:nvSpPr>
          <p:cNvPr id="16" name="Text 14"/>
          <p:cNvSpPr txBox="1"/>
          <p:nvPr/>
        </p:nvSpPr>
        <p:spPr>
          <a:xfrm>
            <a:off x="4517136" y="2331720"/>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What-If simulator</a:t>
            </a:r>
            <a:endParaRPr lang="en-US" sz="1300" dirty="0"/>
          </a:p>
        </p:txBody>
      </p:sp>
      <p:sp>
        <p:nvSpPr>
          <p:cNvPr id="17" name="Text 15"/>
          <p:cNvSpPr txBox="1"/>
          <p:nvPr/>
        </p:nvSpPr>
        <p:spPr>
          <a:xfrm>
            <a:off x="4517136" y="2606040"/>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Re-calculate a hypothetical lifestyle without touching your baseline</a:t>
            </a:r>
            <a:endParaRPr lang="en-US" sz="1000" dirty="0"/>
          </a:p>
        </p:txBody>
      </p:sp>
      <p:sp>
        <p:nvSpPr>
          <p:cNvPr id="18" name="Text 16"/>
          <p:cNvSpPr txBox="1"/>
          <p:nvPr/>
        </p:nvSpPr>
        <p:spPr>
          <a:xfrm>
            <a:off x="4517136" y="3191256"/>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Scenario manager</a:t>
            </a:r>
            <a:endParaRPr lang="en-US" sz="1300" dirty="0"/>
          </a:p>
        </p:txBody>
      </p:sp>
      <p:sp>
        <p:nvSpPr>
          <p:cNvPr id="19" name="Text 17"/>
          <p:cNvSpPr txBox="1"/>
          <p:nvPr/>
        </p:nvSpPr>
        <p:spPr>
          <a:xfrm>
            <a:off x="4517136" y="3465576"/>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Save, edit and compare alternative lifestyles</a:t>
            </a:r>
            <a:endParaRPr lang="en-US" sz="1000" dirty="0"/>
          </a:p>
        </p:txBody>
      </p:sp>
      <p:sp>
        <p:nvSpPr>
          <p:cNvPr id="20" name="Text 18"/>
          <p:cNvSpPr txBox="1"/>
          <p:nvPr/>
        </p:nvSpPr>
        <p:spPr>
          <a:xfrm>
            <a:off x="4517136" y="4050792"/>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Recommendations</a:t>
            </a:r>
            <a:endParaRPr lang="en-US" sz="1300" dirty="0"/>
          </a:p>
        </p:txBody>
      </p:sp>
      <p:sp>
        <p:nvSpPr>
          <p:cNvPr id="21" name="Text 19"/>
          <p:cNvSpPr txBox="1"/>
          <p:nvPr/>
        </p:nvSpPr>
        <p:spPr>
          <a:xfrm>
            <a:off x="4517136" y="4325112"/>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Seven deterministic rules matched to your own footprint</a:t>
            </a:r>
            <a:endParaRPr lang="en-US" sz="1000" dirty="0"/>
          </a:p>
        </p:txBody>
      </p:sp>
      <p:sp>
        <p:nvSpPr>
          <p:cNvPr id="22" name="Text 20"/>
          <p:cNvSpPr txBox="1"/>
          <p:nvPr/>
        </p:nvSpPr>
        <p:spPr>
          <a:xfrm>
            <a:off x="4517136" y="4910328"/>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Reduction plan optimizer</a:t>
            </a:r>
            <a:endParaRPr lang="en-US" sz="1300" dirty="0"/>
          </a:p>
        </p:txBody>
      </p:sp>
      <p:sp>
        <p:nvSpPr>
          <p:cNvPr id="23" name="Text 21"/>
          <p:cNvSpPr txBox="1"/>
          <p:nvPr/>
        </p:nvSpPr>
        <p:spPr>
          <a:xfrm>
            <a:off x="4517136" y="5184648"/>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Best CO₂e saved per unit of spend, within a budget</a:t>
            </a:r>
            <a:endParaRPr lang="en-US" sz="1000" dirty="0"/>
          </a:p>
        </p:txBody>
      </p:sp>
      <p:sp>
        <p:nvSpPr>
          <p:cNvPr id="24" name="Shape 22"/>
          <p:cNvSpPr/>
          <p:nvPr/>
        </p:nvSpPr>
        <p:spPr>
          <a:xfrm>
            <a:off x="7973568" y="1691640"/>
            <a:ext cx="3474720" cy="4160520"/>
          </a:xfrm>
          <a:prstGeom prst="roundRect">
            <a:avLst>
              <a:gd name="adj" fmla="val 1579"/>
            </a:avLst>
          </a:prstGeom>
          <a:solidFill>
            <a:srgbClr val="FFFFFF"/>
          </a:solidFill>
          <a:ln w="12700">
            <a:solidFill>
              <a:srgbClr val="111111"/>
            </a:solidFill>
            <a:prstDash val="solid"/>
          </a:ln>
        </p:spPr>
      </p:sp>
      <p:sp>
        <p:nvSpPr>
          <p:cNvPr id="25" name="Shape 23"/>
          <p:cNvSpPr/>
          <p:nvPr/>
        </p:nvSpPr>
        <p:spPr>
          <a:xfrm>
            <a:off x="7973568" y="1691640"/>
            <a:ext cx="3474720" cy="457200"/>
          </a:xfrm>
          <a:prstGeom prst="roundRect">
            <a:avLst>
              <a:gd name="adj" fmla="val 12000"/>
            </a:avLst>
          </a:prstGeom>
          <a:solidFill>
            <a:srgbClr val="FF5A4E"/>
          </a:solidFill>
          <a:ln w="12700">
            <a:solidFill>
              <a:srgbClr val="FF5A4E"/>
            </a:solidFill>
            <a:prstDash val="solid"/>
          </a:ln>
        </p:spPr>
      </p:sp>
      <p:sp>
        <p:nvSpPr>
          <p:cNvPr id="26" name="Text 24"/>
          <p:cNvSpPr txBox="1"/>
          <p:nvPr/>
        </p:nvSpPr>
        <p:spPr>
          <a:xfrm>
            <a:off x="8229600" y="1691640"/>
            <a:ext cx="3017520" cy="45720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03 · TRACK &amp; IMPROVE</a:t>
            </a:r>
            <a:endParaRPr lang="en-US" sz="1000" dirty="0"/>
          </a:p>
        </p:txBody>
      </p:sp>
      <p:sp>
        <p:nvSpPr>
          <p:cNvPr id="27" name="Text 25"/>
          <p:cNvSpPr txBox="1"/>
          <p:nvPr/>
        </p:nvSpPr>
        <p:spPr>
          <a:xfrm>
            <a:off x="8229600" y="2331720"/>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Carbon diary</a:t>
            </a:r>
            <a:endParaRPr lang="en-US" sz="1300" dirty="0"/>
          </a:p>
        </p:txBody>
      </p:sp>
      <p:sp>
        <p:nvSpPr>
          <p:cNvPr id="28" name="Text 26"/>
          <p:cNvSpPr txBox="1"/>
          <p:nvPr/>
        </p:nvSpPr>
        <p:spPr>
          <a:xfrm>
            <a:off x="8229600" y="2606040"/>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Daily logging with a live estimate before you save</a:t>
            </a:r>
            <a:endParaRPr lang="en-US" sz="1000" dirty="0"/>
          </a:p>
        </p:txBody>
      </p:sp>
      <p:sp>
        <p:nvSpPr>
          <p:cNvPr id="29" name="Text 27"/>
          <p:cNvSpPr txBox="1"/>
          <p:nvPr/>
        </p:nvSpPr>
        <p:spPr>
          <a:xfrm>
            <a:off x="8229600" y="3191256"/>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Anomaly detection</a:t>
            </a:r>
            <a:endParaRPr lang="en-US" sz="1300" dirty="0"/>
          </a:p>
        </p:txBody>
      </p:sp>
      <p:sp>
        <p:nvSpPr>
          <p:cNvPr id="30" name="Text 28"/>
          <p:cNvSpPr txBox="1"/>
          <p:nvPr/>
        </p:nvSpPr>
        <p:spPr>
          <a:xfrm>
            <a:off x="8229600" y="3465576"/>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Flags unusual emission spikes statistically</a:t>
            </a:r>
            <a:endParaRPr lang="en-US" sz="1000" dirty="0"/>
          </a:p>
        </p:txBody>
      </p:sp>
      <p:sp>
        <p:nvSpPr>
          <p:cNvPr id="31" name="Text 29"/>
          <p:cNvSpPr txBox="1"/>
          <p:nvPr/>
        </p:nvSpPr>
        <p:spPr>
          <a:xfrm>
            <a:off x="8229600" y="4050792"/>
            <a:ext cx="2971800" cy="2743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Carbon Coach</a:t>
            </a:r>
            <a:endParaRPr lang="en-US" sz="1300" dirty="0"/>
          </a:p>
        </p:txBody>
      </p:sp>
      <p:sp>
        <p:nvSpPr>
          <p:cNvPr id="32" name="Text 30"/>
          <p:cNvSpPr txBox="1"/>
          <p:nvPr/>
        </p:nvSpPr>
        <p:spPr>
          <a:xfrm>
            <a:off x="8229600" y="4325112"/>
            <a:ext cx="2971800" cy="502920"/>
          </a:xfrm>
          <a:prstGeom prst="rect">
            <a:avLst/>
          </a:prstGeom>
          <a:noFill/>
          <a:ln/>
        </p:spPr>
        <p:txBody>
          <a:bodyPr wrap="square" lIns="0" tIns="0" rIns="0" bIns="0" rtlCol="0" anchor="ctr"/>
          <a:lstStyle/>
          <a:p>
            <a:pPr indent="0" marL="0">
              <a:lnSpc>
                <a:spcPts val="1200"/>
              </a:lnSpc>
              <a:buNone/>
            </a:pPr>
            <a:r>
              <a:rPr lang="en-US" sz="1000" dirty="0">
                <a:solidFill>
                  <a:srgbClr val="8C8C86"/>
                </a:solidFill>
                <a:latin typeface="Arial" pitchFamily="34" charset="0"/>
                <a:ea typeface="Arial" pitchFamily="34" charset="-122"/>
                <a:cs typeface="Arial" pitchFamily="34" charset="-120"/>
              </a:rPr>
              <a:t>Answers questions using your real footprint numbers</a:t>
            </a:r>
            <a:endParaRPr lang="en-US" sz="1000" dirty="0"/>
          </a:p>
        </p:txBody>
      </p:sp>
      <p:sp>
        <p:nvSpPr>
          <p:cNvPr id="33" name="Text 31"/>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200" dirty="0">
                <a:solidFill>
                  <a:srgbClr val="8C8C86"/>
                </a:solidFill>
                <a:latin typeface="Arial" pitchFamily="34" charset="0"/>
                <a:ea typeface="Arial" pitchFamily="34" charset="-122"/>
                <a:cs typeface="Arial" pitchFamily="34" charset="-120"/>
              </a:rPr>
              <a:t>Every capability runs on the same stored activity data — so a change in one place is reflected everywhere.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111111"/>
                </a:solidFill>
                <a:latin typeface="Arial" pitchFamily="34" charset="0"/>
                <a:ea typeface="Arial" pitchFamily="34" charset="-122"/>
                <a:cs typeface="Arial" pitchFamily="34" charset="-120"/>
              </a:rPr>
              <a:t>How it works</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indent="0" marL="0">
              <a:buNone/>
            </a:pPr>
            <a:r>
              <a:rPr lang="en-US" sz="1400" dirty="0">
                <a:solidFill>
                  <a:srgbClr val="8C8C86"/>
                </a:solidFill>
                <a:latin typeface="Arial" pitchFamily="34" charset="0"/>
                <a:ea typeface="Arial" pitchFamily="34" charset="-122"/>
                <a:cs typeface="Arial" pitchFamily="34" charset="-120"/>
              </a:rPr>
              <a:t>From a raw activity to a tracked reduction plan.</a:t>
            </a:r>
            <a:endParaRPr lang="en-US" sz="1400" dirty="0"/>
          </a:p>
        </p:txBody>
      </p:sp>
      <p:sp>
        <p:nvSpPr>
          <p:cNvPr id="4" name="Shape 2"/>
          <p:cNvSpPr/>
          <p:nvPr/>
        </p:nvSpPr>
        <p:spPr>
          <a:xfrm>
            <a:off x="548640" y="1691640"/>
            <a:ext cx="5029200" cy="457200"/>
          </a:xfrm>
          <a:prstGeom prst="roundRect">
            <a:avLst>
              <a:gd name="adj" fmla="val 16000"/>
            </a:avLst>
          </a:prstGeom>
          <a:solidFill>
            <a:srgbClr val="FFFFFF"/>
          </a:solidFill>
          <a:ln w="12700">
            <a:solidFill>
              <a:srgbClr val="111111"/>
            </a:solidFill>
            <a:prstDash val="solid"/>
          </a:ln>
        </p:spPr>
      </p:sp>
      <p:sp>
        <p:nvSpPr>
          <p:cNvPr id="5" name="Shape 3"/>
          <p:cNvSpPr/>
          <p:nvPr/>
        </p:nvSpPr>
        <p:spPr>
          <a:xfrm>
            <a:off x="777240" y="1828800"/>
            <a:ext cx="182880" cy="182880"/>
          </a:xfrm>
          <a:prstGeom prst="ellipse">
            <a:avLst/>
          </a:prstGeom>
          <a:solidFill>
            <a:srgbClr val="00BFD8"/>
          </a:solidFill>
          <a:ln w="12700">
            <a:solidFill>
              <a:srgbClr val="00BFD8"/>
            </a:solidFill>
            <a:prstDash val="solid"/>
          </a:ln>
        </p:spPr>
      </p:sp>
      <p:sp>
        <p:nvSpPr>
          <p:cNvPr id="6" name="Text 4"/>
          <p:cNvSpPr txBox="1"/>
          <p:nvPr/>
        </p:nvSpPr>
        <p:spPr>
          <a:xfrm>
            <a:off x="1097280" y="1691640"/>
            <a:ext cx="4297680" cy="4572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User activities</a:t>
            </a:r>
            <a:endParaRPr lang="en-US" sz="1300" dirty="0"/>
          </a:p>
        </p:txBody>
      </p:sp>
      <p:sp>
        <p:nvSpPr>
          <p:cNvPr id="7" name="Text 5"/>
          <p:cNvSpPr txBox="1"/>
          <p:nvPr/>
        </p:nvSpPr>
        <p:spPr>
          <a:xfrm>
            <a:off x="868680" y="2130552"/>
            <a:ext cx="274320" cy="155448"/>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8" name="Shape 6"/>
          <p:cNvSpPr/>
          <p:nvPr/>
        </p:nvSpPr>
        <p:spPr>
          <a:xfrm>
            <a:off x="548640" y="2267712"/>
            <a:ext cx="5029200" cy="457200"/>
          </a:xfrm>
          <a:prstGeom prst="roundRect">
            <a:avLst>
              <a:gd name="adj" fmla="val 16000"/>
            </a:avLst>
          </a:prstGeom>
          <a:solidFill>
            <a:srgbClr val="FFFFFF"/>
          </a:solidFill>
          <a:ln w="12700">
            <a:solidFill>
              <a:srgbClr val="111111"/>
            </a:solidFill>
            <a:prstDash val="solid"/>
          </a:ln>
        </p:spPr>
      </p:sp>
      <p:sp>
        <p:nvSpPr>
          <p:cNvPr id="9" name="Shape 7"/>
          <p:cNvSpPr/>
          <p:nvPr/>
        </p:nvSpPr>
        <p:spPr>
          <a:xfrm>
            <a:off x="777240" y="2404872"/>
            <a:ext cx="182880" cy="182880"/>
          </a:xfrm>
          <a:prstGeom prst="ellipse">
            <a:avLst/>
          </a:prstGeom>
          <a:solidFill>
            <a:srgbClr val="00BFD8"/>
          </a:solidFill>
          <a:ln w="12700">
            <a:solidFill>
              <a:srgbClr val="00BFD8"/>
            </a:solidFill>
            <a:prstDash val="solid"/>
          </a:ln>
        </p:spPr>
      </p:sp>
      <p:sp>
        <p:nvSpPr>
          <p:cNvPr id="10" name="Text 8"/>
          <p:cNvSpPr txBox="1"/>
          <p:nvPr/>
        </p:nvSpPr>
        <p:spPr>
          <a:xfrm>
            <a:off x="1097280" y="2267712"/>
            <a:ext cx="4297680" cy="4572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Emission factor database</a:t>
            </a:r>
            <a:endParaRPr lang="en-US" sz="1300" dirty="0"/>
          </a:p>
        </p:txBody>
      </p:sp>
      <p:sp>
        <p:nvSpPr>
          <p:cNvPr id="11" name="Text 9"/>
          <p:cNvSpPr txBox="1"/>
          <p:nvPr/>
        </p:nvSpPr>
        <p:spPr>
          <a:xfrm>
            <a:off x="868680" y="2706624"/>
            <a:ext cx="274320" cy="155448"/>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12" name="Shape 10"/>
          <p:cNvSpPr/>
          <p:nvPr/>
        </p:nvSpPr>
        <p:spPr>
          <a:xfrm>
            <a:off x="548640" y="2843784"/>
            <a:ext cx="5029200" cy="457200"/>
          </a:xfrm>
          <a:prstGeom prst="roundRect">
            <a:avLst>
              <a:gd name="adj" fmla="val 16000"/>
            </a:avLst>
          </a:prstGeom>
          <a:solidFill>
            <a:srgbClr val="FFFFFF"/>
          </a:solidFill>
          <a:ln w="12700">
            <a:solidFill>
              <a:srgbClr val="111111"/>
            </a:solidFill>
            <a:prstDash val="solid"/>
          </a:ln>
        </p:spPr>
      </p:sp>
      <p:sp>
        <p:nvSpPr>
          <p:cNvPr id="13" name="Shape 11"/>
          <p:cNvSpPr/>
          <p:nvPr/>
        </p:nvSpPr>
        <p:spPr>
          <a:xfrm>
            <a:off x="777240" y="2980944"/>
            <a:ext cx="182880" cy="182880"/>
          </a:xfrm>
          <a:prstGeom prst="ellipse">
            <a:avLst/>
          </a:prstGeom>
          <a:solidFill>
            <a:srgbClr val="1F6FEB"/>
          </a:solidFill>
          <a:ln w="12700">
            <a:solidFill>
              <a:srgbClr val="1F6FEB"/>
            </a:solidFill>
            <a:prstDash val="solid"/>
          </a:ln>
        </p:spPr>
      </p:sp>
      <p:sp>
        <p:nvSpPr>
          <p:cNvPr id="14" name="Text 12"/>
          <p:cNvSpPr txBox="1"/>
          <p:nvPr/>
        </p:nvSpPr>
        <p:spPr>
          <a:xfrm>
            <a:off x="1097280" y="2843784"/>
            <a:ext cx="4297680" cy="4572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Carbon calculation engine</a:t>
            </a:r>
            <a:endParaRPr lang="en-US" sz="1300" dirty="0"/>
          </a:p>
        </p:txBody>
      </p:sp>
      <p:sp>
        <p:nvSpPr>
          <p:cNvPr id="15" name="Text 13"/>
          <p:cNvSpPr txBox="1"/>
          <p:nvPr/>
        </p:nvSpPr>
        <p:spPr>
          <a:xfrm>
            <a:off x="868680" y="3282696"/>
            <a:ext cx="274320" cy="155448"/>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16" name="Shape 14"/>
          <p:cNvSpPr/>
          <p:nvPr/>
        </p:nvSpPr>
        <p:spPr>
          <a:xfrm>
            <a:off x="548640" y="3419856"/>
            <a:ext cx="5029200" cy="457200"/>
          </a:xfrm>
          <a:prstGeom prst="roundRect">
            <a:avLst>
              <a:gd name="adj" fmla="val 16000"/>
            </a:avLst>
          </a:prstGeom>
          <a:solidFill>
            <a:srgbClr val="FFFFFF"/>
          </a:solidFill>
          <a:ln w="12700">
            <a:solidFill>
              <a:srgbClr val="111111"/>
            </a:solidFill>
            <a:prstDash val="solid"/>
          </a:ln>
        </p:spPr>
      </p:sp>
      <p:sp>
        <p:nvSpPr>
          <p:cNvPr id="17" name="Shape 15"/>
          <p:cNvSpPr/>
          <p:nvPr/>
        </p:nvSpPr>
        <p:spPr>
          <a:xfrm>
            <a:off x="777240" y="3557016"/>
            <a:ext cx="182880" cy="182880"/>
          </a:xfrm>
          <a:prstGeom prst="ellipse">
            <a:avLst/>
          </a:prstGeom>
          <a:solidFill>
            <a:srgbClr val="1F6FEB"/>
          </a:solidFill>
          <a:ln w="12700">
            <a:solidFill>
              <a:srgbClr val="1F6FEB"/>
            </a:solidFill>
            <a:prstDash val="solid"/>
          </a:ln>
        </p:spPr>
      </p:sp>
      <p:sp>
        <p:nvSpPr>
          <p:cNvPr id="18" name="Text 16"/>
          <p:cNvSpPr txBox="1"/>
          <p:nvPr/>
        </p:nvSpPr>
        <p:spPr>
          <a:xfrm>
            <a:off x="1097280" y="3419856"/>
            <a:ext cx="4297680" cy="4572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Footprint + uncertainty</a:t>
            </a:r>
            <a:endParaRPr lang="en-US" sz="1300" dirty="0"/>
          </a:p>
        </p:txBody>
      </p:sp>
      <p:sp>
        <p:nvSpPr>
          <p:cNvPr id="19" name="Text 17"/>
          <p:cNvSpPr txBox="1"/>
          <p:nvPr/>
        </p:nvSpPr>
        <p:spPr>
          <a:xfrm>
            <a:off x="868680" y="3858768"/>
            <a:ext cx="274320" cy="155448"/>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20" name="Shape 18"/>
          <p:cNvSpPr/>
          <p:nvPr/>
        </p:nvSpPr>
        <p:spPr>
          <a:xfrm>
            <a:off x="548640" y="3995928"/>
            <a:ext cx="5029200" cy="457200"/>
          </a:xfrm>
          <a:prstGeom prst="roundRect">
            <a:avLst>
              <a:gd name="adj" fmla="val 16000"/>
            </a:avLst>
          </a:prstGeom>
          <a:solidFill>
            <a:srgbClr val="FFFFFF"/>
          </a:solidFill>
          <a:ln w="12700">
            <a:solidFill>
              <a:srgbClr val="111111"/>
            </a:solidFill>
            <a:prstDash val="solid"/>
          </a:ln>
        </p:spPr>
      </p:sp>
      <p:sp>
        <p:nvSpPr>
          <p:cNvPr id="21" name="Shape 19"/>
          <p:cNvSpPr/>
          <p:nvPr/>
        </p:nvSpPr>
        <p:spPr>
          <a:xfrm>
            <a:off x="777240" y="4133088"/>
            <a:ext cx="182880" cy="182880"/>
          </a:xfrm>
          <a:prstGeom prst="ellipse">
            <a:avLst/>
          </a:prstGeom>
          <a:solidFill>
            <a:srgbClr val="7B5CFF"/>
          </a:solidFill>
          <a:ln w="12700">
            <a:solidFill>
              <a:srgbClr val="7B5CFF"/>
            </a:solidFill>
            <a:prstDash val="solid"/>
          </a:ln>
        </p:spPr>
      </p:sp>
      <p:sp>
        <p:nvSpPr>
          <p:cNvPr id="22" name="Text 20"/>
          <p:cNvSpPr txBox="1"/>
          <p:nvPr/>
        </p:nvSpPr>
        <p:spPr>
          <a:xfrm>
            <a:off x="1097280" y="3995928"/>
            <a:ext cx="4297680" cy="4572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Dashboard / What-If / Recommendations</a:t>
            </a:r>
            <a:endParaRPr lang="en-US" sz="1300" dirty="0"/>
          </a:p>
        </p:txBody>
      </p:sp>
      <p:sp>
        <p:nvSpPr>
          <p:cNvPr id="23" name="Text 21"/>
          <p:cNvSpPr txBox="1"/>
          <p:nvPr/>
        </p:nvSpPr>
        <p:spPr>
          <a:xfrm>
            <a:off x="868680" y="4434840"/>
            <a:ext cx="274320" cy="155448"/>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24" name="Shape 22"/>
          <p:cNvSpPr/>
          <p:nvPr/>
        </p:nvSpPr>
        <p:spPr>
          <a:xfrm>
            <a:off x="548640" y="4572000"/>
            <a:ext cx="5029200" cy="457200"/>
          </a:xfrm>
          <a:prstGeom prst="roundRect">
            <a:avLst>
              <a:gd name="adj" fmla="val 16000"/>
            </a:avLst>
          </a:prstGeom>
          <a:solidFill>
            <a:srgbClr val="FFFFFF"/>
          </a:solidFill>
          <a:ln w="12700">
            <a:solidFill>
              <a:srgbClr val="111111"/>
            </a:solidFill>
            <a:prstDash val="solid"/>
          </a:ln>
        </p:spPr>
      </p:sp>
      <p:sp>
        <p:nvSpPr>
          <p:cNvPr id="25" name="Shape 23"/>
          <p:cNvSpPr/>
          <p:nvPr/>
        </p:nvSpPr>
        <p:spPr>
          <a:xfrm>
            <a:off x="777240" y="4709160"/>
            <a:ext cx="182880" cy="182880"/>
          </a:xfrm>
          <a:prstGeom prst="ellipse">
            <a:avLst/>
          </a:prstGeom>
          <a:solidFill>
            <a:srgbClr val="7B5CFF"/>
          </a:solidFill>
          <a:ln w="12700">
            <a:solidFill>
              <a:srgbClr val="7B5CFF"/>
            </a:solidFill>
            <a:prstDash val="solid"/>
          </a:ln>
        </p:spPr>
      </p:sp>
      <p:sp>
        <p:nvSpPr>
          <p:cNvPr id="26" name="Text 24"/>
          <p:cNvSpPr txBox="1"/>
          <p:nvPr/>
        </p:nvSpPr>
        <p:spPr>
          <a:xfrm>
            <a:off x="1097280" y="4572000"/>
            <a:ext cx="4297680" cy="4572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Optimization</a:t>
            </a:r>
            <a:endParaRPr lang="en-US" sz="1300" dirty="0"/>
          </a:p>
        </p:txBody>
      </p:sp>
      <p:sp>
        <p:nvSpPr>
          <p:cNvPr id="27" name="Text 25"/>
          <p:cNvSpPr txBox="1"/>
          <p:nvPr/>
        </p:nvSpPr>
        <p:spPr>
          <a:xfrm>
            <a:off x="868680" y="5010912"/>
            <a:ext cx="274320" cy="155448"/>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28" name="Shape 26"/>
          <p:cNvSpPr/>
          <p:nvPr/>
        </p:nvSpPr>
        <p:spPr>
          <a:xfrm>
            <a:off x="548640" y="5148072"/>
            <a:ext cx="5029200" cy="457200"/>
          </a:xfrm>
          <a:prstGeom prst="roundRect">
            <a:avLst>
              <a:gd name="adj" fmla="val 16000"/>
            </a:avLst>
          </a:prstGeom>
          <a:solidFill>
            <a:srgbClr val="FFFFFF"/>
          </a:solidFill>
          <a:ln w="12700">
            <a:solidFill>
              <a:srgbClr val="111111"/>
            </a:solidFill>
            <a:prstDash val="solid"/>
          </a:ln>
        </p:spPr>
      </p:sp>
      <p:sp>
        <p:nvSpPr>
          <p:cNvPr id="29" name="Shape 27"/>
          <p:cNvSpPr/>
          <p:nvPr/>
        </p:nvSpPr>
        <p:spPr>
          <a:xfrm>
            <a:off x="777240" y="5285232"/>
            <a:ext cx="182880" cy="182880"/>
          </a:xfrm>
          <a:prstGeom prst="ellipse">
            <a:avLst/>
          </a:prstGeom>
          <a:solidFill>
            <a:srgbClr val="FF5A4E"/>
          </a:solidFill>
          <a:ln w="12700">
            <a:solidFill>
              <a:srgbClr val="FF5A4E"/>
            </a:solidFill>
            <a:prstDash val="solid"/>
          </a:ln>
        </p:spPr>
      </p:sp>
      <p:sp>
        <p:nvSpPr>
          <p:cNvPr id="30" name="Text 28"/>
          <p:cNvSpPr txBox="1"/>
          <p:nvPr/>
        </p:nvSpPr>
        <p:spPr>
          <a:xfrm>
            <a:off x="1097280" y="5148072"/>
            <a:ext cx="4297680" cy="4572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Reduction plan</a:t>
            </a:r>
            <a:endParaRPr lang="en-US" sz="1300" dirty="0"/>
          </a:p>
        </p:txBody>
      </p:sp>
      <p:sp>
        <p:nvSpPr>
          <p:cNvPr id="31" name="Text 29"/>
          <p:cNvSpPr txBox="1"/>
          <p:nvPr/>
        </p:nvSpPr>
        <p:spPr>
          <a:xfrm>
            <a:off x="868680" y="5586984"/>
            <a:ext cx="274320" cy="155448"/>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a:t>
            </a:r>
            <a:endParaRPr lang="en-US" sz="1100" dirty="0"/>
          </a:p>
        </p:txBody>
      </p:sp>
      <p:sp>
        <p:nvSpPr>
          <p:cNvPr id="32" name="Shape 30"/>
          <p:cNvSpPr/>
          <p:nvPr/>
        </p:nvSpPr>
        <p:spPr>
          <a:xfrm>
            <a:off x="548640" y="5724144"/>
            <a:ext cx="5029200" cy="457200"/>
          </a:xfrm>
          <a:prstGeom prst="roundRect">
            <a:avLst>
              <a:gd name="adj" fmla="val 16000"/>
            </a:avLst>
          </a:prstGeom>
          <a:solidFill>
            <a:srgbClr val="FFFFFF"/>
          </a:solidFill>
          <a:ln w="12700">
            <a:solidFill>
              <a:srgbClr val="111111"/>
            </a:solidFill>
            <a:prstDash val="solid"/>
          </a:ln>
        </p:spPr>
      </p:sp>
      <p:sp>
        <p:nvSpPr>
          <p:cNvPr id="33" name="Shape 31"/>
          <p:cNvSpPr/>
          <p:nvPr/>
        </p:nvSpPr>
        <p:spPr>
          <a:xfrm>
            <a:off x="777240" y="5861304"/>
            <a:ext cx="182880" cy="182880"/>
          </a:xfrm>
          <a:prstGeom prst="ellipse">
            <a:avLst/>
          </a:prstGeom>
          <a:solidFill>
            <a:srgbClr val="FF5A4E"/>
          </a:solidFill>
          <a:ln w="12700">
            <a:solidFill>
              <a:srgbClr val="FF5A4E"/>
            </a:solidFill>
            <a:prstDash val="solid"/>
          </a:ln>
        </p:spPr>
      </p:sp>
      <p:sp>
        <p:nvSpPr>
          <p:cNvPr id="34" name="Text 32"/>
          <p:cNvSpPr txBox="1"/>
          <p:nvPr/>
        </p:nvSpPr>
        <p:spPr>
          <a:xfrm>
            <a:off x="1097280" y="5724144"/>
            <a:ext cx="4297680" cy="4572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Tracking</a:t>
            </a:r>
            <a:endParaRPr lang="en-US" sz="1300" dirty="0"/>
          </a:p>
        </p:txBody>
      </p:sp>
      <p:sp>
        <p:nvSpPr>
          <p:cNvPr id="35" name="Shape 33"/>
          <p:cNvSpPr/>
          <p:nvPr/>
        </p:nvSpPr>
        <p:spPr>
          <a:xfrm>
            <a:off x="6035040" y="1691640"/>
            <a:ext cx="5577840" cy="1783080"/>
          </a:xfrm>
          <a:prstGeom prst="roundRect">
            <a:avLst>
              <a:gd name="adj" fmla="val 3077"/>
            </a:avLst>
          </a:prstGeom>
          <a:solidFill>
            <a:srgbClr val="0B0B0B"/>
          </a:solidFill>
          <a:ln w="12700">
            <a:solidFill>
              <a:srgbClr val="111111"/>
            </a:solidFill>
            <a:prstDash val="solid"/>
          </a:ln>
        </p:spPr>
      </p:sp>
      <p:sp>
        <p:nvSpPr>
          <p:cNvPr id="36" name="Text 34"/>
          <p:cNvSpPr txBox="1"/>
          <p:nvPr/>
        </p:nvSpPr>
        <p:spPr>
          <a:xfrm>
            <a:off x="6355080" y="1874520"/>
            <a:ext cx="4937760" cy="274320"/>
          </a:xfrm>
          <a:prstGeom prst="rect">
            <a:avLst/>
          </a:prstGeom>
          <a:noFill/>
          <a:ln/>
        </p:spPr>
        <p:txBody>
          <a:bodyPr wrap="square" lIns="0" tIns="0" rIns="0" bIns="0" rtlCol="0" anchor="ctr"/>
          <a:lstStyle/>
          <a:p>
            <a:pPr indent="0" marL="0">
              <a:buNone/>
            </a:pPr>
            <a:r>
              <a:rPr lang="en-US" sz="1000" b="1" spc="200" kern="0" dirty="0">
                <a:solidFill>
                  <a:srgbClr val="00BFD8"/>
                </a:solidFill>
                <a:latin typeface="Arial" pitchFamily="34" charset="0"/>
                <a:ea typeface="Arial" pitchFamily="34" charset="-122"/>
                <a:cs typeface="Arial" pitchFamily="34" charset="-120"/>
              </a:rPr>
              <a:t>THE CORE FORMULA</a:t>
            </a:r>
            <a:endParaRPr lang="en-US" sz="1000" dirty="0"/>
          </a:p>
        </p:txBody>
      </p:sp>
      <p:sp>
        <p:nvSpPr>
          <p:cNvPr id="37" name="Text 35"/>
          <p:cNvSpPr txBox="1"/>
          <p:nvPr/>
        </p:nvSpPr>
        <p:spPr>
          <a:xfrm>
            <a:off x="6355080" y="2194560"/>
            <a:ext cx="493776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Annual emissions =</a:t>
            </a:r>
            <a:endParaRPr lang="en-US" sz="1700" dirty="0"/>
          </a:p>
        </p:txBody>
      </p:sp>
      <p:sp>
        <p:nvSpPr>
          <p:cNvPr id="38" name="Text 36"/>
          <p:cNvSpPr txBox="1"/>
          <p:nvPr/>
        </p:nvSpPr>
        <p:spPr>
          <a:xfrm>
            <a:off x="6355080" y="2542032"/>
            <a:ext cx="4937760" cy="502920"/>
          </a:xfrm>
          <a:prstGeom prst="rect">
            <a:avLst/>
          </a:prstGeom>
          <a:noFill/>
          <a:ln/>
        </p:spPr>
        <p:txBody>
          <a:bodyPr wrap="square" lIns="0" tIns="0" rIns="0" bIns="0" rtlCol="0" anchor="t"/>
          <a:lstStyle/>
          <a:p>
            <a:pPr indent="0" marL="0">
              <a:lnSpc>
                <a:spcPts val="1900"/>
              </a:lnSpc>
              <a:buNone/>
            </a:pPr>
            <a:r>
              <a:rPr lang="en-US" sz="1500" b="1" dirty="0">
                <a:solidFill>
                  <a:srgbClr val="FFC93C"/>
                </a:solidFill>
                <a:latin typeface="Arial" pitchFamily="34" charset="0"/>
                <a:ea typeface="Arial" pitchFamily="34" charset="-122"/>
                <a:cs typeface="Arial" pitchFamily="34" charset="-120"/>
              </a:rPr>
              <a:t>quantity × emission factor × frequency multiplier</a:t>
            </a:r>
            <a:endParaRPr lang="en-US" sz="1500" dirty="0"/>
          </a:p>
        </p:txBody>
      </p:sp>
      <p:sp>
        <p:nvSpPr>
          <p:cNvPr id="39" name="Text 37"/>
          <p:cNvSpPr txBox="1"/>
          <p:nvPr/>
        </p:nvSpPr>
        <p:spPr>
          <a:xfrm>
            <a:off x="6355080" y="3108960"/>
            <a:ext cx="4937760" cy="274320"/>
          </a:xfrm>
          <a:prstGeom prst="rect">
            <a:avLst/>
          </a:prstGeom>
          <a:noFill/>
          <a:ln/>
        </p:spPr>
        <p:txBody>
          <a:bodyPr wrap="square" lIns="0" tIns="0" rIns="0" bIns="0" rtlCol="0" anchor="ctr"/>
          <a:lstStyle/>
          <a:p>
            <a:pPr indent="0" marL="0">
              <a:buNone/>
            </a:pPr>
            <a:r>
              <a:rPr lang="en-US" sz="1000" dirty="0">
                <a:solidFill>
                  <a:srgbClr val="9A9A95"/>
                </a:solidFill>
                <a:latin typeface="Arial" pitchFamily="34" charset="0"/>
                <a:ea typeface="Arial" pitchFamily="34" charset="-122"/>
                <a:cs typeface="Arial" pitchFamily="34" charset="-120"/>
              </a:rPr>
              <a:t>Deterministic. Same inputs always give the same output.</a:t>
            </a:r>
            <a:endParaRPr lang="en-US" sz="1000" dirty="0"/>
          </a:p>
        </p:txBody>
      </p:sp>
      <p:sp>
        <p:nvSpPr>
          <p:cNvPr id="40" name="Text 38"/>
          <p:cNvSpPr txBox="1"/>
          <p:nvPr/>
        </p:nvSpPr>
        <p:spPr>
          <a:xfrm>
            <a:off x="6035040" y="3657600"/>
            <a:ext cx="5577840" cy="274320"/>
          </a:xfrm>
          <a:prstGeom prst="rect">
            <a:avLst/>
          </a:prstGeom>
          <a:noFill/>
          <a:ln/>
        </p:spPr>
        <p:txBody>
          <a:bodyPr wrap="square" lIns="0" tIns="0" rIns="0" bIns="0" rtlCol="0" anchor="ctr"/>
          <a:lstStyle/>
          <a:p>
            <a:pPr indent="0" marL="0">
              <a:buNone/>
            </a:pPr>
            <a:r>
              <a:rPr lang="en-US" sz="1000" b="1" spc="200" kern="0" dirty="0">
                <a:solidFill>
                  <a:srgbClr val="8C8C86"/>
                </a:solidFill>
                <a:latin typeface="Arial" pitchFamily="34" charset="0"/>
                <a:ea typeface="Arial" pitchFamily="34" charset="-122"/>
                <a:cs typeface="Arial" pitchFamily="34" charset="-120"/>
              </a:rPr>
              <a:t>FREQUENCY MULTIPLIER</a:t>
            </a:r>
            <a:endParaRPr lang="en-US" sz="1000" dirty="0"/>
          </a:p>
        </p:txBody>
      </p:sp>
      <p:sp>
        <p:nvSpPr>
          <p:cNvPr id="41" name="Shape 39"/>
          <p:cNvSpPr/>
          <p:nvPr/>
        </p:nvSpPr>
        <p:spPr>
          <a:xfrm>
            <a:off x="6035040" y="3977640"/>
            <a:ext cx="1280160" cy="1051560"/>
          </a:xfrm>
          <a:prstGeom prst="roundRect">
            <a:avLst>
              <a:gd name="adj" fmla="val 5217"/>
            </a:avLst>
          </a:prstGeom>
          <a:solidFill>
            <a:srgbClr val="FFFFFF"/>
          </a:solidFill>
          <a:ln w="12700">
            <a:solidFill>
              <a:srgbClr val="111111"/>
            </a:solidFill>
            <a:prstDash val="solid"/>
          </a:ln>
        </p:spPr>
      </p:sp>
      <p:sp>
        <p:nvSpPr>
          <p:cNvPr id="42" name="Text 40"/>
          <p:cNvSpPr txBox="1"/>
          <p:nvPr/>
        </p:nvSpPr>
        <p:spPr>
          <a:xfrm>
            <a:off x="6035040" y="4114800"/>
            <a:ext cx="1280160" cy="457200"/>
          </a:xfrm>
          <a:prstGeom prst="rect">
            <a:avLst/>
          </a:prstGeom>
          <a:noFill/>
          <a:ln/>
        </p:spPr>
        <p:txBody>
          <a:bodyPr wrap="square" lIns="0" tIns="0" rIns="0" bIns="0" rtlCol="0" anchor="ctr"/>
          <a:lstStyle/>
          <a:p>
            <a:pPr algn="ctr" indent="0" marL="0">
              <a:buNone/>
            </a:pPr>
            <a:r>
              <a:rPr lang="en-US" sz="2600" b="1" dirty="0">
                <a:solidFill>
                  <a:srgbClr val="00BFD8"/>
                </a:solidFill>
                <a:latin typeface="Arial" pitchFamily="34" charset="0"/>
                <a:ea typeface="Arial" pitchFamily="34" charset="-122"/>
                <a:cs typeface="Arial" pitchFamily="34" charset="-120"/>
              </a:rPr>
              <a:t>365</a:t>
            </a:r>
            <a:endParaRPr lang="en-US" sz="2600" dirty="0"/>
          </a:p>
        </p:txBody>
      </p:sp>
      <p:sp>
        <p:nvSpPr>
          <p:cNvPr id="43" name="Text 41"/>
          <p:cNvSpPr txBox="1"/>
          <p:nvPr/>
        </p:nvSpPr>
        <p:spPr>
          <a:xfrm>
            <a:off x="6035040" y="4617720"/>
            <a:ext cx="1280160" cy="274320"/>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Daily</a:t>
            </a:r>
            <a:endParaRPr lang="en-US" sz="1100" dirty="0"/>
          </a:p>
        </p:txBody>
      </p:sp>
      <p:sp>
        <p:nvSpPr>
          <p:cNvPr id="44" name="Shape 42"/>
          <p:cNvSpPr/>
          <p:nvPr/>
        </p:nvSpPr>
        <p:spPr>
          <a:xfrm>
            <a:off x="7461504" y="3977640"/>
            <a:ext cx="1280160" cy="1051560"/>
          </a:xfrm>
          <a:prstGeom prst="roundRect">
            <a:avLst>
              <a:gd name="adj" fmla="val 5217"/>
            </a:avLst>
          </a:prstGeom>
          <a:solidFill>
            <a:srgbClr val="FFFFFF"/>
          </a:solidFill>
          <a:ln w="12700">
            <a:solidFill>
              <a:srgbClr val="111111"/>
            </a:solidFill>
            <a:prstDash val="solid"/>
          </a:ln>
        </p:spPr>
      </p:sp>
      <p:sp>
        <p:nvSpPr>
          <p:cNvPr id="45" name="Text 43"/>
          <p:cNvSpPr txBox="1"/>
          <p:nvPr/>
        </p:nvSpPr>
        <p:spPr>
          <a:xfrm>
            <a:off x="7461504" y="4114800"/>
            <a:ext cx="1280160" cy="457200"/>
          </a:xfrm>
          <a:prstGeom prst="rect">
            <a:avLst/>
          </a:prstGeom>
          <a:noFill/>
          <a:ln/>
        </p:spPr>
        <p:txBody>
          <a:bodyPr wrap="square" lIns="0" tIns="0" rIns="0" bIns="0" rtlCol="0" anchor="ctr"/>
          <a:lstStyle/>
          <a:p>
            <a:pPr algn="ctr" indent="0" marL="0">
              <a:buNone/>
            </a:pPr>
            <a:r>
              <a:rPr lang="en-US" sz="2600" b="1" dirty="0">
                <a:solidFill>
                  <a:srgbClr val="1F6FEB"/>
                </a:solidFill>
                <a:latin typeface="Arial" pitchFamily="34" charset="0"/>
                <a:ea typeface="Arial" pitchFamily="34" charset="-122"/>
                <a:cs typeface="Arial" pitchFamily="34" charset="-120"/>
              </a:rPr>
              <a:t>52</a:t>
            </a:r>
            <a:endParaRPr lang="en-US" sz="2600" dirty="0"/>
          </a:p>
        </p:txBody>
      </p:sp>
      <p:sp>
        <p:nvSpPr>
          <p:cNvPr id="46" name="Text 44"/>
          <p:cNvSpPr txBox="1"/>
          <p:nvPr/>
        </p:nvSpPr>
        <p:spPr>
          <a:xfrm>
            <a:off x="7461504" y="4617720"/>
            <a:ext cx="1280160" cy="274320"/>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Weekly</a:t>
            </a:r>
            <a:endParaRPr lang="en-US" sz="1100" dirty="0"/>
          </a:p>
        </p:txBody>
      </p:sp>
      <p:sp>
        <p:nvSpPr>
          <p:cNvPr id="47" name="Shape 45"/>
          <p:cNvSpPr/>
          <p:nvPr/>
        </p:nvSpPr>
        <p:spPr>
          <a:xfrm>
            <a:off x="8887968" y="3977640"/>
            <a:ext cx="1280160" cy="1051560"/>
          </a:xfrm>
          <a:prstGeom prst="roundRect">
            <a:avLst>
              <a:gd name="adj" fmla="val 5217"/>
            </a:avLst>
          </a:prstGeom>
          <a:solidFill>
            <a:srgbClr val="FFFFFF"/>
          </a:solidFill>
          <a:ln w="12700">
            <a:solidFill>
              <a:srgbClr val="111111"/>
            </a:solidFill>
            <a:prstDash val="solid"/>
          </a:ln>
        </p:spPr>
      </p:sp>
      <p:sp>
        <p:nvSpPr>
          <p:cNvPr id="48" name="Text 46"/>
          <p:cNvSpPr txBox="1"/>
          <p:nvPr/>
        </p:nvSpPr>
        <p:spPr>
          <a:xfrm>
            <a:off x="8887968" y="4114800"/>
            <a:ext cx="1280160" cy="457200"/>
          </a:xfrm>
          <a:prstGeom prst="rect">
            <a:avLst/>
          </a:prstGeom>
          <a:noFill/>
          <a:ln/>
        </p:spPr>
        <p:txBody>
          <a:bodyPr wrap="square" lIns="0" tIns="0" rIns="0" bIns="0" rtlCol="0" anchor="ctr"/>
          <a:lstStyle/>
          <a:p>
            <a:pPr algn="ctr" indent="0" marL="0">
              <a:buNone/>
            </a:pPr>
            <a:r>
              <a:rPr lang="en-US" sz="2600" b="1" dirty="0">
                <a:solidFill>
                  <a:srgbClr val="7B5CFF"/>
                </a:solidFill>
                <a:latin typeface="Arial" pitchFamily="34" charset="0"/>
                <a:ea typeface="Arial" pitchFamily="34" charset="-122"/>
                <a:cs typeface="Arial" pitchFamily="34" charset="-120"/>
              </a:rPr>
              <a:t>12</a:t>
            </a:r>
            <a:endParaRPr lang="en-US" sz="2600" dirty="0"/>
          </a:p>
        </p:txBody>
      </p:sp>
      <p:sp>
        <p:nvSpPr>
          <p:cNvPr id="49" name="Text 47"/>
          <p:cNvSpPr txBox="1"/>
          <p:nvPr/>
        </p:nvSpPr>
        <p:spPr>
          <a:xfrm>
            <a:off x="8887968" y="4617720"/>
            <a:ext cx="1280160" cy="274320"/>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Monthly</a:t>
            </a:r>
            <a:endParaRPr lang="en-US" sz="1100" dirty="0"/>
          </a:p>
        </p:txBody>
      </p:sp>
      <p:sp>
        <p:nvSpPr>
          <p:cNvPr id="50" name="Shape 48"/>
          <p:cNvSpPr/>
          <p:nvPr/>
        </p:nvSpPr>
        <p:spPr>
          <a:xfrm>
            <a:off x="10314432" y="3977640"/>
            <a:ext cx="1280160" cy="1051560"/>
          </a:xfrm>
          <a:prstGeom prst="roundRect">
            <a:avLst>
              <a:gd name="adj" fmla="val 5217"/>
            </a:avLst>
          </a:prstGeom>
          <a:solidFill>
            <a:srgbClr val="FFFFFF"/>
          </a:solidFill>
          <a:ln w="12700">
            <a:solidFill>
              <a:srgbClr val="111111"/>
            </a:solidFill>
            <a:prstDash val="solid"/>
          </a:ln>
        </p:spPr>
      </p:sp>
      <p:sp>
        <p:nvSpPr>
          <p:cNvPr id="51" name="Text 49"/>
          <p:cNvSpPr txBox="1"/>
          <p:nvPr/>
        </p:nvSpPr>
        <p:spPr>
          <a:xfrm>
            <a:off x="10314432" y="4114800"/>
            <a:ext cx="1280160" cy="457200"/>
          </a:xfrm>
          <a:prstGeom prst="rect">
            <a:avLst/>
          </a:prstGeom>
          <a:noFill/>
          <a:ln/>
        </p:spPr>
        <p:txBody>
          <a:bodyPr wrap="square" lIns="0" tIns="0" rIns="0" bIns="0" rtlCol="0" anchor="ctr"/>
          <a:lstStyle/>
          <a:p>
            <a:pPr algn="ctr" indent="0" marL="0">
              <a:buNone/>
            </a:pPr>
            <a:r>
              <a:rPr lang="en-US" sz="2600" b="1" dirty="0">
                <a:solidFill>
                  <a:srgbClr val="FF5A4E"/>
                </a:solidFill>
                <a:latin typeface="Arial" pitchFamily="34" charset="0"/>
                <a:ea typeface="Arial" pitchFamily="34" charset="-122"/>
                <a:cs typeface="Arial" pitchFamily="34" charset="-120"/>
              </a:rPr>
              <a:t>1</a:t>
            </a:r>
            <a:endParaRPr lang="en-US" sz="2600" dirty="0"/>
          </a:p>
        </p:txBody>
      </p:sp>
      <p:sp>
        <p:nvSpPr>
          <p:cNvPr id="52" name="Text 50"/>
          <p:cNvSpPr txBox="1"/>
          <p:nvPr/>
        </p:nvSpPr>
        <p:spPr>
          <a:xfrm>
            <a:off x="10314432" y="4617720"/>
            <a:ext cx="1280160" cy="274320"/>
          </a:xfrm>
          <a:prstGeom prst="rect">
            <a:avLst/>
          </a:prstGeom>
          <a:noFill/>
          <a:ln/>
        </p:spPr>
        <p:txBody>
          <a:bodyPr wrap="square" lIns="0" tIns="0" rIns="0" bIns="0" rtlCol="0" anchor="ctr"/>
          <a:lstStyle/>
          <a:p>
            <a:pPr algn="ctr" indent="0" marL="0">
              <a:buNone/>
            </a:pPr>
            <a:r>
              <a:rPr lang="en-US" sz="1100" dirty="0">
                <a:solidFill>
                  <a:srgbClr val="8C8C86"/>
                </a:solidFill>
                <a:latin typeface="Arial" pitchFamily="34" charset="0"/>
                <a:ea typeface="Arial" pitchFamily="34" charset="-122"/>
                <a:cs typeface="Arial" pitchFamily="34" charset="-120"/>
              </a:rPr>
              <a:t>Yearly</a:t>
            </a:r>
            <a:endParaRPr lang="en-US" sz="1100" dirty="0"/>
          </a:p>
        </p:txBody>
      </p:sp>
      <p:sp>
        <p:nvSpPr>
          <p:cNvPr id="53" name="Shape 51"/>
          <p:cNvSpPr/>
          <p:nvPr/>
        </p:nvSpPr>
        <p:spPr>
          <a:xfrm>
            <a:off x="6035040" y="5257800"/>
            <a:ext cx="5577840" cy="1143000"/>
          </a:xfrm>
          <a:prstGeom prst="roundRect">
            <a:avLst>
              <a:gd name="adj" fmla="val 4800"/>
            </a:avLst>
          </a:prstGeom>
          <a:solidFill>
            <a:srgbClr val="EDEBE4"/>
          </a:solidFill>
          <a:ln w="12700">
            <a:solidFill>
              <a:srgbClr val="111111"/>
            </a:solidFill>
            <a:prstDash val="solid"/>
          </a:ln>
        </p:spPr>
      </p:sp>
      <p:sp>
        <p:nvSpPr>
          <p:cNvPr id="54" name="Text 52"/>
          <p:cNvSpPr txBox="1"/>
          <p:nvPr/>
        </p:nvSpPr>
        <p:spPr>
          <a:xfrm>
            <a:off x="6355080" y="5257800"/>
            <a:ext cx="4937760" cy="1143000"/>
          </a:xfrm>
          <a:prstGeom prst="rect">
            <a:avLst/>
          </a:prstGeom>
          <a:noFill/>
          <a:ln/>
        </p:spPr>
        <p:txBody>
          <a:bodyPr wrap="square" lIns="0" tIns="0" rIns="0" bIns="0" rtlCol="0" anchor="ctr"/>
          <a:lstStyle/>
          <a:p>
            <a:pPr indent="0" marL="0">
              <a:lnSpc>
                <a:spcPts val="1500"/>
              </a:lnSpc>
              <a:buNone/>
            </a:pPr>
            <a:r>
              <a:rPr lang="en-US" sz="1100" dirty="0">
                <a:solidFill>
                  <a:srgbClr val="111111"/>
                </a:solidFill>
                <a:latin typeface="Arial" pitchFamily="34" charset="0"/>
                <a:ea typeface="Arial" pitchFamily="34" charset="-122"/>
                <a:cs typeface="Arial" pitchFamily="34" charset="-120"/>
              </a:rPr>
              <a:t>If a factor cannot be resolved, the engine fails loudly with an error — it never invents a placeholder number. Every result stores an audit record of the exact factor, formula and confidence used.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B"/>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Where AI is used — and where it is not.</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indent="0" marL="0">
              <a:buNone/>
            </a:pPr>
            <a:r>
              <a:rPr lang="en-US" sz="1400" dirty="0">
                <a:solidFill>
                  <a:srgbClr val="BFBFBA"/>
                </a:solidFill>
                <a:latin typeface="Arial" pitchFamily="34" charset="0"/>
                <a:ea typeface="Arial" pitchFamily="34" charset="-122"/>
                <a:cs typeface="Arial" pitchFamily="34" charset="-120"/>
              </a:rPr>
              <a:t>The Carbon Coach explains the numbers. It does not produce them.</a:t>
            </a:r>
            <a:endParaRPr lang="en-US" sz="1400" dirty="0"/>
          </a:p>
        </p:txBody>
      </p:sp>
      <p:sp>
        <p:nvSpPr>
          <p:cNvPr id="4" name="Shape 2"/>
          <p:cNvSpPr/>
          <p:nvPr/>
        </p:nvSpPr>
        <p:spPr>
          <a:xfrm>
            <a:off x="548640" y="1783080"/>
            <a:ext cx="3520440" cy="2606040"/>
          </a:xfrm>
          <a:prstGeom prst="roundRect">
            <a:avLst>
              <a:gd name="adj" fmla="val 2105"/>
            </a:avLst>
          </a:prstGeom>
          <a:solidFill>
            <a:srgbClr val="151515"/>
          </a:solidFill>
          <a:ln w="12700">
            <a:solidFill>
              <a:srgbClr val="111111"/>
            </a:solidFill>
            <a:prstDash val="solid"/>
          </a:ln>
        </p:spPr>
      </p:sp>
      <p:sp>
        <p:nvSpPr>
          <p:cNvPr id="5" name="Shape 3"/>
          <p:cNvSpPr/>
          <p:nvPr/>
        </p:nvSpPr>
        <p:spPr>
          <a:xfrm>
            <a:off x="548640" y="1783080"/>
            <a:ext cx="3520440" cy="2606040"/>
          </a:xfrm>
          <a:prstGeom prst="roundRect">
            <a:avLst>
              <a:gd name="adj" fmla="val 2105"/>
            </a:avLst>
          </a:prstGeom>
          <a:solidFill>
            <a:srgbClr val="151515"/>
          </a:solidFill>
          <a:ln w="19050">
            <a:solidFill>
              <a:srgbClr val="00BFD8"/>
            </a:solidFill>
            <a:prstDash val="solid"/>
          </a:ln>
        </p:spPr>
      </p:sp>
      <p:sp>
        <p:nvSpPr>
          <p:cNvPr id="6" name="Shape 4"/>
          <p:cNvSpPr/>
          <p:nvPr/>
        </p:nvSpPr>
        <p:spPr>
          <a:xfrm>
            <a:off x="822960" y="2011680"/>
            <a:ext cx="1691640" cy="347472"/>
          </a:xfrm>
          <a:prstGeom prst="roundRect">
            <a:avLst>
              <a:gd name="adj" fmla="val 26316"/>
            </a:avLst>
          </a:prstGeom>
          <a:solidFill>
            <a:srgbClr val="00BFD8"/>
          </a:solidFill>
          <a:ln w="12700">
            <a:solidFill>
              <a:srgbClr val="00BFD8"/>
            </a:solidFill>
            <a:prstDash val="solid"/>
          </a:ln>
        </p:spPr>
      </p:sp>
      <p:sp>
        <p:nvSpPr>
          <p:cNvPr id="7" name="Text 5"/>
          <p:cNvSpPr txBox="1"/>
          <p:nvPr/>
        </p:nvSpPr>
        <p:spPr>
          <a:xfrm>
            <a:off x="822960" y="2011680"/>
            <a:ext cx="1691640" cy="347472"/>
          </a:xfrm>
          <a:prstGeom prst="rect">
            <a:avLst/>
          </a:prstGeom>
          <a:noFill/>
          <a:ln/>
        </p:spPr>
        <p:txBody>
          <a:bodyPr wrap="square" lIns="0" tIns="0" rIns="0" bIns="0" rtlCol="0" anchor="ctr"/>
          <a:lstStyle/>
          <a:p>
            <a:pPr algn="ctr" indent="0" marL="0">
              <a:buNone/>
            </a:pPr>
            <a:r>
              <a:rPr lang="en-US" sz="1000" b="1" dirty="0">
                <a:solidFill>
                  <a:srgbClr val="0B0B0B"/>
                </a:solidFill>
                <a:latin typeface="Arial" pitchFamily="34" charset="0"/>
                <a:ea typeface="Arial" pitchFamily="34" charset="-122"/>
                <a:cs typeface="Arial" pitchFamily="34" charset="-120"/>
              </a:rPr>
              <a:t>LOCAL MODE</a:t>
            </a:r>
            <a:endParaRPr lang="en-US" sz="1000" dirty="0"/>
          </a:p>
        </p:txBody>
      </p:sp>
      <p:sp>
        <p:nvSpPr>
          <p:cNvPr id="8" name="Text 6"/>
          <p:cNvSpPr txBox="1"/>
          <p:nvPr/>
        </p:nvSpPr>
        <p:spPr>
          <a:xfrm>
            <a:off x="2606040" y="2011680"/>
            <a:ext cx="1188720" cy="347472"/>
          </a:xfrm>
          <a:prstGeom prst="rect">
            <a:avLst/>
          </a:prstGeom>
          <a:noFill/>
          <a:ln/>
        </p:spPr>
        <p:txBody>
          <a:bodyPr wrap="square" lIns="0" tIns="0" rIns="0" bIns="0" rtlCol="0" anchor="ctr"/>
          <a:lstStyle/>
          <a:p>
            <a:pPr indent="0" marL="0">
              <a:buNone/>
            </a:pPr>
            <a:r>
              <a:rPr lang="en-US" sz="1000" dirty="0">
                <a:solidFill>
                  <a:srgbClr val="9A9A95"/>
                </a:solidFill>
                <a:latin typeface="Arial" pitchFamily="34" charset="0"/>
                <a:ea typeface="Arial" pitchFamily="34" charset="-122"/>
                <a:cs typeface="Arial" pitchFamily="34" charset="-120"/>
              </a:rPr>
              <a:t>Default</a:t>
            </a:r>
            <a:endParaRPr lang="en-US" sz="1000" dirty="0"/>
          </a:p>
        </p:txBody>
      </p:sp>
      <p:sp>
        <p:nvSpPr>
          <p:cNvPr id="9" name="Text 7"/>
          <p:cNvSpPr txBox="1"/>
          <p:nvPr/>
        </p:nvSpPr>
        <p:spPr>
          <a:xfrm>
            <a:off x="822960" y="2514600"/>
            <a:ext cx="301752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  Deterministic keyword rules</a:t>
            </a:r>
            <a:endParaRPr lang="en-US" sz="1200" dirty="0"/>
          </a:p>
        </p:txBody>
      </p:sp>
      <p:sp>
        <p:nvSpPr>
          <p:cNvPr id="10" name="Text 8"/>
          <p:cNvSpPr txBox="1"/>
          <p:nvPr/>
        </p:nvSpPr>
        <p:spPr>
          <a:xfrm>
            <a:off x="822960" y="2926080"/>
            <a:ext cx="301752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  Zero external API calls</a:t>
            </a:r>
            <a:endParaRPr lang="en-US" sz="1200" dirty="0"/>
          </a:p>
        </p:txBody>
      </p:sp>
      <p:sp>
        <p:nvSpPr>
          <p:cNvPr id="11" name="Text 9"/>
          <p:cNvSpPr txBox="1"/>
          <p:nvPr/>
        </p:nvSpPr>
        <p:spPr>
          <a:xfrm>
            <a:off x="822960" y="3337560"/>
            <a:ext cx="301752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  Answers from your real footprint</a:t>
            </a:r>
            <a:endParaRPr lang="en-US" sz="1200" dirty="0"/>
          </a:p>
        </p:txBody>
      </p:sp>
      <p:sp>
        <p:nvSpPr>
          <p:cNvPr id="12" name="Text 10"/>
          <p:cNvSpPr txBox="1"/>
          <p:nvPr/>
        </p:nvSpPr>
        <p:spPr>
          <a:xfrm>
            <a:off x="822960" y="3749040"/>
            <a:ext cx="301752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  Works fully offline</a:t>
            </a:r>
            <a:endParaRPr lang="en-US" sz="1200" dirty="0"/>
          </a:p>
        </p:txBody>
      </p:sp>
      <p:sp>
        <p:nvSpPr>
          <p:cNvPr id="13" name="Shape 11"/>
          <p:cNvSpPr/>
          <p:nvPr/>
        </p:nvSpPr>
        <p:spPr>
          <a:xfrm>
            <a:off x="4297680" y="1783080"/>
            <a:ext cx="3520440" cy="2606040"/>
          </a:xfrm>
          <a:prstGeom prst="roundRect">
            <a:avLst>
              <a:gd name="adj" fmla="val 2105"/>
            </a:avLst>
          </a:prstGeom>
          <a:solidFill>
            <a:srgbClr val="151515"/>
          </a:solidFill>
          <a:ln w="12700">
            <a:solidFill>
              <a:srgbClr val="111111"/>
            </a:solidFill>
            <a:prstDash val="solid"/>
          </a:ln>
        </p:spPr>
      </p:sp>
      <p:sp>
        <p:nvSpPr>
          <p:cNvPr id="14" name="Shape 12"/>
          <p:cNvSpPr/>
          <p:nvPr/>
        </p:nvSpPr>
        <p:spPr>
          <a:xfrm>
            <a:off x="4297680" y="1783080"/>
            <a:ext cx="3520440" cy="2606040"/>
          </a:xfrm>
          <a:prstGeom prst="roundRect">
            <a:avLst>
              <a:gd name="adj" fmla="val 2105"/>
            </a:avLst>
          </a:prstGeom>
          <a:solidFill>
            <a:srgbClr val="151515"/>
          </a:solidFill>
          <a:ln w="19050">
            <a:solidFill>
              <a:srgbClr val="7B5CFF"/>
            </a:solidFill>
            <a:prstDash val="solid"/>
          </a:ln>
        </p:spPr>
      </p:sp>
      <p:sp>
        <p:nvSpPr>
          <p:cNvPr id="15" name="Shape 13"/>
          <p:cNvSpPr/>
          <p:nvPr/>
        </p:nvSpPr>
        <p:spPr>
          <a:xfrm>
            <a:off x="4572000" y="2011680"/>
            <a:ext cx="1691640" cy="347472"/>
          </a:xfrm>
          <a:prstGeom prst="roundRect">
            <a:avLst>
              <a:gd name="adj" fmla="val 26316"/>
            </a:avLst>
          </a:prstGeom>
          <a:solidFill>
            <a:srgbClr val="7B5CFF"/>
          </a:solidFill>
          <a:ln w="12700">
            <a:solidFill>
              <a:srgbClr val="7B5CFF"/>
            </a:solidFill>
            <a:prstDash val="solid"/>
          </a:ln>
        </p:spPr>
      </p:sp>
      <p:sp>
        <p:nvSpPr>
          <p:cNvPr id="16" name="Text 14"/>
          <p:cNvSpPr txBox="1"/>
          <p:nvPr/>
        </p:nvSpPr>
        <p:spPr>
          <a:xfrm>
            <a:off x="4572000" y="2011680"/>
            <a:ext cx="16916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GROQ MODE</a:t>
            </a:r>
            <a:endParaRPr lang="en-US" sz="1000" dirty="0"/>
          </a:p>
        </p:txBody>
      </p:sp>
      <p:sp>
        <p:nvSpPr>
          <p:cNvPr id="17" name="Text 15"/>
          <p:cNvSpPr txBox="1"/>
          <p:nvPr/>
        </p:nvSpPr>
        <p:spPr>
          <a:xfrm>
            <a:off x="6355080" y="2011680"/>
            <a:ext cx="1188720" cy="347472"/>
          </a:xfrm>
          <a:prstGeom prst="rect">
            <a:avLst/>
          </a:prstGeom>
          <a:noFill/>
          <a:ln/>
        </p:spPr>
        <p:txBody>
          <a:bodyPr wrap="square" lIns="0" tIns="0" rIns="0" bIns="0" rtlCol="0" anchor="ctr"/>
          <a:lstStyle/>
          <a:p>
            <a:pPr indent="0" marL="0">
              <a:buNone/>
            </a:pPr>
            <a:r>
              <a:rPr lang="en-US" sz="1000" dirty="0">
                <a:solidFill>
                  <a:srgbClr val="9A9A95"/>
                </a:solidFill>
                <a:latin typeface="Arial" pitchFamily="34" charset="0"/>
                <a:ea typeface="Arial" pitchFamily="34" charset="-122"/>
                <a:cs typeface="Arial" pitchFamily="34" charset="-120"/>
              </a:rPr>
              <a:t>Optional</a:t>
            </a:r>
            <a:endParaRPr lang="en-US" sz="1000" dirty="0"/>
          </a:p>
        </p:txBody>
      </p:sp>
      <p:sp>
        <p:nvSpPr>
          <p:cNvPr id="18" name="Text 16"/>
          <p:cNvSpPr txBox="1"/>
          <p:nvPr/>
        </p:nvSpPr>
        <p:spPr>
          <a:xfrm>
            <a:off x="4572000" y="2514600"/>
            <a:ext cx="301752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  Conversational LLM replies</a:t>
            </a:r>
            <a:endParaRPr lang="en-US" sz="1200" dirty="0"/>
          </a:p>
        </p:txBody>
      </p:sp>
      <p:sp>
        <p:nvSpPr>
          <p:cNvPr id="19" name="Text 17"/>
          <p:cNvSpPr txBox="1"/>
          <p:nvPr/>
        </p:nvSpPr>
        <p:spPr>
          <a:xfrm>
            <a:off x="4572000" y="2926080"/>
            <a:ext cx="301752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  Richer, friendlier explanations</a:t>
            </a:r>
            <a:endParaRPr lang="en-US" sz="1200" dirty="0"/>
          </a:p>
        </p:txBody>
      </p:sp>
      <p:sp>
        <p:nvSpPr>
          <p:cNvPr id="20" name="Text 18"/>
          <p:cNvSpPr txBox="1"/>
          <p:nvPr/>
        </p:nvSpPr>
        <p:spPr>
          <a:xfrm>
            <a:off x="4572000" y="3337560"/>
            <a:ext cx="301752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  Same footprint data as context</a:t>
            </a:r>
            <a:endParaRPr lang="en-US" sz="1200" dirty="0"/>
          </a:p>
        </p:txBody>
      </p:sp>
      <p:sp>
        <p:nvSpPr>
          <p:cNvPr id="21" name="Text 19"/>
          <p:cNvSpPr txBox="1"/>
          <p:nvPr/>
        </p:nvSpPr>
        <p:spPr>
          <a:xfrm>
            <a:off x="4572000" y="3749040"/>
            <a:ext cx="301752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  Silent fallback to local mode</a:t>
            </a:r>
            <a:endParaRPr lang="en-US" sz="1200" dirty="0"/>
          </a:p>
        </p:txBody>
      </p:sp>
      <p:sp>
        <p:nvSpPr>
          <p:cNvPr id="22" name="Shape 20"/>
          <p:cNvSpPr/>
          <p:nvPr/>
        </p:nvSpPr>
        <p:spPr>
          <a:xfrm>
            <a:off x="8046720" y="1783080"/>
            <a:ext cx="3566160" cy="2606040"/>
          </a:xfrm>
          <a:prstGeom prst="roundRect">
            <a:avLst>
              <a:gd name="adj" fmla="val 2105"/>
            </a:avLst>
          </a:prstGeom>
          <a:solidFill>
            <a:srgbClr val="FF5A4E"/>
          </a:solidFill>
          <a:ln w="12700">
            <a:solidFill>
              <a:srgbClr val="FF5A4E"/>
            </a:solidFill>
            <a:prstDash val="solid"/>
          </a:ln>
        </p:spPr>
      </p:sp>
      <p:sp>
        <p:nvSpPr>
          <p:cNvPr id="23" name="Text 21"/>
          <p:cNvSpPr txBox="1"/>
          <p:nvPr/>
        </p:nvSpPr>
        <p:spPr>
          <a:xfrm>
            <a:off x="8366760" y="2103120"/>
            <a:ext cx="2971800" cy="1188720"/>
          </a:xfrm>
          <a:prstGeom prst="rect">
            <a:avLst/>
          </a:prstGeom>
          <a:noFill/>
          <a:ln/>
        </p:spPr>
        <p:txBody>
          <a:bodyPr wrap="square" lIns="0" tIns="0" rIns="0" bIns="0" rtlCol="0" anchor="ctr"/>
          <a:lstStyle/>
          <a:p>
            <a:pPr indent="0" marL="0">
              <a:lnSpc>
                <a:spcPts val="2700"/>
              </a:lnSpc>
              <a:buNone/>
            </a:pPr>
            <a:r>
              <a:rPr lang="en-US" sz="2300" b="1" dirty="0">
                <a:solidFill>
                  <a:srgbClr val="FFFFFF"/>
                </a:solidFill>
                <a:latin typeface="Arial" pitchFamily="34" charset="0"/>
                <a:ea typeface="Arial" pitchFamily="34" charset="-122"/>
                <a:cs typeface="Arial" pitchFamily="34" charset="-120"/>
              </a:rPr>
              <a:t>AI does not calculate the carbon footprint.</a:t>
            </a:r>
            <a:endParaRPr lang="en-US" sz="2300" dirty="0"/>
          </a:p>
        </p:txBody>
      </p:sp>
      <p:sp>
        <p:nvSpPr>
          <p:cNvPr id="24" name="Text 22"/>
          <p:cNvSpPr txBox="1"/>
          <p:nvPr/>
        </p:nvSpPr>
        <p:spPr>
          <a:xfrm>
            <a:off x="8366760" y="3291840"/>
            <a:ext cx="2971800" cy="914400"/>
          </a:xfrm>
          <a:prstGeom prst="rect">
            <a:avLst/>
          </a:prstGeom>
          <a:noFill/>
          <a:ln/>
        </p:spPr>
        <p:txBody>
          <a:bodyPr wrap="square" lIns="0" tIns="0" rIns="0" bIns="0" rtlCol="0" anchor="ctr"/>
          <a:lstStyle/>
          <a:p>
            <a:pPr indent="0" marL="0">
              <a:lnSpc>
                <a:spcPts val="1400"/>
              </a:lnSpc>
              <a:buNone/>
            </a:pPr>
            <a:r>
              <a:rPr lang="en-US" sz="1100" dirty="0">
                <a:solidFill>
                  <a:srgbClr val="FFE6E3"/>
                </a:solidFill>
                <a:latin typeface="Arial" pitchFamily="34" charset="0"/>
                <a:ea typeface="Arial" pitchFamily="34" charset="-122"/>
                <a:cs typeface="Arial" pitchFamily="34" charset="-120"/>
              </a:rPr>
              <a:t>Every number comes from the deterministic calculation engine. The Coach only reads results that already exist.</a:t>
            </a:r>
            <a:endParaRPr lang="en-US" sz="1100" dirty="0"/>
          </a:p>
        </p:txBody>
      </p:sp>
      <p:sp>
        <p:nvSpPr>
          <p:cNvPr id="25" name="Text 23"/>
          <p:cNvSpPr txBox="1"/>
          <p:nvPr/>
        </p:nvSpPr>
        <p:spPr>
          <a:xfrm>
            <a:off x="548640" y="4709160"/>
            <a:ext cx="5486400" cy="274320"/>
          </a:xfrm>
          <a:prstGeom prst="rect">
            <a:avLst/>
          </a:prstGeom>
          <a:noFill/>
          <a:ln/>
        </p:spPr>
        <p:txBody>
          <a:bodyPr wrap="square" lIns="0" tIns="0" rIns="0" bIns="0" rtlCol="0" anchor="ctr"/>
          <a:lstStyle/>
          <a:p>
            <a:pPr indent="0" marL="0">
              <a:buNone/>
            </a:pPr>
            <a:r>
              <a:rPr lang="en-US" sz="1000" b="1" spc="200" kern="0" dirty="0">
                <a:solidFill>
                  <a:srgbClr val="8C8C86"/>
                </a:solidFill>
                <a:latin typeface="Arial" pitchFamily="34" charset="0"/>
                <a:ea typeface="Arial" pitchFamily="34" charset="-122"/>
                <a:cs typeface="Arial" pitchFamily="34" charset="-120"/>
              </a:rPr>
              <a:t>THE ACTUAL PIPELINE</a:t>
            </a:r>
            <a:endParaRPr lang="en-US" sz="1000" dirty="0"/>
          </a:p>
        </p:txBody>
      </p:sp>
      <p:sp>
        <p:nvSpPr>
          <p:cNvPr id="26" name="Shape 24"/>
          <p:cNvSpPr/>
          <p:nvPr/>
        </p:nvSpPr>
        <p:spPr>
          <a:xfrm>
            <a:off x="548640" y="5029200"/>
            <a:ext cx="1965960" cy="640080"/>
          </a:xfrm>
          <a:prstGeom prst="roundRect">
            <a:avLst>
              <a:gd name="adj" fmla="val 14286"/>
            </a:avLst>
          </a:prstGeom>
          <a:solidFill>
            <a:srgbClr val="FFFFFF"/>
          </a:solidFill>
          <a:ln w="12700">
            <a:solidFill>
              <a:srgbClr val="111111"/>
            </a:solidFill>
            <a:prstDash val="solid"/>
          </a:ln>
        </p:spPr>
      </p:sp>
      <p:sp>
        <p:nvSpPr>
          <p:cNvPr id="27" name="Text 25"/>
          <p:cNvSpPr txBox="1"/>
          <p:nvPr/>
        </p:nvSpPr>
        <p:spPr>
          <a:xfrm>
            <a:off x="548640" y="5029200"/>
            <a:ext cx="1965960" cy="640080"/>
          </a:xfrm>
          <a:prstGeom prst="rect">
            <a:avLst/>
          </a:prstGeom>
          <a:noFill/>
          <a:ln/>
        </p:spPr>
        <p:txBody>
          <a:bodyPr wrap="square" lIns="0" tIns="0" rIns="0" bIns="0" rtlCol="0" anchor="ctr"/>
          <a:lstStyle/>
          <a:p>
            <a:pPr algn="ctr" indent="0" marL="0">
              <a:buNone/>
            </a:pPr>
            <a:r>
              <a:rPr lang="en-US" sz="1200" b="1" dirty="0">
                <a:solidFill>
                  <a:srgbClr val="0B0B0B"/>
                </a:solidFill>
                <a:latin typeface="Arial" pitchFamily="34" charset="0"/>
                <a:ea typeface="Arial" pitchFamily="34" charset="-122"/>
                <a:cs typeface="Arial" pitchFamily="34" charset="-120"/>
              </a:rPr>
              <a:t>Real data</a:t>
            </a:r>
            <a:endParaRPr lang="en-US" sz="1200" dirty="0"/>
          </a:p>
        </p:txBody>
      </p:sp>
      <p:sp>
        <p:nvSpPr>
          <p:cNvPr id="28" name="Text 26"/>
          <p:cNvSpPr txBox="1"/>
          <p:nvPr/>
        </p:nvSpPr>
        <p:spPr>
          <a:xfrm>
            <a:off x="2514600" y="5029200"/>
            <a:ext cx="274320" cy="274320"/>
          </a:xfrm>
          <a:prstGeom prst="rect">
            <a:avLst/>
          </a:prstGeom>
          <a:noFill/>
          <a:ln/>
        </p:spPr>
        <p:txBody>
          <a:bodyPr wrap="square" lIns="0" tIns="0" rIns="0" bIns="0" rtlCol="0" anchor="ctr"/>
          <a:lstStyle/>
          <a:p>
            <a:pPr algn="ctr" indent="0" marL="0">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2788920" y="5029200"/>
            <a:ext cx="1965960" cy="640080"/>
          </a:xfrm>
          <a:prstGeom prst="roundRect">
            <a:avLst>
              <a:gd name="adj" fmla="val 14286"/>
            </a:avLst>
          </a:prstGeom>
          <a:solidFill>
            <a:srgbClr val="00BFD8"/>
          </a:solidFill>
          <a:ln w="12700">
            <a:solidFill>
              <a:srgbClr val="00BFD8"/>
            </a:solidFill>
            <a:prstDash val="solid"/>
          </a:ln>
        </p:spPr>
      </p:sp>
      <p:sp>
        <p:nvSpPr>
          <p:cNvPr id="30" name="Text 28"/>
          <p:cNvSpPr txBox="1"/>
          <p:nvPr/>
        </p:nvSpPr>
        <p:spPr>
          <a:xfrm>
            <a:off x="2788920" y="5029200"/>
            <a:ext cx="19659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Calculation engine</a:t>
            </a:r>
            <a:endParaRPr lang="en-US" sz="1200" dirty="0"/>
          </a:p>
        </p:txBody>
      </p:sp>
      <p:sp>
        <p:nvSpPr>
          <p:cNvPr id="31" name="Text 29"/>
          <p:cNvSpPr txBox="1"/>
          <p:nvPr/>
        </p:nvSpPr>
        <p:spPr>
          <a:xfrm>
            <a:off x="4754880" y="5029200"/>
            <a:ext cx="274320" cy="274320"/>
          </a:xfrm>
          <a:prstGeom prst="rect">
            <a:avLst/>
          </a:prstGeom>
          <a:noFill/>
          <a:ln/>
        </p:spPr>
        <p:txBody>
          <a:bodyPr wrap="square" lIns="0" tIns="0" rIns="0" bIns="0" rtlCol="0" anchor="ctr"/>
          <a:lstStyle/>
          <a:p>
            <a:pPr algn="ctr" indent="0" marL="0">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32" name="Shape 30"/>
          <p:cNvSpPr/>
          <p:nvPr/>
        </p:nvSpPr>
        <p:spPr>
          <a:xfrm>
            <a:off x="5029200" y="5029200"/>
            <a:ext cx="1965960" cy="640080"/>
          </a:xfrm>
          <a:prstGeom prst="roundRect">
            <a:avLst>
              <a:gd name="adj" fmla="val 14286"/>
            </a:avLst>
          </a:prstGeom>
          <a:solidFill>
            <a:srgbClr val="1F6FEB"/>
          </a:solidFill>
          <a:ln w="12700">
            <a:solidFill>
              <a:srgbClr val="1F6FEB"/>
            </a:solidFill>
            <a:prstDash val="solid"/>
          </a:ln>
        </p:spPr>
      </p:sp>
      <p:sp>
        <p:nvSpPr>
          <p:cNvPr id="33" name="Text 31"/>
          <p:cNvSpPr txBox="1"/>
          <p:nvPr/>
        </p:nvSpPr>
        <p:spPr>
          <a:xfrm>
            <a:off x="5029200" y="5029200"/>
            <a:ext cx="19659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Recommendations &amp; insights</a:t>
            </a:r>
            <a:endParaRPr lang="en-US" sz="1200" dirty="0"/>
          </a:p>
        </p:txBody>
      </p:sp>
      <p:sp>
        <p:nvSpPr>
          <p:cNvPr id="34" name="Text 32"/>
          <p:cNvSpPr txBox="1"/>
          <p:nvPr/>
        </p:nvSpPr>
        <p:spPr>
          <a:xfrm>
            <a:off x="6995160" y="5029200"/>
            <a:ext cx="274320" cy="274320"/>
          </a:xfrm>
          <a:prstGeom prst="rect">
            <a:avLst/>
          </a:prstGeom>
          <a:noFill/>
          <a:ln/>
        </p:spPr>
        <p:txBody>
          <a:bodyPr wrap="square" lIns="0" tIns="0" rIns="0" bIns="0" rtlCol="0" anchor="ctr"/>
          <a:lstStyle/>
          <a:p>
            <a:pPr algn="ctr" indent="0" marL="0">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35" name="Shape 33"/>
          <p:cNvSpPr/>
          <p:nvPr/>
        </p:nvSpPr>
        <p:spPr>
          <a:xfrm>
            <a:off x="7269480" y="5029200"/>
            <a:ext cx="1965960" cy="640080"/>
          </a:xfrm>
          <a:prstGeom prst="roundRect">
            <a:avLst>
              <a:gd name="adj" fmla="val 14286"/>
            </a:avLst>
          </a:prstGeom>
          <a:solidFill>
            <a:srgbClr val="7B5CFF"/>
          </a:solidFill>
          <a:ln w="12700">
            <a:solidFill>
              <a:srgbClr val="7B5CFF"/>
            </a:solidFill>
            <a:prstDash val="solid"/>
          </a:ln>
        </p:spPr>
      </p:sp>
      <p:sp>
        <p:nvSpPr>
          <p:cNvPr id="36" name="Text 34"/>
          <p:cNvSpPr txBox="1"/>
          <p:nvPr/>
        </p:nvSpPr>
        <p:spPr>
          <a:xfrm>
            <a:off x="7269480" y="5029200"/>
            <a:ext cx="196596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Carbon Coach</a:t>
            </a:r>
            <a:endParaRPr lang="en-US" sz="1200" dirty="0"/>
          </a:p>
        </p:txBody>
      </p:sp>
      <p:sp>
        <p:nvSpPr>
          <p:cNvPr id="37" name="Text 35"/>
          <p:cNvSpPr txBox="1"/>
          <p:nvPr/>
        </p:nvSpPr>
        <p:spPr>
          <a:xfrm>
            <a:off x="9235440" y="5029200"/>
            <a:ext cx="274320" cy="274320"/>
          </a:xfrm>
          <a:prstGeom prst="rect">
            <a:avLst/>
          </a:prstGeom>
          <a:noFill/>
          <a:ln/>
        </p:spPr>
        <p:txBody>
          <a:bodyPr wrap="square" lIns="0" tIns="0" rIns="0" bIns="0" rtlCol="0" anchor="ctr"/>
          <a:lstStyle/>
          <a:p>
            <a:pPr algn="ctr" indent="0" marL="0">
              <a:buNone/>
            </a:pPr>
            <a:r>
              <a:rPr lang="en-US" sz="1600" b="1" dirty="0">
                <a:solidFill>
                  <a:srgbClr val="8C8C86"/>
                </a:solidFill>
                <a:latin typeface="Arial" pitchFamily="34" charset="0"/>
                <a:ea typeface="Arial" pitchFamily="34" charset="-122"/>
                <a:cs typeface="Arial" pitchFamily="34" charset="-120"/>
              </a:rPr>
              <a:t>→</a:t>
            </a:r>
            <a:endParaRPr lang="en-US" sz="1600" dirty="0"/>
          </a:p>
        </p:txBody>
      </p:sp>
      <p:sp>
        <p:nvSpPr>
          <p:cNvPr id="38" name="Shape 36"/>
          <p:cNvSpPr/>
          <p:nvPr/>
        </p:nvSpPr>
        <p:spPr>
          <a:xfrm>
            <a:off x="9509760" y="5029200"/>
            <a:ext cx="1965960" cy="640080"/>
          </a:xfrm>
          <a:prstGeom prst="roundRect">
            <a:avLst>
              <a:gd name="adj" fmla="val 14286"/>
            </a:avLst>
          </a:prstGeom>
          <a:solidFill>
            <a:srgbClr val="FFC93C"/>
          </a:solidFill>
          <a:ln w="12700">
            <a:solidFill>
              <a:srgbClr val="FFC93C"/>
            </a:solidFill>
            <a:prstDash val="solid"/>
          </a:ln>
        </p:spPr>
      </p:sp>
      <p:sp>
        <p:nvSpPr>
          <p:cNvPr id="39" name="Text 37"/>
          <p:cNvSpPr txBox="1"/>
          <p:nvPr/>
        </p:nvSpPr>
        <p:spPr>
          <a:xfrm>
            <a:off x="9509760" y="5029200"/>
            <a:ext cx="1965960" cy="640080"/>
          </a:xfrm>
          <a:prstGeom prst="rect">
            <a:avLst/>
          </a:prstGeom>
          <a:noFill/>
          <a:ln/>
        </p:spPr>
        <p:txBody>
          <a:bodyPr wrap="square" lIns="0" tIns="0" rIns="0" bIns="0" rtlCol="0" anchor="ctr"/>
          <a:lstStyle/>
          <a:p>
            <a:pPr algn="ctr" indent="0" marL="0">
              <a:buNone/>
            </a:pPr>
            <a:r>
              <a:rPr lang="en-US" sz="1200" b="1" dirty="0">
                <a:solidFill>
                  <a:srgbClr val="0B0B0B"/>
                </a:solidFill>
                <a:latin typeface="Arial" pitchFamily="34" charset="0"/>
                <a:ea typeface="Arial" pitchFamily="34" charset="-122"/>
                <a:cs typeface="Arial" pitchFamily="34" charset="-120"/>
              </a:rPr>
              <a:t>User explanation</a:t>
            </a:r>
            <a:endParaRPr lang="en-US" sz="1200" dirty="0"/>
          </a:p>
        </p:txBody>
      </p:sp>
      <p:sp>
        <p:nvSpPr>
          <p:cNvPr id="40" name="Text 38"/>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00" dirty="0">
                <a:solidFill>
                  <a:srgbClr val="9A9A95"/>
                </a:solidFill>
                <a:latin typeface="Arial" pitchFamily="34" charset="0"/>
                <a:ea typeface="Arial" pitchFamily="34" charset="-122"/>
                <a:cs typeface="Arial" pitchFamily="34" charset="-120"/>
              </a:rPr>
              <a:t>Engineering decision: numerical trust comes from deterministic code; language comprehension is where AI adds value.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111111"/>
                </a:solidFill>
                <a:latin typeface="Arial" pitchFamily="34" charset="0"/>
                <a:ea typeface="Arial" pitchFamily="34" charset="-122"/>
                <a:cs typeface="Arial" pitchFamily="34" charset="-120"/>
              </a:rPr>
              <a:t>Technical architecture</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indent="0" marL="0">
              <a:buNone/>
            </a:pPr>
            <a:r>
              <a:rPr lang="en-US" sz="1400" dirty="0">
                <a:solidFill>
                  <a:srgbClr val="8C8C86"/>
                </a:solidFill>
                <a:latin typeface="Arial" pitchFamily="34" charset="0"/>
                <a:ea typeface="Arial" pitchFamily="34" charset="-122"/>
                <a:cs typeface="Arial" pitchFamily="34" charset="-120"/>
              </a:rPr>
              <a:t>Layered, with pure calculation logic isolated from the framework.</a:t>
            </a:r>
            <a:endParaRPr lang="en-US" sz="1400" dirty="0"/>
          </a:p>
        </p:txBody>
      </p:sp>
      <p:sp>
        <p:nvSpPr>
          <p:cNvPr id="4" name="Shape 2"/>
          <p:cNvSpPr/>
          <p:nvPr/>
        </p:nvSpPr>
        <p:spPr>
          <a:xfrm>
            <a:off x="548640" y="1783080"/>
            <a:ext cx="6400800" cy="512064"/>
          </a:xfrm>
          <a:prstGeom prst="roundRect">
            <a:avLst>
              <a:gd name="adj" fmla="val 14286"/>
            </a:avLst>
          </a:prstGeom>
          <a:solidFill>
            <a:srgbClr val="FFFFFF"/>
          </a:solidFill>
          <a:ln w="12700">
            <a:solidFill>
              <a:srgbClr val="111111"/>
            </a:solidFill>
            <a:prstDash val="solid"/>
          </a:ln>
        </p:spPr>
      </p:sp>
      <p:sp>
        <p:nvSpPr>
          <p:cNvPr id="5" name="Shape 3"/>
          <p:cNvSpPr/>
          <p:nvPr/>
        </p:nvSpPr>
        <p:spPr>
          <a:xfrm>
            <a:off x="777240" y="1938528"/>
            <a:ext cx="201168" cy="201168"/>
          </a:xfrm>
          <a:prstGeom prst="ellipse">
            <a:avLst/>
          </a:prstGeom>
          <a:solidFill>
            <a:srgbClr val="00BFD8"/>
          </a:solidFill>
          <a:ln w="12700">
            <a:solidFill>
              <a:srgbClr val="00BFD8"/>
            </a:solidFill>
            <a:prstDash val="solid"/>
          </a:ln>
        </p:spPr>
      </p:sp>
      <p:sp>
        <p:nvSpPr>
          <p:cNvPr id="6" name="Text 4"/>
          <p:cNvSpPr txBox="1"/>
          <p:nvPr/>
        </p:nvSpPr>
        <p:spPr>
          <a:xfrm>
            <a:off x="1097280" y="1847088"/>
            <a:ext cx="32918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Next.js 14 / React / TypeScript</a:t>
            </a:r>
            <a:endParaRPr lang="en-US" sz="1300" dirty="0"/>
          </a:p>
        </p:txBody>
      </p:sp>
      <p:sp>
        <p:nvSpPr>
          <p:cNvPr id="7" name="Text 5"/>
          <p:cNvSpPr txBox="1"/>
          <p:nvPr/>
        </p:nvSpPr>
        <p:spPr>
          <a:xfrm>
            <a:off x="4206240" y="1847088"/>
            <a:ext cx="2606040" cy="384048"/>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Pages, dashboard, simulator, diary UI</a:t>
            </a:r>
            <a:endParaRPr lang="en-US" sz="1000" dirty="0"/>
          </a:p>
        </p:txBody>
      </p:sp>
      <p:sp>
        <p:nvSpPr>
          <p:cNvPr id="8" name="Text 6"/>
          <p:cNvSpPr txBox="1"/>
          <p:nvPr/>
        </p:nvSpPr>
        <p:spPr>
          <a:xfrm>
            <a:off x="868680" y="2276856"/>
            <a:ext cx="274320" cy="146304"/>
          </a:xfrm>
          <a:prstGeom prst="rect">
            <a:avLst/>
          </a:prstGeom>
          <a:noFill/>
          <a:ln/>
        </p:spPr>
        <p:txBody>
          <a:bodyPr wrap="square" lIns="0" tIns="0" rIns="0" bIns="0" rtlCol="0" anchor="ctr"/>
          <a:lstStyle/>
          <a:p>
            <a:pPr algn="ctr" indent="0" marL="0">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9" name="Shape 7"/>
          <p:cNvSpPr/>
          <p:nvPr/>
        </p:nvSpPr>
        <p:spPr>
          <a:xfrm>
            <a:off x="548640" y="2404872"/>
            <a:ext cx="6400800" cy="512064"/>
          </a:xfrm>
          <a:prstGeom prst="roundRect">
            <a:avLst>
              <a:gd name="adj" fmla="val 14286"/>
            </a:avLst>
          </a:prstGeom>
          <a:solidFill>
            <a:srgbClr val="FFFFFF"/>
          </a:solidFill>
          <a:ln w="12700">
            <a:solidFill>
              <a:srgbClr val="111111"/>
            </a:solidFill>
            <a:prstDash val="solid"/>
          </a:ln>
        </p:spPr>
      </p:sp>
      <p:sp>
        <p:nvSpPr>
          <p:cNvPr id="10" name="Shape 8"/>
          <p:cNvSpPr/>
          <p:nvPr/>
        </p:nvSpPr>
        <p:spPr>
          <a:xfrm>
            <a:off x="777240" y="2560320"/>
            <a:ext cx="201168" cy="201168"/>
          </a:xfrm>
          <a:prstGeom prst="ellipse">
            <a:avLst/>
          </a:prstGeom>
          <a:solidFill>
            <a:srgbClr val="00BFD8"/>
          </a:solidFill>
          <a:ln w="12700">
            <a:solidFill>
              <a:srgbClr val="00BFD8"/>
            </a:solidFill>
            <a:prstDash val="solid"/>
          </a:ln>
        </p:spPr>
      </p:sp>
      <p:sp>
        <p:nvSpPr>
          <p:cNvPr id="11" name="Text 9"/>
          <p:cNvSpPr txBox="1"/>
          <p:nvPr/>
        </p:nvSpPr>
        <p:spPr>
          <a:xfrm>
            <a:off x="1097280" y="2468880"/>
            <a:ext cx="32918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API route handlers</a:t>
            </a:r>
            <a:endParaRPr lang="en-US" sz="1300" dirty="0"/>
          </a:p>
        </p:txBody>
      </p:sp>
      <p:sp>
        <p:nvSpPr>
          <p:cNvPr id="12" name="Text 10"/>
          <p:cNvSpPr txBox="1"/>
          <p:nvPr/>
        </p:nvSpPr>
        <p:spPr>
          <a:xfrm>
            <a:off x="4206240" y="2468880"/>
            <a:ext cx="2606040" cy="384048"/>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16 REST endpoints</a:t>
            </a:r>
            <a:endParaRPr lang="en-US" sz="1000" dirty="0"/>
          </a:p>
        </p:txBody>
      </p:sp>
      <p:sp>
        <p:nvSpPr>
          <p:cNvPr id="13" name="Text 11"/>
          <p:cNvSpPr txBox="1"/>
          <p:nvPr/>
        </p:nvSpPr>
        <p:spPr>
          <a:xfrm>
            <a:off x="868680" y="2898648"/>
            <a:ext cx="274320" cy="146304"/>
          </a:xfrm>
          <a:prstGeom prst="rect">
            <a:avLst/>
          </a:prstGeom>
          <a:noFill/>
          <a:ln/>
        </p:spPr>
        <p:txBody>
          <a:bodyPr wrap="square" lIns="0" tIns="0" rIns="0" bIns="0" rtlCol="0" anchor="ctr"/>
          <a:lstStyle/>
          <a:p>
            <a:pPr algn="ctr" indent="0" marL="0">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14" name="Shape 12"/>
          <p:cNvSpPr/>
          <p:nvPr/>
        </p:nvSpPr>
        <p:spPr>
          <a:xfrm>
            <a:off x="548640" y="3026664"/>
            <a:ext cx="6400800" cy="512064"/>
          </a:xfrm>
          <a:prstGeom prst="roundRect">
            <a:avLst>
              <a:gd name="adj" fmla="val 14286"/>
            </a:avLst>
          </a:prstGeom>
          <a:solidFill>
            <a:srgbClr val="FFFFFF"/>
          </a:solidFill>
          <a:ln w="12700">
            <a:solidFill>
              <a:srgbClr val="111111"/>
            </a:solidFill>
            <a:prstDash val="solid"/>
          </a:ln>
        </p:spPr>
      </p:sp>
      <p:sp>
        <p:nvSpPr>
          <p:cNvPr id="15" name="Shape 13"/>
          <p:cNvSpPr/>
          <p:nvPr/>
        </p:nvSpPr>
        <p:spPr>
          <a:xfrm>
            <a:off x="777240" y="3182112"/>
            <a:ext cx="201168" cy="201168"/>
          </a:xfrm>
          <a:prstGeom prst="ellipse">
            <a:avLst/>
          </a:prstGeom>
          <a:solidFill>
            <a:srgbClr val="1F6FEB"/>
          </a:solidFill>
          <a:ln w="12700">
            <a:solidFill>
              <a:srgbClr val="1F6FEB"/>
            </a:solidFill>
            <a:prstDash val="solid"/>
          </a:ln>
        </p:spPr>
      </p:sp>
      <p:sp>
        <p:nvSpPr>
          <p:cNvPr id="16" name="Text 14"/>
          <p:cNvSpPr txBox="1"/>
          <p:nvPr/>
        </p:nvSpPr>
        <p:spPr>
          <a:xfrm>
            <a:off x="1097280" y="3090672"/>
            <a:ext cx="32918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Authentication + validation</a:t>
            </a:r>
            <a:endParaRPr lang="en-US" sz="1300" dirty="0"/>
          </a:p>
        </p:txBody>
      </p:sp>
      <p:sp>
        <p:nvSpPr>
          <p:cNvPr id="17" name="Text 15"/>
          <p:cNvSpPr txBox="1"/>
          <p:nvPr/>
        </p:nvSpPr>
        <p:spPr>
          <a:xfrm>
            <a:off x="4206240" y="3090672"/>
            <a:ext cx="2606040" cy="384048"/>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JWT session cookie, Zod schema checks</a:t>
            </a:r>
            <a:endParaRPr lang="en-US" sz="1000" dirty="0"/>
          </a:p>
        </p:txBody>
      </p:sp>
      <p:sp>
        <p:nvSpPr>
          <p:cNvPr id="18" name="Text 16"/>
          <p:cNvSpPr txBox="1"/>
          <p:nvPr/>
        </p:nvSpPr>
        <p:spPr>
          <a:xfrm>
            <a:off x="868680" y="3520440"/>
            <a:ext cx="274320" cy="146304"/>
          </a:xfrm>
          <a:prstGeom prst="rect">
            <a:avLst/>
          </a:prstGeom>
          <a:noFill/>
          <a:ln/>
        </p:spPr>
        <p:txBody>
          <a:bodyPr wrap="square" lIns="0" tIns="0" rIns="0" bIns="0" rtlCol="0" anchor="ctr"/>
          <a:lstStyle/>
          <a:p>
            <a:pPr algn="ctr" indent="0" marL="0">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19" name="Shape 17"/>
          <p:cNvSpPr/>
          <p:nvPr/>
        </p:nvSpPr>
        <p:spPr>
          <a:xfrm>
            <a:off x="548640" y="3648456"/>
            <a:ext cx="6400800" cy="512064"/>
          </a:xfrm>
          <a:prstGeom prst="roundRect">
            <a:avLst>
              <a:gd name="adj" fmla="val 14286"/>
            </a:avLst>
          </a:prstGeom>
          <a:solidFill>
            <a:srgbClr val="FFFFFF"/>
          </a:solidFill>
          <a:ln w="12700">
            <a:solidFill>
              <a:srgbClr val="111111"/>
            </a:solidFill>
            <a:prstDash val="solid"/>
          </a:ln>
        </p:spPr>
      </p:sp>
      <p:sp>
        <p:nvSpPr>
          <p:cNvPr id="20" name="Shape 18"/>
          <p:cNvSpPr/>
          <p:nvPr/>
        </p:nvSpPr>
        <p:spPr>
          <a:xfrm>
            <a:off x="777240" y="3803904"/>
            <a:ext cx="201168" cy="201168"/>
          </a:xfrm>
          <a:prstGeom prst="ellipse">
            <a:avLst/>
          </a:prstGeom>
          <a:solidFill>
            <a:srgbClr val="1F6FEB"/>
          </a:solidFill>
          <a:ln w="12700">
            <a:solidFill>
              <a:srgbClr val="1F6FEB"/>
            </a:solidFill>
            <a:prstDash val="solid"/>
          </a:ln>
        </p:spPr>
      </p:sp>
      <p:sp>
        <p:nvSpPr>
          <p:cNvPr id="21" name="Text 19"/>
          <p:cNvSpPr txBox="1"/>
          <p:nvPr/>
        </p:nvSpPr>
        <p:spPr>
          <a:xfrm>
            <a:off x="1097280" y="3712464"/>
            <a:ext cx="32918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Application services</a:t>
            </a:r>
            <a:endParaRPr lang="en-US" sz="1300" dirty="0"/>
          </a:p>
        </p:txBody>
      </p:sp>
      <p:sp>
        <p:nvSpPr>
          <p:cNvPr id="22" name="Text 20"/>
          <p:cNvSpPr txBox="1"/>
          <p:nvPr/>
        </p:nvSpPr>
        <p:spPr>
          <a:xfrm>
            <a:off x="4206240" y="3712464"/>
            <a:ext cx="2606040" cy="384048"/>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Orchestration, factor caching, goal workflows</a:t>
            </a:r>
            <a:endParaRPr lang="en-US" sz="1000" dirty="0"/>
          </a:p>
        </p:txBody>
      </p:sp>
      <p:sp>
        <p:nvSpPr>
          <p:cNvPr id="23" name="Text 21"/>
          <p:cNvSpPr txBox="1"/>
          <p:nvPr/>
        </p:nvSpPr>
        <p:spPr>
          <a:xfrm>
            <a:off x="868680" y="4142232"/>
            <a:ext cx="274320" cy="146304"/>
          </a:xfrm>
          <a:prstGeom prst="rect">
            <a:avLst/>
          </a:prstGeom>
          <a:noFill/>
          <a:ln/>
        </p:spPr>
        <p:txBody>
          <a:bodyPr wrap="square" lIns="0" tIns="0" rIns="0" bIns="0" rtlCol="0" anchor="ctr"/>
          <a:lstStyle/>
          <a:p>
            <a:pPr algn="ctr" indent="0" marL="0">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24" name="Shape 22"/>
          <p:cNvSpPr/>
          <p:nvPr/>
        </p:nvSpPr>
        <p:spPr>
          <a:xfrm>
            <a:off x="548640" y="4270248"/>
            <a:ext cx="6400800" cy="512064"/>
          </a:xfrm>
          <a:prstGeom prst="roundRect">
            <a:avLst>
              <a:gd name="adj" fmla="val 14286"/>
            </a:avLst>
          </a:prstGeom>
          <a:solidFill>
            <a:srgbClr val="FFFFFF"/>
          </a:solidFill>
          <a:ln w="12700">
            <a:solidFill>
              <a:srgbClr val="111111"/>
            </a:solidFill>
            <a:prstDash val="solid"/>
          </a:ln>
        </p:spPr>
      </p:sp>
      <p:sp>
        <p:nvSpPr>
          <p:cNvPr id="25" name="Shape 23"/>
          <p:cNvSpPr/>
          <p:nvPr/>
        </p:nvSpPr>
        <p:spPr>
          <a:xfrm>
            <a:off x="777240" y="4425696"/>
            <a:ext cx="201168" cy="201168"/>
          </a:xfrm>
          <a:prstGeom prst="ellipse">
            <a:avLst/>
          </a:prstGeom>
          <a:solidFill>
            <a:srgbClr val="7B5CFF"/>
          </a:solidFill>
          <a:ln w="12700">
            <a:solidFill>
              <a:srgbClr val="7B5CFF"/>
            </a:solidFill>
            <a:prstDash val="solid"/>
          </a:ln>
        </p:spPr>
      </p:sp>
      <p:sp>
        <p:nvSpPr>
          <p:cNvPr id="26" name="Text 24"/>
          <p:cNvSpPr txBox="1"/>
          <p:nvPr/>
        </p:nvSpPr>
        <p:spPr>
          <a:xfrm>
            <a:off x="1097280" y="4334256"/>
            <a:ext cx="32918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Pure domain engines</a:t>
            </a:r>
            <a:endParaRPr lang="en-US" sz="1300" dirty="0"/>
          </a:p>
        </p:txBody>
      </p:sp>
      <p:sp>
        <p:nvSpPr>
          <p:cNvPr id="27" name="Text 25"/>
          <p:cNvSpPr txBox="1"/>
          <p:nvPr/>
        </p:nvSpPr>
        <p:spPr>
          <a:xfrm>
            <a:off x="4206240" y="4334256"/>
            <a:ext cx="2606040" cy="384048"/>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Side-effect-free business maths</a:t>
            </a:r>
            <a:endParaRPr lang="en-US" sz="1000" dirty="0"/>
          </a:p>
        </p:txBody>
      </p:sp>
      <p:sp>
        <p:nvSpPr>
          <p:cNvPr id="28" name="Text 26"/>
          <p:cNvSpPr txBox="1"/>
          <p:nvPr/>
        </p:nvSpPr>
        <p:spPr>
          <a:xfrm>
            <a:off x="868680" y="4764024"/>
            <a:ext cx="274320" cy="146304"/>
          </a:xfrm>
          <a:prstGeom prst="rect">
            <a:avLst/>
          </a:prstGeom>
          <a:noFill/>
          <a:ln/>
        </p:spPr>
        <p:txBody>
          <a:bodyPr wrap="square" lIns="0" tIns="0" rIns="0" bIns="0" rtlCol="0" anchor="ctr"/>
          <a:lstStyle/>
          <a:p>
            <a:pPr algn="ctr" indent="0" marL="0">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29" name="Shape 27"/>
          <p:cNvSpPr/>
          <p:nvPr/>
        </p:nvSpPr>
        <p:spPr>
          <a:xfrm>
            <a:off x="548640" y="4892040"/>
            <a:ext cx="6400800" cy="512064"/>
          </a:xfrm>
          <a:prstGeom prst="roundRect">
            <a:avLst>
              <a:gd name="adj" fmla="val 14286"/>
            </a:avLst>
          </a:prstGeom>
          <a:solidFill>
            <a:srgbClr val="FFFFFF"/>
          </a:solidFill>
          <a:ln w="12700">
            <a:solidFill>
              <a:srgbClr val="111111"/>
            </a:solidFill>
            <a:prstDash val="solid"/>
          </a:ln>
        </p:spPr>
      </p:sp>
      <p:sp>
        <p:nvSpPr>
          <p:cNvPr id="30" name="Shape 28"/>
          <p:cNvSpPr/>
          <p:nvPr/>
        </p:nvSpPr>
        <p:spPr>
          <a:xfrm>
            <a:off x="777240" y="5047488"/>
            <a:ext cx="201168" cy="201168"/>
          </a:xfrm>
          <a:prstGeom prst="ellipse">
            <a:avLst/>
          </a:prstGeom>
          <a:solidFill>
            <a:srgbClr val="FF5A4E"/>
          </a:solidFill>
          <a:ln w="12700">
            <a:solidFill>
              <a:srgbClr val="FF5A4E"/>
            </a:solidFill>
            <a:prstDash val="solid"/>
          </a:ln>
        </p:spPr>
      </p:sp>
      <p:sp>
        <p:nvSpPr>
          <p:cNvPr id="31" name="Text 29"/>
          <p:cNvSpPr txBox="1"/>
          <p:nvPr/>
        </p:nvSpPr>
        <p:spPr>
          <a:xfrm>
            <a:off x="1097280" y="4956048"/>
            <a:ext cx="32918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Prisma ORM</a:t>
            </a:r>
            <a:endParaRPr lang="en-US" sz="1300" dirty="0"/>
          </a:p>
        </p:txBody>
      </p:sp>
      <p:sp>
        <p:nvSpPr>
          <p:cNvPr id="32" name="Text 30"/>
          <p:cNvSpPr txBox="1"/>
          <p:nvPr/>
        </p:nvSpPr>
        <p:spPr>
          <a:xfrm>
            <a:off x="4206240" y="4956048"/>
            <a:ext cx="2606040" cy="384048"/>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Type-safe data access, 11 models</a:t>
            </a:r>
            <a:endParaRPr lang="en-US" sz="1000" dirty="0"/>
          </a:p>
        </p:txBody>
      </p:sp>
      <p:sp>
        <p:nvSpPr>
          <p:cNvPr id="33" name="Text 31"/>
          <p:cNvSpPr txBox="1"/>
          <p:nvPr/>
        </p:nvSpPr>
        <p:spPr>
          <a:xfrm>
            <a:off x="868680" y="5385816"/>
            <a:ext cx="274320" cy="146304"/>
          </a:xfrm>
          <a:prstGeom prst="rect">
            <a:avLst/>
          </a:prstGeom>
          <a:noFill/>
          <a:ln/>
        </p:spPr>
        <p:txBody>
          <a:bodyPr wrap="square" lIns="0" tIns="0" rIns="0" bIns="0" rtlCol="0" anchor="ctr"/>
          <a:lstStyle/>
          <a:p>
            <a:pPr algn="ctr" indent="0" marL="0">
              <a:buNone/>
            </a:pPr>
            <a:r>
              <a:rPr lang="en-US" sz="1000" dirty="0">
                <a:solidFill>
                  <a:srgbClr val="8C8C86"/>
                </a:solidFill>
                <a:latin typeface="Arial" pitchFamily="34" charset="0"/>
                <a:ea typeface="Arial" pitchFamily="34" charset="-122"/>
                <a:cs typeface="Arial" pitchFamily="34" charset="-120"/>
              </a:rPr>
              <a:t>↓</a:t>
            </a:r>
            <a:endParaRPr lang="en-US" sz="1000" dirty="0"/>
          </a:p>
        </p:txBody>
      </p:sp>
      <p:sp>
        <p:nvSpPr>
          <p:cNvPr id="34" name="Shape 32"/>
          <p:cNvSpPr/>
          <p:nvPr/>
        </p:nvSpPr>
        <p:spPr>
          <a:xfrm>
            <a:off x="548640" y="5513832"/>
            <a:ext cx="6400800" cy="512064"/>
          </a:xfrm>
          <a:prstGeom prst="roundRect">
            <a:avLst>
              <a:gd name="adj" fmla="val 14286"/>
            </a:avLst>
          </a:prstGeom>
          <a:solidFill>
            <a:srgbClr val="FFFFFF"/>
          </a:solidFill>
          <a:ln w="12700">
            <a:solidFill>
              <a:srgbClr val="111111"/>
            </a:solidFill>
            <a:prstDash val="solid"/>
          </a:ln>
        </p:spPr>
      </p:sp>
      <p:sp>
        <p:nvSpPr>
          <p:cNvPr id="35" name="Shape 33"/>
          <p:cNvSpPr/>
          <p:nvPr/>
        </p:nvSpPr>
        <p:spPr>
          <a:xfrm>
            <a:off x="777240" y="5669280"/>
            <a:ext cx="201168" cy="201168"/>
          </a:xfrm>
          <a:prstGeom prst="ellipse">
            <a:avLst/>
          </a:prstGeom>
          <a:solidFill>
            <a:srgbClr val="FF5A4E"/>
          </a:solidFill>
          <a:ln w="12700">
            <a:solidFill>
              <a:srgbClr val="FF5A4E"/>
            </a:solidFill>
            <a:prstDash val="solid"/>
          </a:ln>
        </p:spPr>
      </p:sp>
      <p:sp>
        <p:nvSpPr>
          <p:cNvPr id="36" name="Text 34"/>
          <p:cNvSpPr txBox="1"/>
          <p:nvPr/>
        </p:nvSpPr>
        <p:spPr>
          <a:xfrm>
            <a:off x="1097280" y="5577840"/>
            <a:ext cx="32918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SQLite</a:t>
            </a:r>
            <a:endParaRPr lang="en-US" sz="1300" dirty="0"/>
          </a:p>
        </p:txBody>
      </p:sp>
      <p:sp>
        <p:nvSpPr>
          <p:cNvPr id="37" name="Text 35"/>
          <p:cNvSpPr txBox="1"/>
          <p:nvPr/>
        </p:nvSpPr>
        <p:spPr>
          <a:xfrm>
            <a:off x="4206240" y="5577840"/>
            <a:ext cx="2606040" cy="384048"/>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Local single-file database</a:t>
            </a:r>
            <a:endParaRPr lang="en-US" sz="1000" dirty="0"/>
          </a:p>
        </p:txBody>
      </p:sp>
      <p:sp>
        <p:nvSpPr>
          <p:cNvPr id="38" name="Text 36"/>
          <p:cNvSpPr txBox="1"/>
          <p:nvPr/>
        </p:nvSpPr>
        <p:spPr>
          <a:xfrm>
            <a:off x="7315200" y="1783080"/>
            <a:ext cx="4297680" cy="274320"/>
          </a:xfrm>
          <a:prstGeom prst="rect">
            <a:avLst/>
          </a:prstGeom>
          <a:noFill/>
          <a:ln/>
        </p:spPr>
        <p:txBody>
          <a:bodyPr wrap="square" lIns="0" tIns="0" rIns="0" bIns="0" rtlCol="0" anchor="ctr"/>
          <a:lstStyle/>
          <a:p>
            <a:pPr indent="0" marL="0">
              <a:buNone/>
            </a:pPr>
            <a:r>
              <a:rPr lang="en-US" sz="1000" b="1" spc="200" kern="0" dirty="0">
                <a:solidFill>
                  <a:srgbClr val="8C8C86"/>
                </a:solidFill>
                <a:latin typeface="Arial" pitchFamily="34" charset="0"/>
                <a:ea typeface="Arial" pitchFamily="34" charset="-122"/>
                <a:cs typeface="Arial" pitchFamily="34" charset="-120"/>
              </a:rPr>
              <a:t>SIX PURE DOMAIN ENGINES</a:t>
            </a:r>
            <a:endParaRPr lang="en-US" sz="1000" dirty="0"/>
          </a:p>
        </p:txBody>
      </p:sp>
      <p:sp>
        <p:nvSpPr>
          <p:cNvPr id="39" name="Shape 37"/>
          <p:cNvSpPr/>
          <p:nvPr/>
        </p:nvSpPr>
        <p:spPr>
          <a:xfrm>
            <a:off x="7315200" y="2148840"/>
            <a:ext cx="4297680" cy="566928"/>
          </a:xfrm>
          <a:prstGeom prst="roundRect">
            <a:avLst>
              <a:gd name="adj" fmla="val 9677"/>
            </a:avLst>
          </a:prstGeom>
          <a:solidFill>
            <a:srgbClr val="FFFFFF"/>
          </a:solidFill>
          <a:ln w="12700">
            <a:solidFill>
              <a:srgbClr val="111111"/>
            </a:solidFill>
            <a:prstDash val="solid"/>
          </a:ln>
        </p:spPr>
      </p:sp>
      <p:sp>
        <p:nvSpPr>
          <p:cNvPr id="40" name="Shape 38"/>
          <p:cNvSpPr/>
          <p:nvPr/>
        </p:nvSpPr>
        <p:spPr>
          <a:xfrm>
            <a:off x="7571232" y="2331720"/>
            <a:ext cx="201168" cy="201168"/>
          </a:xfrm>
          <a:prstGeom prst="ellipse">
            <a:avLst/>
          </a:prstGeom>
          <a:solidFill>
            <a:srgbClr val="00BFD8"/>
          </a:solidFill>
          <a:ln w="12700">
            <a:solidFill>
              <a:srgbClr val="00BFD8"/>
            </a:solidFill>
            <a:prstDash val="solid"/>
          </a:ln>
        </p:spPr>
      </p:sp>
      <p:sp>
        <p:nvSpPr>
          <p:cNvPr id="41" name="Text 39"/>
          <p:cNvSpPr txBox="1"/>
          <p:nvPr/>
        </p:nvSpPr>
        <p:spPr>
          <a:xfrm>
            <a:off x="7882128" y="2203704"/>
            <a:ext cx="1600200" cy="22860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calculator.ts</a:t>
            </a:r>
            <a:endParaRPr lang="en-US" sz="1200" dirty="0"/>
          </a:p>
        </p:txBody>
      </p:sp>
      <p:sp>
        <p:nvSpPr>
          <p:cNvPr id="42" name="Text 40"/>
          <p:cNvSpPr txBox="1"/>
          <p:nvPr/>
        </p:nvSpPr>
        <p:spPr>
          <a:xfrm>
            <a:off x="7882128" y="2423160"/>
            <a:ext cx="3474720" cy="228600"/>
          </a:xfrm>
          <a:prstGeom prst="rect">
            <a:avLst/>
          </a:prstGeom>
          <a:noFill/>
          <a:ln/>
        </p:spPr>
        <p:txBody>
          <a:bodyPr wrap="square" lIns="0" tIns="0" rIns="0" bIns="0" rtlCol="0" anchor="ctr"/>
          <a:lstStyle/>
          <a:p>
            <a:pPr indent="0" marL="0">
              <a:buNone/>
            </a:pPr>
            <a:r>
              <a:rPr lang="en-US" sz="950" dirty="0">
                <a:solidFill>
                  <a:srgbClr val="8C8C86"/>
                </a:solidFill>
                <a:latin typeface="Arial" pitchFamily="34" charset="0"/>
                <a:ea typeface="Arial" pitchFamily="34" charset="-122"/>
                <a:cs typeface="Arial" pitchFamily="34" charset="-120"/>
              </a:rPr>
              <a:t>quantity × factor × frequency</a:t>
            </a:r>
            <a:endParaRPr lang="en-US" sz="950" dirty="0"/>
          </a:p>
        </p:txBody>
      </p:sp>
      <p:sp>
        <p:nvSpPr>
          <p:cNvPr id="43" name="Shape 41"/>
          <p:cNvSpPr/>
          <p:nvPr/>
        </p:nvSpPr>
        <p:spPr>
          <a:xfrm>
            <a:off x="7315200" y="2807208"/>
            <a:ext cx="4297680" cy="566928"/>
          </a:xfrm>
          <a:prstGeom prst="roundRect">
            <a:avLst>
              <a:gd name="adj" fmla="val 9677"/>
            </a:avLst>
          </a:prstGeom>
          <a:solidFill>
            <a:srgbClr val="FFFFFF"/>
          </a:solidFill>
          <a:ln w="12700">
            <a:solidFill>
              <a:srgbClr val="111111"/>
            </a:solidFill>
            <a:prstDash val="solid"/>
          </a:ln>
        </p:spPr>
      </p:sp>
      <p:sp>
        <p:nvSpPr>
          <p:cNvPr id="44" name="Shape 42"/>
          <p:cNvSpPr/>
          <p:nvPr/>
        </p:nvSpPr>
        <p:spPr>
          <a:xfrm>
            <a:off x="7571232" y="2990088"/>
            <a:ext cx="201168" cy="201168"/>
          </a:xfrm>
          <a:prstGeom prst="ellipse">
            <a:avLst/>
          </a:prstGeom>
          <a:solidFill>
            <a:srgbClr val="1F6FEB"/>
          </a:solidFill>
          <a:ln w="12700">
            <a:solidFill>
              <a:srgbClr val="1F6FEB"/>
            </a:solidFill>
            <a:prstDash val="solid"/>
          </a:ln>
        </p:spPr>
      </p:sp>
      <p:sp>
        <p:nvSpPr>
          <p:cNvPr id="45" name="Text 43"/>
          <p:cNvSpPr txBox="1"/>
          <p:nvPr/>
        </p:nvSpPr>
        <p:spPr>
          <a:xfrm>
            <a:off x="7882128" y="2862072"/>
            <a:ext cx="1600200" cy="22860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uncertainty.ts</a:t>
            </a:r>
            <a:endParaRPr lang="en-US" sz="1200" dirty="0"/>
          </a:p>
        </p:txBody>
      </p:sp>
      <p:sp>
        <p:nvSpPr>
          <p:cNvPr id="46" name="Text 44"/>
          <p:cNvSpPr txBox="1"/>
          <p:nvPr/>
        </p:nvSpPr>
        <p:spPr>
          <a:xfrm>
            <a:off x="7882128" y="3081528"/>
            <a:ext cx="3474720" cy="228600"/>
          </a:xfrm>
          <a:prstGeom prst="rect">
            <a:avLst/>
          </a:prstGeom>
          <a:noFill/>
          <a:ln/>
        </p:spPr>
        <p:txBody>
          <a:bodyPr wrap="square" lIns="0" tIns="0" rIns="0" bIns="0" rtlCol="0" anchor="ctr"/>
          <a:lstStyle/>
          <a:p>
            <a:pPr indent="0" marL="0">
              <a:buNone/>
            </a:pPr>
            <a:r>
              <a:rPr lang="en-US" sz="950" dirty="0">
                <a:solidFill>
                  <a:srgbClr val="8C8C86"/>
                </a:solidFill>
                <a:latin typeface="Arial" pitchFamily="34" charset="0"/>
                <a:ea typeface="Arial" pitchFamily="34" charset="-122"/>
                <a:cs typeface="Arial" pitchFamily="34" charset="-120"/>
              </a:rPr>
              <a:t>confidence score &amp; ± range</a:t>
            </a:r>
            <a:endParaRPr lang="en-US" sz="950" dirty="0"/>
          </a:p>
        </p:txBody>
      </p:sp>
      <p:sp>
        <p:nvSpPr>
          <p:cNvPr id="47" name="Shape 45"/>
          <p:cNvSpPr/>
          <p:nvPr/>
        </p:nvSpPr>
        <p:spPr>
          <a:xfrm>
            <a:off x="7315200" y="3465576"/>
            <a:ext cx="4297680" cy="566928"/>
          </a:xfrm>
          <a:prstGeom prst="roundRect">
            <a:avLst>
              <a:gd name="adj" fmla="val 9677"/>
            </a:avLst>
          </a:prstGeom>
          <a:solidFill>
            <a:srgbClr val="FFFFFF"/>
          </a:solidFill>
          <a:ln w="12700">
            <a:solidFill>
              <a:srgbClr val="111111"/>
            </a:solidFill>
            <a:prstDash val="solid"/>
          </a:ln>
        </p:spPr>
      </p:sp>
      <p:sp>
        <p:nvSpPr>
          <p:cNvPr id="48" name="Shape 46"/>
          <p:cNvSpPr/>
          <p:nvPr/>
        </p:nvSpPr>
        <p:spPr>
          <a:xfrm>
            <a:off x="7571232" y="3648456"/>
            <a:ext cx="201168" cy="201168"/>
          </a:xfrm>
          <a:prstGeom prst="ellipse">
            <a:avLst/>
          </a:prstGeom>
          <a:solidFill>
            <a:srgbClr val="7B5CFF"/>
          </a:solidFill>
          <a:ln w="12700">
            <a:solidFill>
              <a:srgbClr val="7B5CFF"/>
            </a:solidFill>
            <a:prstDash val="solid"/>
          </a:ln>
        </p:spPr>
      </p:sp>
      <p:sp>
        <p:nvSpPr>
          <p:cNvPr id="49" name="Text 47"/>
          <p:cNvSpPr txBox="1"/>
          <p:nvPr/>
        </p:nvSpPr>
        <p:spPr>
          <a:xfrm>
            <a:off x="7882128" y="3520440"/>
            <a:ext cx="1600200" cy="22860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recommendation.ts</a:t>
            </a:r>
            <a:endParaRPr lang="en-US" sz="1200" dirty="0"/>
          </a:p>
        </p:txBody>
      </p:sp>
      <p:sp>
        <p:nvSpPr>
          <p:cNvPr id="50" name="Text 48"/>
          <p:cNvSpPr txBox="1"/>
          <p:nvPr/>
        </p:nvSpPr>
        <p:spPr>
          <a:xfrm>
            <a:off x="7882128" y="3739896"/>
            <a:ext cx="3474720" cy="228600"/>
          </a:xfrm>
          <a:prstGeom prst="rect">
            <a:avLst/>
          </a:prstGeom>
          <a:noFill/>
          <a:ln/>
        </p:spPr>
        <p:txBody>
          <a:bodyPr wrap="square" lIns="0" tIns="0" rIns="0" bIns="0" rtlCol="0" anchor="ctr"/>
          <a:lstStyle/>
          <a:p>
            <a:pPr indent="0" marL="0">
              <a:buNone/>
            </a:pPr>
            <a:r>
              <a:rPr lang="en-US" sz="950" dirty="0">
                <a:solidFill>
                  <a:srgbClr val="8C8C86"/>
                </a:solidFill>
                <a:latin typeface="Arial" pitchFamily="34" charset="0"/>
                <a:ea typeface="Arial" pitchFamily="34" charset="-122"/>
                <a:cs typeface="Arial" pitchFamily="34" charset="-120"/>
              </a:rPr>
              <a:t>7 rules matched to the footprint</a:t>
            </a:r>
            <a:endParaRPr lang="en-US" sz="950" dirty="0"/>
          </a:p>
        </p:txBody>
      </p:sp>
      <p:sp>
        <p:nvSpPr>
          <p:cNvPr id="51" name="Shape 49"/>
          <p:cNvSpPr/>
          <p:nvPr/>
        </p:nvSpPr>
        <p:spPr>
          <a:xfrm>
            <a:off x="7315200" y="4123944"/>
            <a:ext cx="4297680" cy="566928"/>
          </a:xfrm>
          <a:prstGeom prst="roundRect">
            <a:avLst>
              <a:gd name="adj" fmla="val 9677"/>
            </a:avLst>
          </a:prstGeom>
          <a:solidFill>
            <a:srgbClr val="FFFFFF"/>
          </a:solidFill>
          <a:ln w="12700">
            <a:solidFill>
              <a:srgbClr val="111111"/>
            </a:solidFill>
            <a:prstDash val="solid"/>
          </a:ln>
        </p:spPr>
      </p:sp>
      <p:sp>
        <p:nvSpPr>
          <p:cNvPr id="52" name="Shape 50"/>
          <p:cNvSpPr/>
          <p:nvPr/>
        </p:nvSpPr>
        <p:spPr>
          <a:xfrm>
            <a:off x="7571232" y="4306824"/>
            <a:ext cx="201168" cy="201168"/>
          </a:xfrm>
          <a:prstGeom prst="ellipse">
            <a:avLst/>
          </a:prstGeom>
          <a:solidFill>
            <a:srgbClr val="FFC93C"/>
          </a:solidFill>
          <a:ln w="12700">
            <a:solidFill>
              <a:srgbClr val="FFC93C"/>
            </a:solidFill>
            <a:prstDash val="solid"/>
          </a:ln>
        </p:spPr>
      </p:sp>
      <p:sp>
        <p:nvSpPr>
          <p:cNvPr id="53" name="Text 51"/>
          <p:cNvSpPr txBox="1"/>
          <p:nvPr/>
        </p:nvSpPr>
        <p:spPr>
          <a:xfrm>
            <a:off x="7882128" y="4178808"/>
            <a:ext cx="1600200" cy="22860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optimizer.ts</a:t>
            </a:r>
            <a:endParaRPr lang="en-US" sz="1200" dirty="0"/>
          </a:p>
        </p:txBody>
      </p:sp>
      <p:sp>
        <p:nvSpPr>
          <p:cNvPr id="54" name="Text 52"/>
          <p:cNvSpPr txBox="1"/>
          <p:nvPr/>
        </p:nvSpPr>
        <p:spPr>
          <a:xfrm>
            <a:off x="7882128" y="4398264"/>
            <a:ext cx="3474720" cy="228600"/>
          </a:xfrm>
          <a:prstGeom prst="rect">
            <a:avLst/>
          </a:prstGeom>
          <a:noFill/>
          <a:ln/>
        </p:spPr>
        <p:txBody>
          <a:bodyPr wrap="square" lIns="0" tIns="0" rIns="0" bIns="0" rtlCol="0" anchor="ctr"/>
          <a:lstStyle/>
          <a:p>
            <a:pPr indent="0" marL="0">
              <a:buNone/>
            </a:pPr>
            <a:r>
              <a:rPr lang="en-US" sz="950" dirty="0">
                <a:solidFill>
                  <a:srgbClr val="8C8C86"/>
                </a:solidFill>
                <a:latin typeface="Arial" pitchFamily="34" charset="0"/>
                <a:ea typeface="Arial" pitchFamily="34" charset="-122"/>
                <a:cs typeface="Arial" pitchFamily="34" charset="-120"/>
              </a:rPr>
              <a:t>greedy knapsack under budget</a:t>
            </a:r>
            <a:endParaRPr lang="en-US" sz="950" dirty="0"/>
          </a:p>
        </p:txBody>
      </p:sp>
      <p:sp>
        <p:nvSpPr>
          <p:cNvPr id="55" name="Shape 53"/>
          <p:cNvSpPr/>
          <p:nvPr/>
        </p:nvSpPr>
        <p:spPr>
          <a:xfrm>
            <a:off x="7315200" y="4782312"/>
            <a:ext cx="4297680" cy="566928"/>
          </a:xfrm>
          <a:prstGeom prst="roundRect">
            <a:avLst>
              <a:gd name="adj" fmla="val 9677"/>
            </a:avLst>
          </a:prstGeom>
          <a:solidFill>
            <a:srgbClr val="FFFFFF"/>
          </a:solidFill>
          <a:ln w="12700">
            <a:solidFill>
              <a:srgbClr val="111111"/>
            </a:solidFill>
            <a:prstDash val="solid"/>
          </a:ln>
        </p:spPr>
      </p:sp>
      <p:sp>
        <p:nvSpPr>
          <p:cNvPr id="56" name="Shape 54"/>
          <p:cNvSpPr/>
          <p:nvPr/>
        </p:nvSpPr>
        <p:spPr>
          <a:xfrm>
            <a:off x="7571232" y="4965192"/>
            <a:ext cx="201168" cy="201168"/>
          </a:xfrm>
          <a:prstGeom prst="ellipse">
            <a:avLst/>
          </a:prstGeom>
          <a:solidFill>
            <a:srgbClr val="FF5A4E"/>
          </a:solidFill>
          <a:ln w="12700">
            <a:solidFill>
              <a:srgbClr val="FF5A4E"/>
            </a:solidFill>
            <a:prstDash val="solid"/>
          </a:ln>
        </p:spPr>
      </p:sp>
      <p:sp>
        <p:nvSpPr>
          <p:cNvPr id="57" name="Text 55"/>
          <p:cNvSpPr txBox="1"/>
          <p:nvPr/>
        </p:nvSpPr>
        <p:spPr>
          <a:xfrm>
            <a:off x="7882128" y="4837176"/>
            <a:ext cx="1600200" cy="22860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anomaly.ts</a:t>
            </a:r>
            <a:endParaRPr lang="en-US" sz="1200" dirty="0"/>
          </a:p>
        </p:txBody>
      </p:sp>
      <p:sp>
        <p:nvSpPr>
          <p:cNvPr id="58" name="Text 56"/>
          <p:cNvSpPr txBox="1"/>
          <p:nvPr/>
        </p:nvSpPr>
        <p:spPr>
          <a:xfrm>
            <a:off x="7882128" y="5056632"/>
            <a:ext cx="3474720" cy="228600"/>
          </a:xfrm>
          <a:prstGeom prst="rect">
            <a:avLst/>
          </a:prstGeom>
          <a:noFill/>
          <a:ln/>
        </p:spPr>
        <p:txBody>
          <a:bodyPr wrap="square" lIns="0" tIns="0" rIns="0" bIns="0" rtlCol="0" anchor="ctr"/>
          <a:lstStyle/>
          <a:p>
            <a:pPr indent="0" marL="0">
              <a:buNone/>
            </a:pPr>
            <a:r>
              <a:rPr lang="en-US" sz="950" dirty="0">
                <a:solidFill>
                  <a:srgbClr val="8C8C86"/>
                </a:solidFill>
                <a:latin typeface="Arial" pitchFamily="34" charset="0"/>
                <a:ea typeface="Arial" pitchFamily="34" charset="-122"/>
                <a:cs typeface="Arial" pitchFamily="34" charset="-120"/>
              </a:rPr>
              <a:t>rolling z-score ≥ 2.0 spike flag</a:t>
            </a:r>
            <a:endParaRPr lang="en-US" sz="950" dirty="0"/>
          </a:p>
        </p:txBody>
      </p:sp>
      <p:sp>
        <p:nvSpPr>
          <p:cNvPr id="59" name="Shape 57"/>
          <p:cNvSpPr/>
          <p:nvPr/>
        </p:nvSpPr>
        <p:spPr>
          <a:xfrm>
            <a:off x="7315200" y="5440680"/>
            <a:ext cx="4297680" cy="566928"/>
          </a:xfrm>
          <a:prstGeom prst="roundRect">
            <a:avLst>
              <a:gd name="adj" fmla="val 9677"/>
            </a:avLst>
          </a:prstGeom>
          <a:solidFill>
            <a:srgbClr val="FFFFFF"/>
          </a:solidFill>
          <a:ln w="12700">
            <a:solidFill>
              <a:srgbClr val="111111"/>
            </a:solidFill>
            <a:prstDash val="solid"/>
          </a:ln>
        </p:spPr>
      </p:sp>
      <p:sp>
        <p:nvSpPr>
          <p:cNvPr id="60" name="Shape 58"/>
          <p:cNvSpPr/>
          <p:nvPr/>
        </p:nvSpPr>
        <p:spPr>
          <a:xfrm>
            <a:off x="7571232" y="5623560"/>
            <a:ext cx="201168" cy="201168"/>
          </a:xfrm>
          <a:prstGeom prst="ellipse">
            <a:avLst/>
          </a:prstGeom>
          <a:solidFill>
            <a:srgbClr val="00BFD8"/>
          </a:solidFill>
          <a:ln w="12700">
            <a:solidFill>
              <a:srgbClr val="00BFD8"/>
            </a:solidFill>
            <a:prstDash val="solid"/>
          </a:ln>
        </p:spPr>
      </p:sp>
      <p:sp>
        <p:nvSpPr>
          <p:cNvPr id="61" name="Text 59"/>
          <p:cNvSpPr txBox="1"/>
          <p:nvPr/>
        </p:nvSpPr>
        <p:spPr>
          <a:xfrm>
            <a:off x="7882128" y="5495544"/>
            <a:ext cx="1600200" cy="22860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coach.ts</a:t>
            </a:r>
            <a:endParaRPr lang="en-US" sz="1200" dirty="0"/>
          </a:p>
        </p:txBody>
      </p:sp>
      <p:sp>
        <p:nvSpPr>
          <p:cNvPr id="62" name="Text 60"/>
          <p:cNvSpPr txBox="1"/>
          <p:nvPr/>
        </p:nvSpPr>
        <p:spPr>
          <a:xfrm>
            <a:off x="7882128" y="5715000"/>
            <a:ext cx="3474720" cy="228600"/>
          </a:xfrm>
          <a:prstGeom prst="rect">
            <a:avLst/>
          </a:prstGeom>
          <a:noFill/>
          <a:ln/>
        </p:spPr>
        <p:txBody>
          <a:bodyPr wrap="square" lIns="0" tIns="0" rIns="0" bIns="0" rtlCol="0" anchor="ctr"/>
          <a:lstStyle/>
          <a:p>
            <a:pPr indent="0" marL="0">
              <a:buNone/>
            </a:pPr>
            <a:r>
              <a:rPr lang="en-US" sz="950" dirty="0">
                <a:solidFill>
                  <a:srgbClr val="8C8C86"/>
                </a:solidFill>
                <a:latin typeface="Arial" pitchFamily="34" charset="0"/>
                <a:ea typeface="Arial" pitchFamily="34" charset="-122"/>
                <a:cs typeface="Arial" pitchFamily="34" charset="-120"/>
              </a:rPr>
              <a:t>local rules / optional Groq</a:t>
            </a:r>
            <a:endParaRPr lang="en-US" sz="950" dirty="0"/>
          </a:p>
        </p:txBody>
      </p:sp>
      <p:sp>
        <p:nvSpPr>
          <p:cNvPr id="63" name="Text 61"/>
          <p:cNvSpPr txBox="1"/>
          <p:nvPr/>
        </p:nvSpPr>
        <p:spPr>
          <a:xfrm>
            <a:off x="548640" y="6172200"/>
            <a:ext cx="11064240" cy="365760"/>
          </a:xfrm>
          <a:prstGeom prst="rect">
            <a:avLst/>
          </a:prstGeom>
          <a:noFill/>
          <a:ln/>
        </p:spPr>
        <p:txBody>
          <a:bodyPr wrap="square" lIns="0" tIns="0" rIns="0" bIns="0" rtlCol="0" anchor="ctr"/>
          <a:lstStyle/>
          <a:p>
            <a:pPr indent="0" marL="0">
              <a:buNone/>
            </a:pPr>
            <a:r>
              <a:rPr lang="en-US" sz="1100" dirty="0">
                <a:solidFill>
                  <a:srgbClr val="8C8C86"/>
                </a:solidFill>
                <a:latin typeface="Arial" pitchFamily="34" charset="0"/>
                <a:ea typeface="Arial" pitchFamily="34" charset="-122"/>
                <a:cs typeface="Arial" pitchFamily="34" charset="-120"/>
              </a:rPr>
              <a:t>No database or UI imports inside the engines — so they are unit-testable in isolation (67 tests, 18 suites).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111111"/>
                </a:solidFill>
                <a:latin typeface="Arial" pitchFamily="34" charset="0"/>
                <a:ea typeface="Arial" pitchFamily="34" charset="-122"/>
                <a:cs typeface="Arial" pitchFamily="34" charset="-120"/>
              </a:rPr>
              <a:t>The prototype</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indent="0" marL="0">
              <a:buNone/>
            </a:pPr>
            <a:r>
              <a:rPr lang="en-US" sz="1400" dirty="0">
                <a:solidFill>
                  <a:srgbClr val="8C8C86"/>
                </a:solidFill>
                <a:latin typeface="Arial" pitchFamily="34" charset="0"/>
                <a:ea typeface="Arial" pitchFamily="34" charset="-122"/>
                <a:cs typeface="Arial" pitchFamily="34" charset="-120"/>
              </a:rPr>
              <a:t>Six screens that carry the loop.</a:t>
            </a:r>
            <a:endParaRPr lang="en-US" sz="1400" dirty="0"/>
          </a:p>
        </p:txBody>
      </p:sp>
      <p:sp>
        <p:nvSpPr>
          <p:cNvPr id="4" name="Shape 2"/>
          <p:cNvSpPr/>
          <p:nvPr/>
        </p:nvSpPr>
        <p:spPr>
          <a:xfrm>
            <a:off x="548640" y="1737360"/>
            <a:ext cx="3474720" cy="2011680"/>
          </a:xfrm>
          <a:prstGeom prst="roundRect">
            <a:avLst>
              <a:gd name="adj" fmla="val 2727"/>
            </a:avLst>
          </a:prstGeom>
          <a:solidFill>
            <a:srgbClr val="FFFFFF"/>
          </a:solidFill>
          <a:ln w="12700">
            <a:solidFill>
              <a:srgbClr val="111111"/>
            </a:solidFill>
            <a:prstDash val="solid"/>
          </a:ln>
        </p:spPr>
      </p:sp>
      <p:sp>
        <p:nvSpPr>
          <p:cNvPr id="5" name="Shape 3"/>
          <p:cNvSpPr/>
          <p:nvPr/>
        </p:nvSpPr>
        <p:spPr>
          <a:xfrm>
            <a:off x="804672" y="1993392"/>
            <a:ext cx="2962656" cy="658368"/>
          </a:xfrm>
          <a:prstGeom prst="roundRect">
            <a:avLst>
              <a:gd name="adj" fmla="val 6944"/>
            </a:avLst>
          </a:prstGeom>
          <a:solidFill>
            <a:srgbClr val="EDEBE4"/>
          </a:solidFill>
          <a:ln w="12700">
            <a:solidFill>
              <a:srgbClr val="EDEBE4"/>
            </a:solidFill>
            <a:prstDash val="solid"/>
          </a:ln>
        </p:spPr>
      </p:sp>
      <p:sp>
        <p:nvSpPr>
          <p:cNvPr id="6" name="Shape 4"/>
          <p:cNvSpPr/>
          <p:nvPr/>
        </p:nvSpPr>
        <p:spPr>
          <a:xfrm>
            <a:off x="932688" y="2103120"/>
            <a:ext cx="1828800" cy="73152"/>
          </a:xfrm>
          <a:prstGeom prst="rect">
            <a:avLst/>
          </a:prstGeom>
          <a:solidFill>
            <a:srgbClr val="C9C6BC"/>
          </a:solidFill>
          <a:ln/>
        </p:spPr>
      </p:sp>
      <p:sp>
        <p:nvSpPr>
          <p:cNvPr id="7" name="Shape 5"/>
          <p:cNvSpPr/>
          <p:nvPr/>
        </p:nvSpPr>
        <p:spPr>
          <a:xfrm>
            <a:off x="932688" y="2258568"/>
            <a:ext cx="2286000" cy="73152"/>
          </a:xfrm>
          <a:prstGeom prst="rect">
            <a:avLst/>
          </a:prstGeom>
          <a:solidFill>
            <a:srgbClr val="00BFD8"/>
          </a:solidFill>
          <a:ln/>
        </p:spPr>
      </p:sp>
      <p:sp>
        <p:nvSpPr>
          <p:cNvPr id="8" name="Shape 6"/>
          <p:cNvSpPr/>
          <p:nvPr/>
        </p:nvSpPr>
        <p:spPr>
          <a:xfrm>
            <a:off x="932688" y="2414016"/>
            <a:ext cx="1280160" cy="73152"/>
          </a:xfrm>
          <a:prstGeom prst="rect">
            <a:avLst/>
          </a:prstGeom>
          <a:solidFill>
            <a:srgbClr val="C9C6BC"/>
          </a:solidFill>
          <a:ln/>
        </p:spPr>
      </p:sp>
      <p:sp>
        <p:nvSpPr>
          <p:cNvPr id="9" name="Text 7"/>
          <p:cNvSpPr txBox="1"/>
          <p:nvPr/>
        </p:nvSpPr>
        <p:spPr>
          <a:xfrm>
            <a:off x="804672" y="2761488"/>
            <a:ext cx="2962656" cy="29260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Transparent calculation</a:t>
            </a:r>
            <a:endParaRPr lang="en-US" sz="1500" dirty="0"/>
          </a:p>
        </p:txBody>
      </p:sp>
      <p:sp>
        <p:nvSpPr>
          <p:cNvPr id="10" name="Text 8"/>
          <p:cNvSpPr txBox="1"/>
          <p:nvPr/>
        </p:nvSpPr>
        <p:spPr>
          <a:xfrm>
            <a:off x="804672" y="3072384"/>
            <a:ext cx="2962656" cy="566928"/>
          </a:xfrm>
          <a:prstGeom prst="rect">
            <a:avLst/>
          </a:prstGeom>
          <a:noFill/>
          <a:ln/>
        </p:spPr>
        <p:txBody>
          <a:bodyPr wrap="square" lIns="0" tIns="0" rIns="0" bIns="0" rtlCol="0" anchor="ctr"/>
          <a:lstStyle/>
          <a:p>
            <a:pPr indent="0" marL="0">
              <a:lnSpc>
                <a:spcPts val="1300"/>
              </a:lnSpc>
              <a:buNone/>
            </a:pPr>
            <a:r>
              <a:rPr lang="en-US" sz="1050" dirty="0">
                <a:solidFill>
                  <a:srgbClr val="8C8C86"/>
                </a:solidFill>
                <a:latin typeface="Arial" pitchFamily="34" charset="0"/>
                <a:ea typeface="Arial" pitchFamily="34" charset="-122"/>
                <a:cs typeface="Arial" pitchFamily="34" charset="-120"/>
              </a:rPr>
              <a:t>Input × factor = result, with source, region and ± confidence for each activity.</a:t>
            </a:r>
            <a:endParaRPr lang="en-US" sz="1050" dirty="0"/>
          </a:p>
        </p:txBody>
      </p:sp>
      <p:sp>
        <p:nvSpPr>
          <p:cNvPr id="11" name="Shape 9"/>
          <p:cNvSpPr/>
          <p:nvPr/>
        </p:nvSpPr>
        <p:spPr>
          <a:xfrm>
            <a:off x="4261104" y="1737360"/>
            <a:ext cx="3474720" cy="2011680"/>
          </a:xfrm>
          <a:prstGeom prst="roundRect">
            <a:avLst>
              <a:gd name="adj" fmla="val 2727"/>
            </a:avLst>
          </a:prstGeom>
          <a:solidFill>
            <a:srgbClr val="FFFFFF"/>
          </a:solidFill>
          <a:ln w="12700">
            <a:solidFill>
              <a:srgbClr val="111111"/>
            </a:solidFill>
            <a:prstDash val="solid"/>
          </a:ln>
        </p:spPr>
      </p:sp>
      <p:sp>
        <p:nvSpPr>
          <p:cNvPr id="12" name="Shape 10"/>
          <p:cNvSpPr/>
          <p:nvPr/>
        </p:nvSpPr>
        <p:spPr>
          <a:xfrm>
            <a:off x="4517136" y="1993392"/>
            <a:ext cx="2962656" cy="658368"/>
          </a:xfrm>
          <a:prstGeom prst="roundRect">
            <a:avLst>
              <a:gd name="adj" fmla="val 6944"/>
            </a:avLst>
          </a:prstGeom>
          <a:solidFill>
            <a:srgbClr val="EDEBE4"/>
          </a:solidFill>
          <a:ln w="12700">
            <a:solidFill>
              <a:srgbClr val="EDEBE4"/>
            </a:solidFill>
            <a:prstDash val="solid"/>
          </a:ln>
        </p:spPr>
      </p:sp>
      <p:sp>
        <p:nvSpPr>
          <p:cNvPr id="13" name="Shape 11"/>
          <p:cNvSpPr/>
          <p:nvPr/>
        </p:nvSpPr>
        <p:spPr>
          <a:xfrm>
            <a:off x="4645152" y="2157984"/>
            <a:ext cx="2377440" cy="45720"/>
          </a:xfrm>
          <a:prstGeom prst="rect">
            <a:avLst/>
          </a:prstGeom>
          <a:solidFill>
            <a:srgbClr val="C9C6BC"/>
          </a:solidFill>
          <a:ln/>
        </p:spPr>
      </p:sp>
      <p:sp>
        <p:nvSpPr>
          <p:cNvPr id="14" name="Shape 12"/>
          <p:cNvSpPr/>
          <p:nvPr/>
        </p:nvSpPr>
        <p:spPr>
          <a:xfrm>
            <a:off x="6071616" y="2103120"/>
            <a:ext cx="155448" cy="155448"/>
          </a:xfrm>
          <a:prstGeom prst="ellipse">
            <a:avLst/>
          </a:prstGeom>
          <a:solidFill>
            <a:srgbClr val="7B5CFF"/>
          </a:solidFill>
          <a:ln/>
        </p:spPr>
      </p:sp>
      <p:sp>
        <p:nvSpPr>
          <p:cNvPr id="15" name="Shape 13"/>
          <p:cNvSpPr/>
          <p:nvPr/>
        </p:nvSpPr>
        <p:spPr>
          <a:xfrm>
            <a:off x="4645152" y="2313432"/>
            <a:ext cx="2377440" cy="45720"/>
          </a:xfrm>
          <a:prstGeom prst="rect">
            <a:avLst/>
          </a:prstGeom>
          <a:solidFill>
            <a:srgbClr val="C9C6BC"/>
          </a:solidFill>
          <a:ln/>
        </p:spPr>
      </p:sp>
      <p:sp>
        <p:nvSpPr>
          <p:cNvPr id="16" name="Shape 14"/>
          <p:cNvSpPr/>
          <p:nvPr/>
        </p:nvSpPr>
        <p:spPr>
          <a:xfrm>
            <a:off x="5477256" y="2258568"/>
            <a:ext cx="155448" cy="155448"/>
          </a:xfrm>
          <a:prstGeom prst="ellipse">
            <a:avLst/>
          </a:prstGeom>
          <a:solidFill>
            <a:srgbClr val="7B5CFF"/>
          </a:solidFill>
          <a:ln/>
        </p:spPr>
      </p:sp>
      <p:sp>
        <p:nvSpPr>
          <p:cNvPr id="17" name="Shape 15"/>
          <p:cNvSpPr/>
          <p:nvPr/>
        </p:nvSpPr>
        <p:spPr>
          <a:xfrm>
            <a:off x="4645152" y="2468880"/>
            <a:ext cx="2377440" cy="45720"/>
          </a:xfrm>
          <a:prstGeom prst="rect">
            <a:avLst/>
          </a:prstGeom>
          <a:solidFill>
            <a:srgbClr val="C9C6BC"/>
          </a:solidFill>
          <a:ln/>
        </p:spPr>
      </p:sp>
      <p:sp>
        <p:nvSpPr>
          <p:cNvPr id="18" name="Shape 16"/>
          <p:cNvSpPr/>
          <p:nvPr/>
        </p:nvSpPr>
        <p:spPr>
          <a:xfrm>
            <a:off x="6547104" y="2414016"/>
            <a:ext cx="155448" cy="155448"/>
          </a:xfrm>
          <a:prstGeom prst="ellipse">
            <a:avLst/>
          </a:prstGeom>
          <a:solidFill>
            <a:srgbClr val="7B5CFF"/>
          </a:solidFill>
          <a:ln/>
        </p:spPr>
      </p:sp>
      <p:sp>
        <p:nvSpPr>
          <p:cNvPr id="19" name="Text 17"/>
          <p:cNvSpPr txBox="1"/>
          <p:nvPr/>
        </p:nvSpPr>
        <p:spPr>
          <a:xfrm>
            <a:off x="4517136" y="2761488"/>
            <a:ext cx="2962656" cy="29260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What-If simulator</a:t>
            </a:r>
            <a:endParaRPr lang="en-US" sz="1500" dirty="0"/>
          </a:p>
        </p:txBody>
      </p:sp>
      <p:sp>
        <p:nvSpPr>
          <p:cNvPr id="20" name="Text 18"/>
          <p:cNvSpPr txBox="1"/>
          <p:nvPr/>
        </p:nvSpPr>
        <p:spPr>
          <a:xfrm>
            <a:off x="4517136" y="3072384"/>
            <a:ext cx="2962656" cy="566928"/>
          </a:xfrm>
          <a:prstGeom prst="rect">
            <a:avLst/>
          </a:prstGeom>
          <a:noFill/>
          <a:ln/>
        </p:spPr>
        <p:txBody>
          <a:bodyPr wrap="square" lIns="0" tIns="0" rIns="0" bIns="0" rtlCol="0" anchor="ctr"/>
          <a:lstStyle/>
          <a:p>
            <a:pPr indent="0" marL="0">
              <a:lnSpc>
                <a:spcPts val="1300"/>
              </a:lnSpc>
              <a:buNone/>
            </a:pPr>
            <a:r>
              <a:rPr lang="en-US" sz="1050" dirty="0">
                <a:solidFill>
                  <a:srgbClr val="8C8C86"/>
                </a:solidFill>
                <a:latin typeface="Arial" pitchFamily="34" charset="0"/>
                <a:ea typeface="Arial" pitchFamily="34" charset="-122"/>
                <a:cs typeface="Arial" pitchFamily="34" charset="-120"/>
              </a:rPr>
              <a:t>Seven controls re-calculate a hypothetical footprint without touching your baseline.</a:t>
            </a:r>
            <a:endParaRPr lang="en-US" sz="1050" dirty="0"/>
          </a:p>
        </p:txBody>
      </p:sp>
      <p:sp>
        <p:nvSpPr>
          <p:cNvPr id="21" name="Shape 19"/>
          <p:cNvSpPr/>
          <p:nvPr/>
        </p:nvSpPr>
        <p:spPr>
          <a:xfrm>
            <a:off x="7973568" y="1737360"/>
            <a:ext cx="3474720" cy="2011680"/>
          </a:xfrm>
          <a:prstGeom prst="roundRect">
            <a:avLst>
              <a:gd name="adj" fmla="val 2727"/>
            </a:avLst>
          </a:prstGeom>
          <a:solidFill>
            <a:srgbClr val="FFFFFF"/>
          </a:solidFill>
          <a:ln w="12700">
            <a:solidFill>
              <a:srgbClr val="111111"/>
            </a:solidFill>
            <a:prstDash val="solid"/>
          </a:ln>
        </p:spPr>
      </p:sp>
      <p:sp>
        <p:nvSpPr>
          <p:cNvPr id="22" name="Shape 20"/>
          <p:cNvSpPr/>
          <p:nvPr/>
        </p:nvSpPr>
        <p:spPr>
          <a:xfrm>
            <a:off x="8229600" y="1993392"/>
            <a:ext cx="2962656" cy="658368"/>
          </a:xfrm>
          <a:prstGeom prst="roundRect">
            <a:avLst>
              <a:gd name="adj" fmla="val 6944"/>
            </a:avLst>
          </a:prstGeom>
          <a:solidFill>
            <a:srgbClr val="EDEBE4"/>
          </a:solidFill>
          <a:ln w="12700">
            <a:solidFill>
              <a:srgbClr val="EDEBE4"/>
            </a:solidFill>
            <a:prstDash val="solid"/>
          </a:ln>
        </p:spPr>
      </p:sp>
      <p:sp>
        <p:nvSpPr>
          <p:cNvPr id="23" name="Shape 21"/>
          <p:cNvSpPr/>
          <p:nvPr/>
        </p:nvSpPr>
        <p:spPr>
          <a:xfrm>
            <a:off x="8357616" y="2103120"/>
            <a:ext cx="731520" cy="475488"/>
          </a:xfrm>
          <a:prstGeom prst="roundRect">
            <a:avLst>
              <a:gd name="adj" fmla="val 7692"/>
            </a:avLst>
          </a:prstGeom>
          <a:solidFill>
            <a:srgbClr val="C9C6BC"/>
          </a:solidFill>
          <a:ln/>
        </p:spPr>
      </p:sp>
      <p:sp>
        <p:nvSpPr>
          <p:cNvPr id="24" name="Shape 22"/>
          <p:cNvSpPr/>
          <p:nvPr/>
        </p:nvSpPr>
        <p:spPr>
          <a:xfrm>
            <a:off x="9198864" y="2103120"/>
            <a:ext cx="731520" cy="475488"/>
          </a:xfrm>
          <a:prstGeom prst="roundRect">
            <a:avLst>
              <a:gd name="adj" fmla="val 7692"/>
            </a:avLst>
          </a:prstGeom>
          <a:solidFill>
            <a:srgbClr val="1F6FEB"/>
          </a:solidFill>
          <a:ln/>
        </p:spPr>
      </p:sp>
      <p:sp>
        <p:nvSpPr>
          <p:cNvPr id="25" name="Shape 23"/>
          <p:cNvSpPr/>
          <p:nvPr/>
        </p:nvSpPr>
        <p:spPr>
          <a:xfrm>
            <a:off x="10040112" y="2103120"/>
            <a:ext cx="731520" cy="475488"/>
          </a:xfrm>
          <a:prstGeom prst="roundRect">
            <a:avLst>
              <a:gd name="adj" fmla="val 7692"/>
            </a:avLst>
          </a:prstGeom>
          <a:solidFill>
            <a:srgbClr val="C9C6BC"/>
          </a:solidFill>
          <a:ln/>
        </p:spPr>
      </p:sp>
      <p:sp>
        <p:nvSpPr>
          <p:cNvPr id="26" name="Text 24"/>
          <p:cNvSpPr txBox="1"/>
          <p:nvPr/>
        </p:nvSpPr>
        <p:spPr>
          <a:xfrm>
            <a:off x="8229600" y="2761488"/>
            <a:ext cx="2962656" cy="29260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Scenario manager</a:t>
            </a:r>
            <a:endParaRPr lang="en-US" sz="1500" dirty="0"/>
          </a:p>
        </p:txBody>
      </p:sp>
      <p:sp>
        <p:nvSpPr>
          <p:cNvPr id="27" name="Text 25"/>
          <p:cNvSpPr txBox="1"/>
          <p:nvPr/>
        </p:nvSpPr>
        <p:spPr>
          <a:xfrm>
            <a:off x="8229600" y="3072384"/>
            <a:ext cx="2962656" cy="566928"/>
          </a:xfrm>
          <a:prstGeom prst="rect">
            <a:avLst/>
          </a:prstGeom>
          <a:noFill/>
          <a:ln/>
        </p:spPr>
        <p:txBody>
          <a:bodyPr wrap="square" lIns="0" tIns="0" rIns="0" bIns="0" rtlCol="0" anchor="ctr"/>
          <a:lstStyle/>
          <a:p>
            <a:pPr indent="0" marL="0">
              <a:lnSpc>
                <a:spcPts val="1300"/>
              </a:lnSpc>
              <a:buNone/>
            </a:pPr>
            <a:r>
              <a:rPr lang="en-US" sz="1050" dirty="0">
                <a:solidFill>
                  <a:srgbClr val="8C8C86"/>
                </a:solidFill>
                <a:latin typeface="Arial" pitchFamily="34" charset="0"/>
                <a:ea typeface="Arial" pitchFamily="34" charset="-122"/>
                <a:cs typeface="Arial" pitchFamily="34" charset="-120"/>
              </a:rPr>
              <a:t>Save, edit and compare alternative lifestyles side by side against your goal.</a:t>
            </a:r>
            <a:endParaRPr lang="en-US" sz="1050" dirty="0"/>
          </a:p>
        </p:txBody>
      </p:sp>
      <p:sp>
        <p:nvSpPr>
          <p:cNvPr id="28" name="Shape 26"/>
          <p:cNvSpPr/>
          <p:nvPr/>
        </p:nvSpPr>
        <p:spPr>
          <a:xfrm>
            <a:off x="548640" y="3977640"/>
            <a:ext cx="3474720" cy="2011680"/>
          </a:xfrm>
          <a:prstGeom prst="roundRect">
            <a:avLst>
              <a:gd name="adj" fmla="val 2727"/>
            </a:avLst>
          </a:prstGeom>
          <a:solidFill>
            <a:srgbClr val="FFFFFF"/>
          </a:solidFill>
          <a:ln w="12700">
            <a:solidFill>
              <a:srgbClr val="111111"/>
            </a:solidFill>
            <a:prstDash val="solid"/>
          </a:ln>
        </p:spPr>
      </p:sp>
      <p:sp>
        <p:nvSpPr>
          <p:cNvPr id="29" name="Shape 27"/>
          <p:cNvSpPr/>
          <p:nvPr/>
        </p:nvSpPr>
        <p:spPr>
          <a:xfrm>
            <a:off x="804672" y="4233672"/>
            <a:ext cx="2962656" cy="658368"/>
          </a:xfrm>
          <a:prstGeom prst="roundRect">
            <a:avLst>
              <a:gd name="adj" fmla="val 6944"/>
            </a:avLst>
          </a:prstGeom>
          <a:solidFill>
            <a:srgbClr val="EDEBE4"/>
          </a:solidFill>
          <a:ln w="12700">
            <a:solidFill>
              <a:srgbClr val="EDEBE4"/>
            </a:solidFill>
            <a:prstDash val="solid"/>
          </a:ln>
        </p:spPr>
      </p:sp>
      <p:sp>
        <p:nvSpPr>
          <p:cNvPr id="30" name="Shape 28"/>
          <p:cNvSpPr/>
          <p:nvPr/>
        </p:nvSpPr>
        <p:spPr>
          <a:xfrm>
            <a:off x="932688" y="4361688"/>
            <a:ext cx="365760" cy="457200"/>
          </a:xfrm>
          <a:prstGeom prst="rect">
            <a:avLst/>
          </a:prstGeom>
          <a:solidFill>
            <a:srgbClr val="FFC93C"/>
          </a:solidFill>
          <a:ln/>
        </p:spPr>
      </p:sp>
      <p:sp>
        <p:nvSpPr>
          <p:cNvPr id="31" name="Shape 29"/>
          <p:cNvSpPr/>
          <p:nvPr/>
        </p:nvSpPr>
        <p:spPr>
          <a:xfrm>
            <a:off x="1435608" y="4471416"/>
            <a:ext cx="365760" cy="347472"/>
          </a:xfrm>
          <a:prstGeom prst="rect">
            <a:avLst/>
          </a:prstGeom>
          <a:solidFill>
            <a:srgbClr val="C9C6BC"/>
          </a:solidFill>
          <a:ln/>
        </p:spPr>
      </p:sp>
      <p:sp>
        <p:nvSpPr>
          <p:cNvPr id="32" name="Shape 30"/>
          <p:cNvSpPr/>
          <p:nvPr/>
        </p:nvSpPr>
        <p:spPr>
          <a:xfrm>
            <a:off x="1938528" y="4581144"/>
            <a:ext cx="365760" cy="237744"/>
          </a:xfrm>
          <a:prstGeom prst="rect">
            <a:avLst/>
          </a:prstGeom>
          <a:solidFill>
            <a:srgbClr val="C9C6BC"/>
          </a:solidFill>
          <a:ln/>
        </p:spPr>
      </p:sp>
      <p:sp>
        <p:nvSpPr>
          <p:cNvPr id="33" name="Shape 31"/>
          <p:cNvSpPr/>
          <p:nvPr/>
        </p:nvSpPr>
        <p:spPr>
          <a:xfrm>
            <a:off x="2441448" y="4690872"/>
            <a:ext cx="365760" cy="128016"/>
          </a:xfrm>
          <a:prstGeom prst="rect">
            <a:avLst/>
          </a:prstGeom>
          <a:solidFill>
            <a:srgbClr val="C9C6BC"/>
          </a:solidFill>
          <a:ln/>
        </p:spPr>
      </p:sp>
      <p:sp>
        <p:nvSpPr>
          <p:cNvPr id="34" name="Text 32"/>
          <p:cNvSpPr txBox="1"/>
          <p:nvPr/>
        </p:nvSpPr>
        <p:spPr>
          <a:xfrm>
            <a:off x="804672" y="5001768"/>
            <a:ext cx="2962656" cy="29260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Reduction plan optimizer</a:t>
            </a:r>
            <a:endParaRPr lang="en-US" sz="1500" dirty="0"/>
          </a:p>
        </p:txBody>
      </p:sp>
      <p:sp>
        <p:nvSpPr>
          <p:cNvPr id="35" name="Text 33"/>
          <p:cNvSpPr txBox="1"/>
          <p:nvPr/>
        </p:nvSpPr>
        <p:spPr>
          <a:xfrm>
            <a:off x="804672" y="5312664"/>
            <a:ext cx="2962656" cy="566928"/>
          </a:xfrm>
          <a:prstGeom prst="rect">
            <a:avLst/>
          </a:prstGeom>
          <a:noFill/>
          <a:ln/>
        </p:spPr>
        <p:txBody>
          <a:bodyPr wrap="square" lIns="0" tIns="0" rIns="0" bIns="0" rtlCol="0" anchor="ctr"/>
          <a:lstStyle/>
          <a:p>
            <a:pPr indent="0" marL="0">
              <a:lnSpc>
                <a:spcPts val="1300"/>
              </a:lnSpc>
              <a:buNone/>
            </a:pPr>
            <a:r>
              <a:rPr lang="en-US" sz="1050" dirty="0">
                <a:solidFill>
                  <a:srgbClr val="8C8C86"/>
                </a:solidFill>
                <a:latin typeface="Arial" pitchFamily="34" charset="0"/>
                <a:ea typeface="Arial" pitchFamily="34" charset="-122"/>
                <a:cs typeface="Arial" pitchFamily="34" charset="-120"/>
              </a:rPr>
              <a:t>Picks the actions with the best CO₂e saved per unit of spend, within your budget.</a:t>
            </a:r>
            <a:endParaRPr lang="en-US" sz="1050" dirty="0"/>
          </a:p>
        </p:txBody>
      </p:sp>
      <p:sp>
        <p:nvSpPr>
          <p:cNvPr id="36" name="Shape 34"/>
          <p:cNvSpPr/>
          <p:nvPr/>
        </p:nvSpPr>
        <p:spPr>
          <a:xfrm>
            <a:off x="4261104" y="3977640"/>
            <a:ext cx="3474720" cy="2011680"/>
          </a:xfrm>
          <a:prstGeom prst="roundRect">
            <a:avLst>
              <a:gd name="adj" fmla="val 2727"/>
            </a:avLst>
          </a:prstGeom>
          <a:solidFill>
            <a:srgbClr val="FFFFFF"/>
          </a:solidFill>
          <a:ln w="12700">
            <a:solidFill>
              <a:srgbClr val="111111"/>
            </a:solidFill>
            <a:prstDash val="solid"/>
          </a:ln>
        </p:spPr>
      </p:sp>
      <p:sp>
        <p:nvSpPr>
          <p:cNvPr id="37" name="Shape 35"/>
          <p:cNvSpPr/>
          <p:nvPr/>
        </p:nvSpPr>
        <p:spPr>
          <a:xfrm>
            <a:off x="4517136" y="4233672"/>
            <a:ext cx="2962656" cy="658368"/>
          </a:xfrm>
          <a:prstGeom prst="roundRect">
            <a:avLst>
              <a:gd name="adj" fmla="val 6944"/>
            </a:avLst>
          </a:prstGeom>
          <a:solidFill>
            <a:srgbClr val="EDEBE4"/>
          </a:solidFill>
          <a:ln w="12700">
            <a:solidFill>
              <a:srgbClr val="EDEBE4"/>
            </a:solidFill>
            <a:prstDash val="solid"/>
          </a:ln>
        </p:spPr>
      </p:sp>
      <p:sp>
        <p:nvSpPr>
          <p:cNvPr id="38" name="Shape 36"/>
          <p:cNvSpPr/>
          <p:nvPr/>
        </p:nvSpPr>
        <p:spPr>
          <a:xfrm>
            <a:off x="4645152" y="4471416"/>
            <a:ext cx="237744" cy="237744"/>
          </a:xfrm>
          <a:prstGeom prst="rect">
            <a:avLst/>
          </a:prstGeom>
          <a:solidFill>
            <a:srgbClr val="C9C6BC"/>
          </a:solidFill>
          <a:ln/>
        </p:spPr>
      </p:sp>
      <p:sp>
        <p:nvSpPr>
          <p:cNvPr id="39" name="Shape 37"/>
          <p:cNvSpPr/>
          <p:nvPr/>
        </p:nvSpPr>
        <p:spPr>
          <a:xfrm>
            <a:off x="4956048" y="4471416"/>
            <a:ext cx="237744" cy="237744"/>
          </a:xfrm>
          <a:prstGeom prst="rect">
            <a:avLst/>
          </a:prstGeom>
          <a:solidFill>
            <a:srgbClr val="C9C6BC"/>
          </a:solidFill>
          <a:ln/>
        </p:spPr>
      </p:sp>
      <p:sp>
        <p:nvSpPr>
          <p:cNvPr id="40" name="Shape 38"/>
          <p:cNvSpPr/>
          <p:nvPr/>
        </p:nvSpPr>
        <p:spPr>
          <a:xfrm>
            <a:off x="5266944" y="4471416"/>
            <a:ext cx="237744" cy="237744"/>
          </a:xfrm>
          <a:prstGeom prst="rect">
            <a:avLst/>
          </a:prstGeom>
          <a:solidFill>
            <a:srgbClr val="C9C6BC"/>
          </a:solidFill>
          <a:ln/>
        </p:spPr>
      </p:sp>
      <p:sp>
        <p:nvSpPr>
          <p:cNvPr id="41" name="Shape 39"/>
          <p:cNvSpPr/>
          <p:nvPr/>
        </p:nvSpPr>
        <p:spPr>
          <a:xfrm>
            <a:off x="5577840" y="4471416"/>
            <a:ext cx="237744" cy="237744"/>
          </a:xfrm>
          <a:prstGeom prst="rect">
            <a:avLst/>
          </a:prstGeom>
          <a:solidFill>
            <a:srgbClr val="C9C6BC"/>
          </a:solidFill>
          <a:ln/>
        </p:spPr>
      </p:sp>
      <p:sp>
        <p:nvSpPr>
          <p:cNvPr id="42" name="Shape 40"/>
          <p:cNvSpPr/>
          <p:nvPr/>
        </p:nvSpPr>
        <p:spPr>
          <a:xfrm>
            <a:off x="5888736" y="4471416"/>
            <a:ext cx="237744" cy="237744"/>
          </a:xfrm>
          <a:prstGeom prst="rect">
            <a:avLst/>
          </a:prstGeom>
          <a:solidFill>
            <a:srgbClr val="FF5A4E"/>
          </a:solidFill>
          <a:ln/>
        </p:spPr>
      </p:sp>
      <p:sp>
        <p:nvSpPr>
          <p:cNvPr id="43" name="Shape 41"/>
          <p:cNvSpPr/>
          <p:nvPr/>
        </p:nvSpPr>
        <p:spPr>
          <a:xfrm>
            <a:off x="6199632" y="4471416"/>
            <a:ext cx="237744" cy="237744"/>
          </a:xfrm>
          <a:prstGeom prst="rect">
            <a:avLst/>
          </a:prstGeom>
          <a:solidFill>
            <a:srgbClr val="C9C6BC"/>
          </a:solidFill>
          <a:ln/>
        </p:spPr>
      </p:sp>
      <p:sp>
        <p:nvSpPr>
          <p:cNvPr id="44" name="Shape 42"/>
          <p:cNvSpPr/>
          <p:nvPr/>
        </p:nvSpPr>
        <p:spPr>
          <a:xfrm>
            <a:off x="6510528" y="4471416"/>
            <a:ext cx="237744" cy="237744"/>
          </a:xfrm>
          <a:prstGeom prst="rect">
            <a:avLst/>
          </a:prstGeom>
          <a:solidFill>
            <a:srgbClr val="C9C6BC"/>
          </a:solidFill>
          <a:ln/>
        </p:spPr>
      </p:sp>
      <p:sp>
        <p:nvSpPr>
          <p:cNvPr id="45" name="Text 43"/>
          <p:cNvSpPr txBox="1"/>
          <p:nvPr/>
        </p:nvSpPr>
        <p:spPr>
          <a:xfrm>
            <a:off x="4517136" y="5001768"/>
            <a:ext cx="2962656" cy="29260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Carbon diary</a:t>
            </a:r>
            <a:endParaRPr lang="en-US" sz="1500" dirty="0"/>
          </a:p>
        </p:txBody>
      </p:sp>
      <p:sp>
        <p:nvSpPr>
          <p:cNvPr id="46" name="Text 44"/>
          <p:cNvSpPr txBox="1"/>
          <p:nvPr/>
        </p:nvSpPr>
        <p:spPr>
          <a:xfrm>
            <a:off x="4517136" y="5312664"/>
            <a:ext cx="2962656" cy="566928"/>
          </a:xfrm>
          <a:prstGeom prst="rect">
            <a:avLst/>
          </a:prstGeom>
          <a:noFill/>
          <a:ln/>
        </p:spPr>
        <p:txBody>
          <a:bodyPr wrap="square" lIns="0" tIns="0" rIns="0" bIns="0" rtlCol="0" anchor="ctr"/>
          <a:lstStyle/>
          <a:p>
            <a:pPr indent="0" marL="0">
              <a:lnSpc>
                <a:spcPts val="1300"/>
              </a:lnSpc>
              <a:buNone/>
            </a:pPr>
            <a:r>
              <a:rPr lang="en-US" sz="1050" dirty="0">
                <a:solidFill>
                  <a:srgbClr val="8C8C86"/>
                </a:solidFill>
                <a:latin typeface="Arial" pitchFamily="34" charset="0"/>
                <a:ea typeface="Arial" pitchFamily="34" charset="-122"/>
                <a:cs typeface="Arial" pitchFamily="34" charset="-120"/>
              </a:rPr>
              <a:t>Daily logging with a live estimate and automatic anomaly flags on unusual spikes.</a:t>
            </a:r>
            <a:endParaRPr lang="en-US" sz="1050" dirty="0"/>
          </a:p>
        </p:txBody>
      </p:sp>
      <p:sp>
        <p:nvSpPr>
          <p:cNvPr id="47" name="Shape 45"/>
          <p:cNvSpPr/>
          <p:nvPr/>
        </p:nvSpPr>
        <p:spPr>
          <a:xfrm>
            <a:off x="7973568" y="3977640"/>
            <a:ext cx="3474720" cy="2011680"/>
          </a:xfrm>
          <a:prstGeom prst="roundRect">
            <a:avLst>
              <a:gd name="adj" fmla="val 2727"/>
            </a:avLst>
          </a:prstGeom>
          <a:solidFill>
            <a:srgbClr val="FFFFFF"/>
          </a:solidFill>
          <a:ln w="12700">
            <a:solidFill>
              <a:srgbClr val="111111"/>
            </a:solidFill>
            <a:prstDash val="solid"/>
          </a:ln>
        </p:spPr>
      </p:sp>
      <p:sp>
        <p:nvSpPr>
          <p:cNvPr id="48" name="Shape 46"/>
          <p:cNvSpPr/>
          <p:nvPr/>
        </p:nvSpPr>
        <p:spPr>
          <a:xfrm>
            <a:off x="8229600" y="4233672"/>
            <a:ext cx="2962656" cy="658368"/>
          </a:xfrm>
          <a:prstGeom prst="roundRect">
            <a:avLst>
              <a:gd name="adj" fmla="val 6944"/>
            </a:avLst>
          </a:prstGeom>
          <a:solidFill>
            <a:srgbClr val="EDEBE4"/>
          </a:solidFill>
          <a:ln w="12700">
            <a:solidFill>
              <a:srgbClr val="EDEBE4"/>
            </a:solidFill>
            <a:prstDash val="solid"/>
          </a:ln>
        </p:spPr>
      </p:sp>
      <p:sp>
        <p:nvSpPr>
          <p:cNvPr id="49" name="Shape 47"/>
          <p:cNvSpPr/>
          <p:nvPr/>
        </p:nvSpPr>
        <p:spPr>
          <a:xfrm>
            <a:off x="8357616" y="4343400"/>
            <a:ext cx="1371600" cy="201168"/>
          </a:xfrm>
          <a:prstGeom prst="roundRect">
            <a:avLst>
              <a:gd name="adj" fmla="val 45455"/>
            </a:avLst>
          </a:prstGeom>
          <a:solidFill>
            <a:srgbClr val="C9C6BC"/>
          </a:solidFill>
          <a:ln/>
        </p:spPr>
      </p:sp>
      <p:sp>
        <p:nvSpPr>
          <p:cNvPr id="50" name="Shape 48"/>
          <p:cNvSpPr/>
          <p:nvPr/>
        </p:nvSpPr>
        <p:spPr>
          <a:xfrm>
            <a:off x="9180576" y="4617720"/>
            <a:ext cx="1554480" cy="201168"/>
          </a:xfrm>
          <a:prstGeom prst="roundRect">
            <a:avLst>
              <a:gd name="adj" fmla="val 45455"/>
            </a:avLst>
          </a:prstGeom>
          <a:solidFill>
            <a:srgbClr val="7B5CFF"/>
          </a:solidFill>
          <a:ln/>
        </p:spPr>
      </p:sp>
      <p:sp>
        <p:nvSpPr>
          <p:cNvPr id="51" name="Text 49"/>
          <p:cNvSpPr txBox="1"/>
          <p:nvPr/>
        </p:nvSpPr>
        <p:spPr>
          <a:xfrm>
            <a:off x="8229600" y="5001768"/>
            <a:ext cx="2962656" cy="29260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Carbon Coach</a:t>
            </a:r>
            <a:endParaRPr lang="en-US" sz="1500" dirty="0"/>
          </a:p>
        </p:txBody>
      </p:sp>
      <p:sp>
        <p:nvSpPr>
          <p:cNvPr id="52" name="Text 50"/>
          <p:cNvSpPr txBox="1"/>
          <p:nvPr/>
        </p:nvSpPr>
        <p:spPr>
          <a:xfrm>
            <a:off x="8229600" y="5312664"/>
            <a:ext cx="2962656" cy="566928"/>
          </a:xfrm>
          <a:prstGeom prst="rect">
            <a:avLst/>
          </a:prstGeom>
          <a:noFill/>
          <a:ln/>
        </p:spPr>
        <p:txBody>
          <a:bodyPr wrap="square" lIns="0" tIns="0" rIns="0" bIns="0" rtlCol="0" anchor="ctr"/>
          <a:lstStyle/>
          <a:p>
            <a:pPr indent="0" marL="0">
              <a:lnSpc>
                <a:spcPts val="1300"/>
              </a:lnSpc>
              <a:buNone/>
            </a:pPr>
            <a:r>
              <a:rPr lang="en-US" sz="1050" dirty="0">
                <a:solidFill>
                  <a:srgbClr val="8C8C86"/>
                </a:solidFill>
                <a:latin typeface="Arial" pitchFamily="34" charset="0"/>
                <a:ea typeface="Arial" pitchFamily="34" charset="-122"/>
                <a:cs typeface="Arial" pitchFamily="34" charset="-120"/>
              </a:rPr>
              <a:t>Question and answer over your own footprint numbers, local or Groq mode.</a:t>
            </a:r>
            <a:endParaRPr lang="en-US" sz="1050" dirty="0"/>
          </a:p>
        </p:txBody>
      </p:sp>
      <p:sp>
        <p:nvSpPr>
          <p:cNvPr id="53" name="Text 51"/>
          <p:cNvSpPr txBox="1"/>
          <p:nvPr/>
        </p:nvSpPr>
        <p:spPr>
          <a:xfrm>
            <a:off x="548640" y="6263640"/>
            <a:ext cx="11064240" cy="320040"/>
          </a:xfrm>
          <a:prstGeom prst="rect">
            <a:avLst/>
          </a:prstGeom>
          <a:noFill/>
          <a:ln/>
        </p:spPr>
        <p:txBody>
          <a:bodyPr wrap="square" lIns="0" tIns="0" rIns="0" bIns="0" rtlCol="0" anchor="ctr"/>
          <a:lstStyle/>
          <a:p>
            <a:pPr indent="0" marL="0">
              <a:buNone/>
            </a:pPr>
            <a:r>
              <a:rPr lang="en-US" sz="1000" i="1" dirty="0">
                <a:solidFill>
                  <a:srgbClr val="8C8C86"/>
                </a:solidFill>
                <a:latin typeface="Arial" pitchFamily="34" charset="0"/>
                <a:ea typeface="Arial" pitchFamily="34" charset="-122"/>
                <a:cs typeface="Arial" pitchFamily="34" charset="-120"/>
              </a:rPr>
              <a:t>Diagrams above are layout mockups. Replace them with live screenshots from your running build before the final demo.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111111"/>
                </a:solidFill>
                <a:latin typeface="Arial" pitchFamily="34" charset="0"/>
                <a:ea typeface="Arial" pitchFamily="34" charset="-122"/>
                <a:cs typeface="Arial" pitchFamily="34" charset="-120"/>
              </a:rPr>
              <a:t>Responsible AI, built into the product</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indent="0" marL="0">
              <a:buNone/>
            </a:pPr>
            <a:r>
              <a:rPr lang="en-US" sz="1400" dirty="0">
                <a:solidFill>
                  <a:srgbClr val="8C8C86"/>
                </a:solidFill>
                <a:latin typeface="Arial" pitchFamily="34" charset="0"/>
                <a:ea typeface="Arial" pitchFamily="34" charset="-122"/>
                <a:cs typeface="Arial" pitchFamily="34" charset="-120"/>
              </a:rPr>
              <a:t>Not a policy page — these are implementation decisions.</a:t>
            </a:r>
            <a:endParaRPr lang="en-US" sz="1400" dirty="0"/>
          </a:p>
        </p:txBody>
      </p:sp>
      <p:sp>
        <p:nvSpPr>
          <p:cNvPr id="4" name="Shape 2"/>
          <p:cNvSpPr/>
          <p:nvPr/>
        </p:nvSpPr>
        <p:spPr>
          <a:xfrm>
            <a:off x="411480" y="1828800"/>
            <a:ext cx="2103120" cy="2697480"/>
          </a:xfrm>
          <a:prstGeom prst="roundRect">
            <a:avLst>
              <a:gd name="adj" fmla="val 2609"/>
            </a:avLst>
          </a:prstGeom>
          <a:solidFill>
            <a:srgbClr val="FFFFFF"/>
          </a:solidFill>
          <a:ln w="12700">
            <a:solidFill>
              <a:srgbClr val="111111"/>
            </a:solidFill>
            <a:prstDash val="solid"/>
          </a:ln>
        </p:spPr>
      </p:sp>
      <p:sp>
        <p:nvSpPr>
          <p:cNvPr id="5" name="Shape 3"/>
          <p:cNvSpPr/>
          <p:nvPr/>
        </p:nvSpPr>
        <p:spPr>
          <a:xfrm>
            <a:off x="411480" y="1828800"/>
            <a:ext cx="2103120" cy="822960"/>
          </a:xfrm>
          <a:prstGeom prst="roundRect">
            <a:avLst>
              <a:gd name="adj" fmla="val 6667"/>
            </a:avLst>
          </a:prstGeom>
          <a:solidFill>
            <a:srgbClr val="00BFD8"/>
          </a:solidFill>
          <a:ln w="12700">
            <a:solidFill>
              <a:srgbClr val="00BFD8"/>
            </a:solidFill>
            <a:prstDash val="solid"/>
          </a:ln>
        </p:spPr>
      </p:sp>
      <p:sp>
        <p:nvSpPr>
          <p:cNvPr id="6" name="Text 4"/>
          <p:cNvSpPr txBox="1"/>
          <p:nvPr/>
        </p:nvSpPr>
        <p:spPr>
          <a:xfrm>
            <a:off x="640080" y="1938528"/>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7" name="Text 5"/>
          <p:cNvSpPr txBox="1"/>
          <p:nvPr/>
        </p:nvSpPr>
        <p:spPr>
          <a:xfrm>
            <a:off x="640080" y="2212848"/>
            <a:ext cx="173736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Transparency</a:t>
            </a:r>
            <a:endParaRPr lang="en-US" sz="1500" dirty="0"/>
          </a:p>
        </p:txBody>
      </p:sp>
      <p:sp>
        <p:nvSpPr>
          <p:cNvPr id="8" name="Text 6"/>
          <p:cNvSpPr txBox="1"/>
          <p:nvPr/>
        </p:nvSpPr>
        <p:spPr>
          <a:xfrm>
            <a:off x="640080" y="2788920"/>
            <a:ext cx="1691640" cy="1645920"/>
          </a:xfrm>
          <a:prstGeom prst="rect">
            <a:avLst/>
          </a:prstGeom>
          <a:noFill/>
          <a:ln/>
        </p:spPr>
        <p:txBody>
          <a:bodyPr wrap="square" lIns="0" tIns="0" rIns="0" bIns="0" rtlCol="0" anchor="t"/>
          <a:lstStyle/>
          <a:p>
            <a:pPr indent="0" marL="0">
              <a:lnSpc>
                <a:spcPts val="1500"/>
              </a:lnSpc>
              <a:buNone/>
            </a:pPr>
            <a:r>
              <a:rPr lang="en-US" sz="1100" dirty="0">
                <a:solidFill>
                  <a:srgbClr val="111111"/>
                </a:solidFill>
                <a:latin typeface="Arial" pitchFamily="34" charset="0"/>
                <a:ea typeface="Arial" pitchFamily="34" charset="-122"/>
                <a:cs typeface="Arial" pitchFamily="34" charset="-120"/>
              </a:rPr>
              <a:t>Factors, formulas, sources, region and confidence are all visible in the app.</a:t>
            </a:r>
            <a:endParaRPr lang="en-US" sz="1100" dirty="0"/>
          </a:p>
        </p:txBody>
      </p:sp>
      <p:sp>
        <p:nvSpPr>
          <p:cNvPr id="9" name="Shape 7"/>
          <p:cNvSpPr/>
          <p:nvPr/>
        </p:nvSpPr>
        <p:spPr>
          <a:xfrm>
            <a:off x="2715768" y="1828800"/>
            <a:ext cx="2103120" cy="2697480"/>
          </a:xfrm>
          <a:prstGeom prst="roundRect">
            <a:avLst>
              <a:gd name="adj" fmla="val 2609"/>
            </a:avLst>
          </a:prstGeom>
          <a:solidFill>
            <a:srgbClr val="FFFFFF"/>
          </a:solidFill>
          <a:ln w="12700">
            <a:solidFill>
              <a:srgbClr val="111111"/>
            </a:solidFill>
            <a:prstDash val="solid"/>
          </a:ln>
        </p:spPr>
      </p:sp>
      <p:sp>
        <p:nvSpPr>
          <p:cNvPr id="10" name="Shape 8"/>
          <p:cNvSpPr/>
          <p:nvPr/>
        </p:nvSpPr>
        <p:spPr>
          <a:xfrm>
            <a:off x="2715768" y="1828800"/>
            <a:ext cx="2103120" cy="822960"/>
          </a:xfrm>
          <a:prstGeom prst="roundRect">
            <a:avLst>
              <a:gd name="adj" fmla="val 6667"/>
            </a:avLst>
          </a:prstGeom>
          <a:solidFill>
            <a:srgbClr val="1F6FEB"/>
          </a:solidFill>
          <a:ln w="12700">
            <a:solidFill>
              <a:srgbClr val="1F6FEB"/>
            </a:solidFill>
            <a:prstDash val="solid"/>
          </a:ln>
        </p:spPr>
      </p:sp>
      <p:sp>
        <p:nvSpPr>
          <p:cNvPr id="11" name="Text 9"/>
          <p:cNvSpPr txBox="1"/>
          <p:nvPr/>
        </p:nvSpPr>
        <p:spPr>
          <a:xfrm>
            <a:off x="2944368" y="1938528"/>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2" name="Text 10"/>
          <p:cNvSpPr txBox="1"/>
          <p:nvPr/>
        </p:nvSpPr>
        <p:spPr>
          <a:xfrm>
            <a:off x="2944368" y="2212848"/>
            <a:ext cx="173736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Fairness</a:t>
            </a:r>
            <a:endParaRPr lang="en-US" sz="1500" dirty="0"/>
          </a:p>
        </p:txBody>
      </p:sp>
      <p:sp>
        <p:nvSpPr>
          <p:cNvPr id="13" name="Text 11"/>
          <p:cNvSpPr txBox="1"/>
          <p:nvPr/>
        </p:nvSpPr>
        <p:spPr>
          <a:xfrm>
            <a:off x="2944368" y="2788920"/>
            <a:ext cx="1691640" cy="1645920"/>
          </a:xfrm>
          <a:prstGeom prst="rect">
            <a:avLst/>
          </a:prstGeom>
          <a:noFill/>
          <a:ln/>
        </p:spPr>
        <p:txBody>
          <a:bodyPr wrap="square" lIns="0" tIns="0" rIns="0" bIns="0" rtlCol="0" anchor="t"/>
          <a:lstStyle/>
          <a:p>
            <a:pPr indent="0" marL="0">
              <a:lnSpc>
                <a:spcPts val="1500"/>
              </a:lnSpc>
              <a:buNone/>
            </a:pPr>
            <a:r>
              <a:rPr lang="en-US" sz="1100" dirty="0">
                <a:solidFill>
                  <a:srgbClr val="111111"/>
                </a:solidFill>
                <a:latin typeface="Arial" pitchFamily="34" charset="0"/>
                <a:ea typeface="Arial" pitchFamily="34" charset="-122"/>
                <a:cs typeface="Arial" pitchFamily="34" charset="-120"/>
              </a:rPr>
              <a:t>Region-specific factors where supported, with a documented global fallback.</a:t>
            </a:r>
            <a:endParaRPr lang="en-US" sz="1100" dirty="0"/>
          </a:p>
        </p:txBody>
      </p:sp>
      <p:sp>
        <p:nvSpPr>
          <p:cNvPr id="14" name="Shape 12"/>
          <p:cNvSpPr/>
          <p:nvPr/>
        </p:nvSpPr>
        <p:spPr>
          <a:xfrm>
            <a:off x="5020056" y="1828800"/>
            <a:ext cx="2103120" cy="2697480"/>
          </a:xfrm>
          <a:prstGeom prst="roundRect">
            <a:avLst>
              <a:gd name="adj" fmla="val 2609"/>
            </a:avLst>
          </a:prstGeom>
          <a:solidFill>
            <a:srgbClr val="FFFFFF"/>
          </a:solidFill>
          <a:ln w="12700">
            <a:solidFill>
              <a:srgbClr val="111111"/>
            </a:solidFill>
            <a:prstDash val="solid"/>
          </a:ln>
        </p:spPr>
      </p:sp>
      <p:sp>
        <p:nvSpPr>
          <p:cNvPr id="15" name="Shape 13"/>
          <p:cNvSpPr/>
          <p:nvPr/>
        </p:nvSpPr>
        <p:spPr>
          <a:xfrm>
            <a:off x="5020056" y="1828800"/>
            <a:ext cx="2103120" cy="822960"/>
          </a:xfrm>
          <a:prstGeom prst="roundRect">
            <a:avLst>
              <a:gd name="adj" fmla="val 6667"/>
            </a:avLst>
          </a:prstGeom>
          <a:solidFill>
            <a:srgbClr val="7B5CFF"/>
          </a:solidFill>
          <a:ln w="12700">
            <a:solidFill>
              <a:srgbClr val="7B5CFF"/>
            </a:solidFill>
            <a:prstDash val="solid"/>
          </a:ln>
        </p:spPr>
      </p:sp>
      <p:sp>
        <p:nvSpPr>
          <p:cNvPr id="16" name="Text 14"/>
          <p:cNvSpPr txBox="1"/>
          <p:nvPr/>
        </p:nvSpPr>
        <p:spPr>
          <a:xfrm>
            <a:off x="5248656" y="1938528"/>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7" name="Text 15"/>
          <p:cNvSpPr txBox="1"/>
          <p:nvPr/>
        </p:nvSpPr>
        <p:spPr>
          <a:xfrm>
            <a:off x="5248656" y="2212848"/>
            <a:ext cx="173736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Privacy</a:t>
            </a:r>
            <a:endParaRPr lang="en-US" sz="1500" dirty="0"/>
          </a:p>
        </p:txBody>
      </p:sp>
      <p:sp>
        <p:nvSpPr>
          <p:cNvPr id="18" name="Text 16"/>
          <p:cNvSpPr txBox="1"/>
          <p:nvPr/>
        </p:nvSpPr>
        <p:spPr>
          <a:xfrm>
            <a:off x="5248656" y="2788920"/>
            <a:ext cx="1691640" cy="1645920"/>
          </a:xfrm>
          <a:prstGeom prst="rect">
            <a:avLst/>
          </a:prstGeom>
          <a:noFill/>
          <a:ln/>
        </p:spPr>
        <p:txBody>
          <a:bodyPr wrap="square" lIns="0" tIns="0" rIns="0" bIns="0" rtlCol="0" anchor="t"/>
          <a:lstStyle/>
          <a:p>
            <a:pPr indent="0" marL="0">
              <a:lnSpc>
                <a:spcPts val="1500"/>
              </a:lnSpc>
              <a:buNone/>
            </a:pPr>
            <a:r>
              <a:rPr lang="en-US" sz="1100" dirty="0">
                <a:solidFill>
                  <a:srgbClr val="111111"/>
                </a:solidFill>
                <a:latin typeface="Arial" pitchFamily="34" charset="0"/>
                <a:ea typeface="Arial" pitchFamily="34" charset="-122"/>
                <a:cs typeface="Arial" pitchFamily="34" charset="-120"/>
              </a:rPr>
              <a:t>Authenticated, user-scoped data. Every record belongs to one signed-in account.</a:t>
            </a:r>
            <a:endParaRPr lang="en-US" sz="1100" dirty="0"/>
          </a:p>
        </p:txBody>
      </p:sp>
      <p:sp>
        <p:nvSpPr>
          <p:cNvPr id="19" name="Shape 17"/>
          <p:cNvSpPr/>
          <p:nvPr/>
        </p:nvSpPr>
        <p:spPr>
          <a:xfrm>
            <a:off x="7324344" y="1828800"/>
            <a:ext cx="2103120" cy="2697480"/>
          </a:xfrm>
          <a:prstGeom prst="roundRect">
            <a:avLst>
              <a:gd name="adj" fmla="val 2609"/>
            </a:avLst>
          </a:prstGeom>
          <a:solidFill>
            <a:srgbClr val="FFFFFF"/>
          </a:solidFill>
          <a:ln w="12700">
            <a:solidFill>
              <a:srgbClr val="111111"/>
            </a:solidFill>
            <a:prstDash val="solid"/>
          </a:ln>
        </p:spPr>
      </p:sp>
      <p:sp>
        <p:nvSpPr>
          <p:cNvPr id="20" name="Shape 18"/>
          <p:cNvSpPr/>
          <p:nvPr/>
        </p:nvSpPr>
        <p:spPr>
          <a:xfrm>
            <a:off x="7324344" y="1828800"/>
            <a:ext cx="2103120" cy="822960"/>
          </a:xfrm>
          <a:prstGeom prst="roundRect">
            <a:avLst>
              <a:gd name="adj" fmla="val 6667"/>
            </a:avLst>
          </a:prstGeom>
          <a:solidFill>
            <a:srgbClr val="FF5A4E"/>
          </a:solidFill>
          <a:ln w="12700">
            <a:solidFill>
              <a:srgbClr val="FF5A4E"/>
            </a:solidFill>
            <a:prstDash val="solid"/>
          </a:ln>
        </p:spPr>
      </p:sp>
      <p:sp>
        <p:nvSpPr>
          <p:cNvPr id="21" name="Text 19"/>
          <p:cNvSpPr txBox="1"/>
          <p:nvPr/>
        </p:nvSpPr>
        <p:spPr>
          <a:xfrm>
            <a:off x="7552944" y="1938528"/>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2" name="Text 20"/>
          <p:cNvSpPr txBox="1"/>
          <p:nvPr/>
        </p:nvSpPr>
        <p:spPr>
          <a:xfrm>
            <a:off x="7552944" y="2212848"/>
            <a:ext cx="173736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Honesty</a:t>
            </a:r>
            <a:endParaRPr lang="en-US" sz="1500" dirty="0"/>
          </a:p>
        </p:txBody>
      </p:sp>
      <p:sp>
        <p:nvSpPr>
          <p:cNvPr id="23" name="Text 21"/>
          <p:cNvSpPr txBox="1"/>
          <p:nvPr/>
        </p:nvSpPr>
        <p:spPr>
          <a:xfrm>
            <a:off x="7552944" y="2788920"/>
            <a:ext cx="1691640" cy="1645920"/>
          </a:xfrm>
          <a:prstGeom prst="rect">
            <a:avLst/>
          </a:prstGeom>
          <a:noFill/>
          <a:ln/>
        </p:spPr>
        <p:txBody>
          <a:bodyPr wrap="square" lIns="0" tIns="0" rIns="0" bIns="0" rtlCol="0" anchor="t"/>
          <a:lstStyle/>
          <a:p>
            <a:pPr indent="0" marL="0">
              <a:lnSpc>
                <a:spcPts val="1500"/>
              </a:lnSpc>
              <a:buNone/>
            </a:pPr>
            <a:r>
              <a:rPr lang="en-US" sz="1100" dirty="0">
                <a:solidFill>
                  <a:srgbClr val="111111"/>
                </a:solidFill>
                <a:latin typeface="Arial" pitchFamily="34" charset="0"/>
                <a:ea typeface="Arial" pitchFamily="34" charset="-122"/>
                <a:cs typeface="Arial" pitchFamily="34" charset="-120"/>
              </a:rPr>
              <a:t>Results are labelled estimates with a ± range, never exact measurements.</a:t>
            </a:r>
            <a:endParaRPr lang="en-US" sz="1100" dirty="0"/>
          </a:p>
        </p:txBody>
      </p:sp>
      <p:sp>
        <p:nvSpPr>
          <p:cNvPr id="24" name="Shape 22"/>
          <p:cNvSpPr/>
          <p:nvPr/>
        </p:nvSpPr>
        <p:spPr>
          <a:xfrm>
            <a:off x="9628632" y="1828800"/>
            <a:ext cx="2103120" cy="2697480"/>
          </a:xfrm>
          <a:prstGeom prst="roundRect">
            <a:avLst>
              <a:gd name="adj" fmla="val 2609"/>
            </a:avLst>
          </a:prstGeom>
          <a:solidFill>
            <a:srgbClr val="FFFFFF"/>
          </a:solidFill>
          <a:ln w="12700">
            <a:solidFill>
              <a:srgbClr val="111111"/>
            </a:solidFill>
            <a:prstDash val="solid"/>
          </a:ln>
        </p:spPr>
      </p:sp>
      <p:sp>
        <p:nvSpPr>
          <p:cNvPr id="25" name="Shape 23"/>
          <p:cNvSpPr/>
          <p:nvPr/>
        </p:nvSpPr>
        <p:spPr>
          <a:xfrm>
            <a:off x="9628632" y="1828800"/>
            <a:ext cx="2103120" cy="822960"/>
          </a:xfrm>
          <a:prstGeom prst="roundRect">
            <a:avLst>
              <a:gd name="adj" fmla="val 6667"/>
            </a:avLst>
          </a:prstGeom>
          <a:solidFill>
            <a:srgbClr val="FFC93C"/>
          </a:solidFill>
          <a:ln w="12700">
            <a:solidFill>
              <a:srgbClr val="FFC93C"/>
            </a:solidFill>
            <a:prstDash val="solid"/>
          </a:ln>
        </p:spPr>
      </p:sp>
      <p:sp>
        <p:nvSpPr>
          <p:cNvPr id="26" name="Text 24"/>
          <p:cNvSpPr txBox="1"/>
          <p:nvPr/>
        </p:nvSpPr>
        <p:spPr>
          <a:xfrm>
            <a:off x="9857232" y="1938528"/>
            <a:ext cx="1645920" cy="274320"/>
          </a:xfrm>
          <a:prstGeom prst="rect">
            <a:avLst/>
          </a:prstGeom>
          <a:noFill/>
          <a:ln/>
        </p:spPr>
        <p:txBody>
          <a:bodyPr wrap="square" lIns="0" tIns="0" rIns="0" bIns="0" rtlCol="0" anchor="ctr"/>
          <a:lstStyle/>
          <a:p>
            <a:pPr indent="0" marL="0">
              <a:buNone/>
            </a:pPr>
            <a:r>
              <a:rPr lang="en-US" sz="1100" b="1" dirty="0">
                <a:solidFill>
                  <a:srgbClr val="0B0B0B"/>
                </a:solidFill>
                <a:latin typeface="Arial" pitchFamily="34" charset="0"/>
                <a:ea typeface="Arial" pitchFamily="34" charset="-122"/>
                <a:cs typeface="Arial" pitchFamily="34" charset="-120"/>
              </a:rPr>
              <a:t>05</a:t>
            </a:r>
            <a:endParaRPr lang="en-US" sz="1100" dirty="0"/>
          </a:p>
        </p:txBody>
      </p:sp>
      <p:sp>
        <p:nvSpPr>
          <p:cNvPr id="27" name="Text 25"/>
          <p:cNvSpPr txBox="1"/>
          <p:nvPr/>
        </p:nvSpPr>
        <p:spPr>
          <a:xfrm>
            <a:off x="9857232" y="2212848"/>
            <a:ext cx="1737360" cy="365760"/>
          </a:xfrm>
          <a:prstGeom prst="rect">
            <a:avLst/>
          </a:prstGeom>
          <a:noFill/>
          <a:ln/>
        </p:spPr>
        <p:txBody>
          <a:bodyPr wrap="square" lIns="0" tIns="0" rIns="0" bIns="0" rtlCol="0" anchor="ctr"/>
          <a:lstStyle/>
          <a:p>
            <a:pPr indent="0" marL="0">
              <a:buNone/>
            </a:pPr>
            <a:r>
              <a:rPr lang="en-US" sz="1500" b="1" dirty="0">
                <a:solidFill>
                  <a:srgbClr val="0B0B0B"/>
                </a:solidFill>
                <a:latin typeface="Arial" pitchFamily="34" charset="0"/>
                <a:ea typeface="Arial" pitchFamily="34" charset="-122"/>
                <a:cs typeface="Arial" pitchFamily="34" charset="-120"/>
              </a:rPr>
              <a:t>Human control</a:t>
            </a:r>
            <a:endParaRPr lang="en-US" sz="1500" dirty="0"/>
          </a:p>
        </p:txBody>
      </p:sp>
      <p:sp>
        <p:nvSpPr>
          <p:cNvPr id="28" name="Text 26"/>
          <p:cNvSpPr txBox="1"/>
          <p:nvPr/>
        </p:nvSpPr>
        <p:spPr>
          <a:xfrm>
            <a:off x="9857232" y="2788920"/>
            <a:ext cx="1691640" cy="1645920"/>
          </a:xfrm>
          <a:prstGeom prst="rect">
            <a:avLst/>
          </a:prstGeom>
          <a:noFill/>
          <a:ln/>
        </p:spPr>
        <p:txBody>
          <a:bodyPr wrap="square" lIns="0" tIns="0" rIns="0" bIns="0" rtlCol="0" anchor="t"/>
          <a:lstStyle/>
          <a:p>
            <a:pPr indent="0" marL="0">
              <a:lnSpc>
                <a:spcPts val="1500"/>
              </a:lnSpc>
              <a:buNone/>
            </a:pPr>
            <a:r>
              <a:rPr lang="en-US" sz="1100" dirty="0">
                <a:solidFill>
                  <a:srgbClr val="111111"/>
                </a:solidFill>
                <a:latin typeface="Arial" pitchFamily="34" charset="0"/>
                <a:ea typeface="Arial" pitchFamily="34" charset="-122"/>
                <a:cs typeface="Arial" pitchFamily="34" charset="-120"/>
              </a:rPr>
              <a:t>The user chooses what to simulate and which actions to adopt. Nothing is automatic.</a:t>
            </a:r>
            <a:endParaRPr lang="en-US" sz="1100" dirty="0"/>
          </a:p>
        </p:txBody>
      </p:sp>
      <p:sp>
        <p:nvSpPr>
          <p:cNvPr id="29" name="Shape 27"/>
          <p:cNvSpPr/>
          <p:nvPr/>
        </p:nvSpPr>
        <p:spPr>
          <a:xfrm>
            <a:off x="411480" y="5029200"/>
            <a:ext cx="11384280" cy="868680"/>
          </a:xfrm>
          <a:prstGeom prst="roundRect">
            <a:avLst>
              <a:gd name="adj" fmla="val 6316"/>
            </a:avLst>
          </a:prstGeom>
          <a:solidFill>
            <a:srgbClr val="EDEBE4"/>
          </a:solidFill>
          <a:ln w="12700">
            <a:solidFill>
              <a:srgbClr val="111111"/>
            </a:solidFill>
            <a:prstDash val="solid"/>
          </a:ln>
        </p:spPr>
      </p:sp>
      <p:sp>
        <p:nvSpPr>
          <p:cNvPr id="30" name="Text 28"/>
          <p:cNvSpPr txBox="1"/>
          <p:nvPr/>
        </p:nvSpPr>
        <p:spPr>
          <a:xfrm>
            <a:off x="731520" y="5029200"/>
            <a:ext cx="10744200" cy="868680"/>
          </a:xfrm>
          <a:prstGeom prst="rect">
            <a:avLst/>
          </a:prstGeom>
          <a:noFill/>
          <a:ln/>
        </p:spPr>
        <p:txBody>
          <a:bodyPr wrap="square" lIns="0" tIns="0" rIns="0" bIns="0" rtlCol="0" anchor="ctr"/>
          <a:lstStyle/>
          <a:p>
            <a:pPr indent="0" marL="0">
              <a:lnSpc>
                <a:spcPts val="1600"/>
              </a:lnSpc>
              <a:buNone/>
            </a:pPr>
            <a:r>
              <a:rPr lang="en-US" sz="1200" dirty="0">
                <a:solidFill>
                  <a:srgbClr val="111111"/>
                </a:solidFill>
                <a:latin typeface="Arial" pitchFamily="34" charset="0"/>
                <a:ea typeface="Arial" pitchFamily="34" charset="-122"/>
                <a:cs typeface="Arial" pitchFamily="34" charset="-120"/>
              </a:rPr>
              <a:t>Known limits are documented, not hidden: SQLite single-file storage, diary logging restricted to global-region factors, no consumption activities in the simulator, and no browser end-to-end tests yet.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111111"/>
                </a:solidFill>
                <a:latin typeface="Arial" pitchFamily="34" charset="0"/>
                <a:ea typeface="Arial" pitchFamily="34" charset="-122"/>
                <a:cs typeface="Arial" pitchFamily="34" charset="-120"/>
              </a:rPr>
              <a:t>SDG alignment and expected impact</a:t>
            </a:r>
            <a:endParaRPr lang="en-US" sz="3800" dirty="0"/>
          </a:p>
        </p:txBody>
      </p:sp>
      <p:sp>
        <p:nvSpPr>
          <p:cNvPr id="3" name="Shape 1"/>
          <p:cNvSpPr/>
          <p:nvPr/>
        </p:nvSpPr>
        <p:spPr>
          <a:xfrm>
            <a:off x="548640" y="1783080"/>
            <a:ext cx="4937760" cy="1828800"/>
          </a:xfrm>
          <a:prstGeom prst="roundRect">
            <a:avLst>
              <a:gd name="adj" fmla="val 3000"/>
            </a:avLst>
          </a:prstGeom>
          <a:solidFill>
            <a:srgbClr val="FF5A4E"/>
          </a:solidFill>
          <a:ln w="12700">
            <a:solidFill>
              <a:srgbClr val="FF5A4E"/>
            </a:solidFill>
            <a:prstDash val="solid"/>
          </a:ln>
        </p:spPr>
      </p:sp>
      <p:sp>
        <p:nvSpPr>
          <p:cNvPr id="4" name="Text 2"/>
          <p:cNvSpPr txBox="1"/>
          <p:nvPr/>
        </p:nvSpPr>
        <p:spPr>
          <a:xfrm>
            <a:off x="868680" y="1965960"/>
            <a:ext cx="4297680" cy="274320"/>
          </a:xfrm>
          <a:prstGeom prst="rect">
            <a:avLst/>
          </a:prstGeom>
          <a:noFill/>
          <a:ln/>
        </p:spPr>
        <p:txBody>
          <a:bodyPr wrap="square" lIns="0" tIns="0" rIns="0" bIns="0" rtlCol="0" anchor="ctr"/>
          <a:lstStyle/>
          <a:p>
            <a:pPr indent="0" marL="0">
              <a:buNone/>
            </a:pPr>
            <a:r>
              <a:rPr lang="en-US" sz="1000" b="1" spc="200" kern="0" dirty="0">
                <a:solidFill>
                  <a:srgbClr val="FFE6E3"/>
                </a:solidFill>
                <a:latin typeface="Arial" pitchFamily="34" charset="0"/>
                <a:ea typeface="Arial" pitchFamily="34" charset="-122"/>
                <a:cs typeface="Arial" pitchFamily="34" charset="-120"/>
              </a:rPr>
              <a:t>PRIMARY</a:t>
            </a:r>
            <a:endParaRPr lang="en-US" sz="1000" dirty="0"/>
          </a:p>
        </p:txBody>
      </p:sp>
      <p:sp>
        <p:nvSpPr>
          <p:cNvPr id="5" name="Text 3"/>
          <p:cNvSpPr txBox="1"/>
          <p:nvPr/>
        </p:nvSpPr>
        <p:spPr>
          <a:xfrm>
            <a:off x="868680" y="2240280"/>
            <a:ext cx="4297680" cy="5943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SDG 13</a:t>
            </a:r>
            <a:endParaRPr lang="en-US" sz="4200" dirty="0"/>
          </a:p>
        </p:txBody>
      </p:sp>
      <p:sp>
        <p:nvSpPr>
          <p:cNvPr id="6" name="Text 4"/>
          <p:cNvSpPr txBox="1"/>
          <p:nvPr/>
        </p:nvSpPr>
        <p:spPr>
          <a:xfrm>
            <a:off x="868680" y="2880360"/>
            <a:ext cx="4297680" cy="36576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Climate Action</a:t>
            </a:r>
            <a:endParaRPr lang="en-US" sz="1900" dirty="0"/>
          </a:p>
        </p:txBody>
      </p:sp>
      <p:sp>
        <p:nvSpPr>
          <p:cNvPr id="7" name="Text 5"/>
          <p:cNvSpPr txBox="1"/>
          <p:nvPr/>
        </p:nvSpPr>
        <p:spPr>
          <a:xfrm>
            <a:off x="868680" y="3200400"/>
            <a:ext cx="4297680" cy="274320"/>
          </a:xfrm>
          <a:prstGeom prst="rect">
            <a:avLst/>
          </a:prstGeom>
          <a:noFill/>
          <a:ln/>
        </p:spPr>
        <p:txBody>
          <a:bodyPr wrap="square" lIns="0" tIns="0" rIns="0" bIns="0" rtlCol="0" anchor="ctr"/>
          <a:lstStyle/>
          <a:p>
            <a:pPr indent="0" marL="0">
              <a:buNone/>
            </a:pPr>
            <a:r>
              <a:rPr lang="en-US" sz="1100" dirty="0">
                <a:solidFill>
                  <a:srgbClr val="FFE6E3"/>
                </a:solidFill>
                <a:latin typeface="Arial" pitchFamily="34" charset="0"/>
                <a:ea typeface="Arial" pitchFamily="34" charset="-122"/>
                <a:cs typeface="Arial" pitchFamily="34" charset="-120"/>
              </a:rPr>
              <a:t>Individual emission awareness and reduction planning.</a:t>
            </a:r>
            <a:endParaRPr lang="en-US" sz="1100" dirty="0"/>
          </a:p>
        </p:txBody>
      </p:sp>
      <p:sp>
        <p:nvSpPr>
          <p:cNvPr id="8" name="Shape 6"/>
          <p:cNvSpPr/>
          <p:nvPr/>
        </p:nvSpPr>
        <p:spPr>
          <a:xfrm>
            <a:off x="548640" y="3794760"/>
            <a:ext cx="4937760" cy="1371600"/>
          </a:xfrm>
          <a:prstGeom prst="roundRect">
            <a:avLst>
              <a:gd name="adj" fmla="val 4000"/>
            </a:avLst>
          </a:prstGeom>
          <a:solidFill>
            <a:srgbClr val="FFFFFF"/>
          </a:solidFill>
          <a:ln w="12700">
            <a:solidFill>
              <a:srgbClr val="111111"/>
            </a:solidFill>
            <a:prstDash val="solid"/>
          </a:ln>
        </p:spPr>
      </p:sp>
      <p:sp>
        <p:nvSpPr>
          <p:cNvPr id="9" name="Text 7"/>
          <p:cNvSpPr txBox="1"/>
          <p:nvPr/>
        </p:nvSpPr>
        <p:spPr>
          <a:xfrm>
            <a:off x="868680" y="3950208"/>
            <a:ext cx="4297680" cy="256032"/>
          </a:xfrm>
          <a:prstGeom prst="rect">
            <a:avLst/>
          </a:prstGeom>
          <a:noFill/>
          <a:ln/>
        </p:spPr>
        <p:txBody>
          <a:bodyPr wrap="square" lIns="0" tIns="0" rIns="0" bIns="0" rtlCol="0" anchor="ctr"/>
          <a:lstStyle/>
          <a:p>
            <a:pPr indent="0" marL="0">
              <a:buNone/>
            </a:pPr>
            <a:r>
              <a:rPr lang="en-US" sz="1000" b="1" spc="200" kern="0" dirty="0">
                <a:solidFill>
                  <a:srgbClr val="8C8C86"/>
                </a:solidFill>
                <a:latin typeface="Arial" pitchFamily="34" charset="0"/>
                <a:ea typeface="Arial" pitchFamily="34" charset="-122"/>
                <a:cs typeface="Arial" pitchFamily="34" charset="-120"/>
              </a:rPr>
              <a:t>SECONDARY</a:t>
            </a:r>
            <a:endParaRPr lang="en-US" sz="1000" dirty="0"/>
          </a:p>
        </p:txBody>
      </p:sp>
      <p:sp>
        <p:nvSpPr>
          <p:cNvPr id="10" name="Text 8"/>
          <p:cNvSpPr txBox="1"/>
          <p:nvPr/>
        </p:nvSpPr>
        <p:spPr>
          <a:xfrm>
            <a:off x="868680" y="4187952"/>
            <a:ext cx="1463040" cy="45720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SDG 12</a:t>
            </a:r>
            <a:endParaRPr lang="en-US" sz="2800" dirty="0"/>
          </a:p>
        </p:txBody>
      </p:sp>
      <p:sp>
        <p:nvSpPr>
          <p:cNvPr id="11" name="Text 9"/>
          <p:cNvSpPr txBox="1"/>
          <p:nvPr/>
        </p:nvSpPr>
        <p:spPr>
          <a:xfrm>
            <a:off x="2331720" y="4187952"/>
            <a:ext cx="2834640" cy="4572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Responsible Consumption and Production</a:t>
            </a:r>
            <a:endParaRPr lang="en-US" sz="1300" dirty="0"/>
          </a:p>
        </p:txBody>
      </p:sp>
      <p:sp>
        <p:nvSpPr>
          <p:cNvPr id="12" name="Text 10"/>
          <p:cNvSpPr txBox="1"/>
          <p:nvPr/>
        </p:nvSpPr>
        <p:spPr>
          <a:xfrm>
            <a:off x="868680" y="4681728"/>
            <a:ext cx="4297680" cy="320040"/>
          </a:xfrm>
          <a:prstGeom prst="rect">
            <a:avLst/>
          </a:prstGeom>
          <a:noFill/>
          <a:ln/>
        </p:spPr>
        <p:txBody>
          <a:bodyPr wrap="square" lIns="0" tIns="0" rIns="0" bIns="0" rtlCol="0" anchor="ctr"/>
          <a:lstStyle/>
          <a:p>
            <a:pPr indent="0" marL="0">
              <a:buNone/>
            </a:pPr>
            <a:r>
              <a:rPr lang="en-US" sz="1100" dirty="0">
                <a:solidFill>
                  <a:srgbClr val="8C8C86"/>
                </a:solidFill>
                <a:latin typeface="Arial" pitchFamily="34" charset="0"/>
                <a:ea typeface="Arial" pitchFamily="34" charset="-122"/>
                <a:cs typeface="Arial" pitchFamily="34" charset="-120"/>
              </a:rPr>
              <a:t>Diet, energy, travel and waste choices made visible and comparable.</a:t>
            </a:r>
            <a:endParaRPr lang="en-US" sz="1100" dirty="0"/>
          </a:p>
        </p:txBody>
      </p:sp>
      <p:sp>
        <p:nvSpPr>
          <p:cNvPr id="13" name="Text 11"/>
          <p:cNvSpPr txBox="1"/>
          <p:nvPr/>
        </p:nvSpPr>
        <p:spPr>
          <a:xfrm>
            <a:off x="5943600" y="1783080"/>
            <a:ext cx="5669280" cy="274320"/>
          </a:xfrm>
          <a:prstGeom prst="rect">
            <a:avLst/>
          </a:prstGeom>
          <a:noFill/>
          <a:ln/>
        </p:spPr>
        <p:txBody>
          <a:bodyPr wrap="square" lIns="0" tIns="0" rIns="0" bIns="0" rtlCol="0" anchor="ctr"/>
          <a:lstStyle/>
          <a:p>
            <a:pPr indent="0" marL="0">
              <a:buNone/>
            </a:pPr>
            <a:r>
              <a:rPr lang="en-US" sz="1000" b="1" spc="200" kern="0" dirty="0">
                <a:solidFill>
                  <a:srgbClr val="8C8C86"/>
                </a:solidFill>
                <a:latin typeface="Arial" pitchFamily="34" charset="0"/>
                <a:ea typeface="Arial" pitchFamily="34" charset="-122"/>
                <a:cs typeface="Arial" pitchFamily="34" charset="-120"/>
              </a:rPr>
              <a:t>EXPECTED IMPACT PATHWAY</a:t>
            </a:r>
            <a:endParaRPr lang="en-US" sz="1000" dirty="0"/>
          </a:p>
        </p:txBody>
      </p:sp>
      <p:sp>
        <p:nvSpPr>
          <p:cNvPr id="14" name="Shape 12"/>
          <p:cNvSpPr/>
          <p:nvPr/>
        </p:nvSpPr>
        <p:spPr>
          <a:xfrm>
            <a:off x="5943600" y="2148840"/>
            <a:ext cx="5669280" cy="548640"/>
          </a:xfrm>
          <a:prstGeom prst="roundRect">
            <a:avLst>
              <a:gd name="adj" fmla="val 13333"/>
            </a:avLst>
          </a:prstGeom>
          <a:solidFill>
            <a:srgbClr val="FFFFFF"/>
          </a:solidFill>
          <a:ln w="12700">
            <a:solidFill>
              <a:srgbClr val="111111"/>
            </a:solidFill>
            <a:prstDash val="solid"/>
          </a:ln>
        </p:spPr>
      </p:sp>
      <p:sp>
        <p:nvSpPr>
          <p:cNvPr id="15" name="Shape 13"/>
          <p:cNvSpPr/>
          <p:nvPr/>
        </p:nvSpPr>
        <p:spPr>
          <a:xfrm>
            <a:off x="6144768" y="2267712"/>
            <a:ext cx="310896" cy="310896"/>
          </a:xfrm>
          <a:prstGeom prst="ellipse">
            <a:avLst/>
          </a:prstGeom>
          <a:solidFill>
            <a:srgbClr val="00BFD8"/>
          </a:solidFill>
          <a:ln w="12700">
            <a:solidFill>
              <a:srgbClr val="00BFD8"/>
            </a:solidFill>
            <a:prstDash val="solid"/>
          </a:ln>
        </p:spPr>
      </p:sp>
      <p:sp>
        <p:nvSpPr>
          <p:cNvPr id="16" name="Text 14"/>
          <p:cNvSpPr txBox="1"/>
          <p:nvPr/>
        </p:nvSpPr>
        <p:spPr>
          <a:xfrm>
            <a:off x="6144768" y="22677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7" name="Text 15"/>
          <p:cNvSpPr txBox="1"/>
          <p:nvPr/>
        </p:nvSpPr>
        <p:spPr>
          <a:xfrm>
            <a:off x="6583680" y="2194560"/>
            <a:ext cx="14630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Measure</a:t>
            </a:r>
            <a:endParaRPr lang="en-US" sz="1300" dirty="0"/>
          </a:p>
        </p:txBody>
      </p:sp>
      <p:sp>
        <p:nvSpPr>
          <p:cNvPr id="18" name="Text 16"/>
          <p:cNvSpPr txBox="1"/>
          <p:nvPr/>
        </p:nvSpPr>
        <p:spPr>
          <a:xfrm>
            <a:off x="6583680" y="2404872"/>
            <a:ext cx="4846320" cy="228600"/>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A baseline footprint from real activities</a:t>
            </a:r>
            <a:endParaRPr lang="en-US" sz="1000" dirty="0"/>
          </a:p>
        </p:txBody>
      </p:sp>
      <p:sp>
        <p:nvSpPr>
          <p:cNvPr id="19" name="Shape 17"/>
          <p:cNvSpPr/>
          <p:nvPr/>
        </p:nvSpPr>
        <p:spPr>
          <a:xfrm>
            <a:off x="5943600" y="2807208"/>
            <a:ext cx="5669280" cy="548640"/>
          </a:xfrm>
          <a:prstGeom prst="roundRect">
            <a:avLst>
              <a:gd name="adj" fmla="val 13333"/>
            </a:avLst>
          </a:prstGeom>
          <a:solidFill>
            <a:srgbClr val="FFFFFF"/>
          </a:solidFill>
          <a:ln w="12700">
            <a:solidFill>
              <a:srgbClr val="111111"/>
            </a:solidFill>
            <a:prstDash val="solid"/>
          </a:ln>
        </p:spPr>
      </p:sp>
      <p:sp>
        <p:nvSpPr>
          <p:cNvPr id="20" name="Shape 18"/>
          <p:cNvSpPr/>
          <p:nvPr/>
        </p:nvSpPr>
        <p:spPr>
          <a:xfrm>
            <a:off x="6144768" y="2926080"/>
            <a:ext cx="310896" cy="310896"/>
          </a:xfrm>
          <a:prstGeom prst="ellipse">
            <a:avLst/>
          </a:prstGeom>
          <a:solidFill>
            <a:srgbClr val="1F6FEB"/>
          </a:solidFill>
          <a:ln w="12700">
            <a:solidFill>
              <a:srgbClr val="1F6FEB"/>
            </a:solidFill>
            <a:prstDash val="solid"/>
          </a:ln>
        </p:spPr>
      </p:sp>
      <p:sp>
        <p:nvSpPr>
          <p:cNvPr id="21" name="Text 19"/>
          <p:cNvSpPr txBox="1"/>
          <p:nvPr/>
        </p:nvSpPr>
        <p:spPr>
          <a:xfrm>
            <a:off x="6144768" y="29260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Text 20"/>
          <p:cNvSpPr txBox="1"/>
          <p:nvPr/>
        </p:nvSpPr>
        <p:spPr>
          <a:xfrm>
            <a:off x="6583680" y="2852928"/>
            <a:ext cx="14630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Awareness</a:t>
            </a:r>
            <a:endParaRPr lang="en-US" sz="1300" dirty="0"/>
          </a:p>
        </p:txBody>
      </p:sp>
      <p:sp>
        <p:nvSpPr>
          <p:cNvPr id="23" name="Text 21"/>
          <p:cNvSpPr txBox="1"/>
          <p:nvPr/>
        </p:nvSpPr>
        <p:spPr>
          <a:xfrm>
            <a:off x="6583680" y="3063240"/>
            <a:ext cx="4846320" cy="228600"/>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The user sees the size of their own emissions</a:t>
            </a:r>
            <a:endParaRPr lang="en-US" sz="1000" dirty="0"/>
          </a:p>
        </p:txBody>
      </p:sp>
      <p:sp>
        <p:nvSpPr>
          <p:cNvPr id="24" name="Shape 22"/>
          <p:cNvSpPr/>
          <p:nvPr/>
        </p:nvSpPr>
        <p:spPr>
          <a:xfrm>
            <a:off x="5943600" y="3465576"/>
            <a:ext cx="5669280" cy="548640"/>
          </a:xfrm>
          <a:prstGeom prst="roundRect">
            <a:avLst>
              <a:gd name="adj" fmla="val 13333"/>
            </a:avLst>
          </a:prstGeom>
          <a:solidFill>
            <a:srgbClr val="FFFFFF"/>
          </a:solidFill>
          <a:ln w="12700">
            <a:solidFill>
              <a:srgbClr val="111111"/>
            </a:solidFill>
            <a:prstDash val="solid"/>
          </a:ln>
        </p:spPr>
      </p:sp>
      <p:sp>
        <p:nvSpPr>
          <p:cNvPr id="25" name="Shape 23"/>
          <p:cNvSpPr/>
          <p:nvPr/>
        </p:nvSpPr>
        <p:spPr>
          <a:xfrm>
            <a:off x="6144768" y="3584448"/>
            <a:ext cx="310896" cy="310896"/>
          </a:xfrm>
          <a:prstGeom prst="ellipse">
            <a:avLst/>
          </a:prstGeom>
          <a:solidFill>
            <a:srgbClr val="7B5CFF"/>
          </a:solidFill>
          <a:ln w="12700">
            <a:solidFill>
              <a:srgbClr val="7B5CFF"/>
            </a:solidFill>
            <a:prstDash val="solid"/>
          </a:ln>
        </p:spPr>
      </p:sp>
      <p:sp>
        <p:nvSpPr>
          <p:cNvPr id="26" name="Text 24"/>
          <p:cNvSpPr txBox="1"/>
          <p:nvPr/>
        </p:nvSpPr>
        <p:spPr>
          <a:xfrm>
            <a:off x="6144768" y="35844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7" name="Text 25"/>
          <p:cNvSpPr txBox="1"/>
          <p:nvPr/>
        </p:nvSpPr>
        <p:spPr>
          <a:xfrm>
            <a:off x="6583680" y="3511296"/>
            <a:ext cx="14630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Understanding</a:t>
            </a:r>
            <a:endParaRPr lang="en-US" sz="1300" dirty="0"/>
          </a:p>
        </p:txBody>
      </p:sp>
      <p:sp>
        <p:nvSpPr>
          <p:cNvPr id="28" name="Text 26"/>
          <p:cNvSpPr txBox="1"/>
          <p:nvPr/>
        </p:nvSpPr>
        <p:spPr>
          <a:xfrm>
            <a:off x="6583680" y="3721608"/>
            <a:ext cx="4846320" cy="228600"/>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They see which activities actually dominate</a:t>
            </a:r>
            <a:endParaRPr lang="en-US" sz="1000" dirty="0"/>
          </a:p>
        </p:txBody>
      </p:sp>
      <p:sp>
        <p:nvSpPr>
          <p:cNvPr id="29" name="Shape 27"/>
          <p:cNvSpPr/>
          <p:nvPr/>
        </p:nvSpPr>
        <p:spPr>
          <a:xfrm>
            <a:off x="5943600" y="4123944"/>
            <a:ext cx="5669280" cy="548640"/>
          </a:xfrm>
          <a:prstGeom prst="roundRect">
            <a:avLst>
              <a:gd name="adj" fmla="val 13333"/>
            </a:avLst>
          </a:prstGeom>
          <a:solidFill>
            <a:srgbClr val="FFFFFF"/>
          </a:solidFill>
          <a:ln w="12700">
            <a:solidFill>
              <a:srgbClr val="111111"/>
            </a:solidFill>
            <a:prstDash val="solid"/>
          </a:ln>
        </p:spPr>
      </p:sp>
      <p:sp>
        <p:nvSpPr>
          <p:cNvPr id="30" name="Shape 28"/>
          <p:cNvSpPr/>
          <p:nvPr/>
        </p:nvSpPr>
        <p:spPr>
          <a:xfrm>
            <a:off x="6144768" y="4242816"/>
            <a:ext cx="310896" cy="310896"/>
          </a:xfrm>
          <a:prstGeom prst="ellipse">
            <a:avLst/>
          </a:prstGeom>
          <a:solidFill>
            <a:srgbClr val="FFC93C"/>
          </a:solidFill>
          <a:ln w="12700">
            <a:solidFill>
              <a:srgbClr val="FFC93C"/>
            </a:solidFill>
            <a:prstDash val="solid"/>
          </a:ln>
        </p:spPr>
      </p:sp>
      <p:sp>
        <p:nvSpPr>
          <p:cNvPr id="31" name="Text 29"/>
          <p:cNvSpPr txBox="1"/>
          <p:nvPr/>
        </p:nvSpPr>
        <p:spPr>
          <a:xfrm>
            <a:off x="6144768" y="4242816"/>
            <a:ext cx="310896" cy="310896"/>
          </a:xfrm>
          <a:prstGeom prst="rect">
            <a:avLst/>
          </a:prstGeom>
          <a:noFill/>
          <a:ln/>
        </p:spPr>
        <p:txBody>
          <a:bodyPr wrap="square" lIns="0" tIns="0" rIns="0" bIns="0" rtlCol="0" anchor="ctr"/>
          <a:lstStyle/>
          <a:p>
            <a:pPr algn="ctr" indent="0" marL="0">
              <a:buNone/>
            </a:pPr>
            <a:r>
              <a:rPr lang="en-US" sz="1200" b="1" dirty="0">
                <a:solidFill>
                  <a:srgbClr val="0B0B0B"/>
                </a:solidFill>
                <a:latin typeface="Arial" pitchFamily="34" charset="0"/>
                <a:ea typeface="Arial" pitchFamily="34" charset="-122"/>
                <a:cs typeface="Arial" pitchFamily="34" charset="-120"/>
              </a:rPr>
              <a:t>4</a:t>
            </a:r>
            <a:endParaRPr lang="en-US" sz="1200" dirty="0"/>
          </a:p>
        </p:txBody>
      </p:sp>
      <p:sp>
        <p:nvSpPr>
          <p:cNvPr id="32" name="Text 30"/>
          <p:cNvSpPr txBox="1"/>
          <p:nvPr/>
        </p:nvSpPr>
        <p:spPr>
          <a:xfrm>
            <a:off x="6583680" y="4169664"/>
            <a:ext cx="14630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Action</a:t>
            </a:r>
            <a:endParaRPr lang="en-US" sz="1300" dirty="0"/>
          </a:p>
        </p:txBody>
      </p:sp>
      <p:sp>
        <p:nvSpPr>
          <p:cNvPr id="33" name="Text 31"/>
          <p:cNvSpPr txBox="1"/>
          <p:nvPr/>
        </p:nvSpPr>
        <p:spPr>
          <a:xfrm>
            <a:off x="6583680" y="4379976"/>
            <a:ext cx="4846320" cy="228600"/>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They test changes and get a budget-fit plan</a:t>
            </a:r>
            <a:endParaRPr lang="en-US" sz="1000" dirty="0"/>
          </a:p>
        </p:txBody>
      </p:sp>
      <p:sp>
        <p:nvSpPr>
          <p:cNvPr id="34" name="Shape 32"/>
          <p:cNvSpPr/>
          <p:nvPr/>
        </p:nvSpPr>
        <p:spPr>
          <a:xfrm>
            <a:off x="5943600" y="4782312"/>
            <a:ext cx="5669280" cy="548640"/>
          </a:xfrm>
          <a:prstGeom prst="roundRect">
            <a:avLst>
              <a:gd name="adj" fmla="val 13333"/>
            </a:avLst>
          </a:prstGeom>
          <a:solidFill>
            <a:srgbClr val="FFFFFF"/>
          </a:solidFill>
          <a:ln w="12700">
            <a:solidFill>
              <a:srgbClr val="111111"/>
            </a:solidFill>
            <a:prstDash val="solid"/>
          </a:ln>
        </p:spPr>
      </p:sp>
      <p:sp>
        <p:nvSpPr>
          <p:cNvPr id="35" name="Shape 33"/>
          <p:cNvSpPr/>
          <p:nvPr/>
        </p:nvSpPr>
        <p:spPr>
          <a:xfrm>
            <a:off x="6144768" y="4901184"/>
            <a:ext cx="310896" cy="310896"/>
          </a:xfrm>
          <a:prstGeom prst="ellipse">
            <a:avLst/>
          </a:prstGeom>
          <a:solidFill>
            <a:srgbClr val="FF5A4E"/>
          </a:solidFill>
          <a:ln w="12700">
            <a:solidFill>
              <a:srgbClr val="FF5A4E"/>
            </a:solidFill>
            <a:prstDash val="solid"/>
          </a:ln>
        </p:spPr>
      </p:sp>
      <p:sp>
        <p:nvSpPr>
          <p:cNvPr id="36" name="Text 34"/>
          <p:cNvSpPr txBox="1"/>
          <p:nvPr/>
        </p:nvSpPr>
        <p:spPr>
          <a:xfrm>
            <a:off x="6144768" y="4901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7" name="Text 35"/>
          <p:cNvSpPr txBox="1"/>
          <p:nvPr/>
        </p:nvSpPr>
        <p:spPr>
          <a:xfrm>
            <a:off x="6583680" y="4828032"/>
            <a:ext cx="1463040" cy="22860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Tracking</a:t>
            </a:r>
            <a:endParaRPr lang="en-US" sz="1300" dirty="0"/>
          </a:p>
        </p:txBody>
      </p:sp>
      <p:sp>
        <p:nvSpPr>
          <p:cNvPr id="38" name="Text 36"/>
          <p:cNvSpPr txBox="1"/>
          <p:nvPr/>
        </p:nvSpPr>
        <p:spPr>
          <a:xfrm>
            <a:off x="6583680" y="5038344"/>
            <a:ext cx="4846320" cy="228600"/>
          </a:xfrm>
          <a:prstGeom prst="rect">
            <a:avLst/>
          </a:prstGeom>
          <a:noFill/>
          <a:ln/>
        </p:spPr>
        <p:txBody>
          <a:bodyPr wrap="square" lIns="0" tIns="0" rIns="0" bIns="0" rtlCol="0" anchor="ctr"/>
          <a:lstStyle/>
          <a:p>
            <a:pPr indent="0" marL="0">
              <a:buNone/>
            </a:pPr>
            <a:r>
              <a:rPr lang="en-US" sz="1000" dirty="0">
                <a:solidFill>
                  <a:srgbClr val="8C8C86"/>
                </a:solidFill>
                <a:latin typeface="Arial" pitchFamily="34" charset="0"/>
                <a:ea typeface="Arial" pitchFamily="34" charset="-122"/>
                <a:cs typeface="Arial" pitchFamily="34" charset="-120"/>
              </a:rPr>
              <a:t>They log daily and watch the trend</a:t>
            </a:r>
            <a:endParaRPr lang="en-US" sz="1000" dirty="0"/>
          </a:p>
        </p:txBody>
      </p:sp>
      <p:sp>
        <p:nvSpPr>
          <p:cNvPr id="39" name="Shape 37"/>
          <p:cNvSpPr/>
          <p:nvPr/>
        </p:nvSpPr>
        <p:spPr>
          <a:xfrm>
            <a:off x="548640" y="5394960"/>
            <a:ext cx="11064240" cy="822960"/>
          </a:xfrm>
          <a:prstGeom prst="roundRect">
            <a:avLst>
              <a:gd name="adj" fmla="val 6667"/>
            </a:avLst>
          </a:prstGeom>
          <a:solidFill>
            <a:srgbClr val="EDEBE4"/>
          </a:solidFill>
          <a:ln w="12700">
            <a:solidFill>
              <a:srgbClr val="111111"/>
            </a:solidFill>
            <a:prstDash val="solid"/>
          </a:ln>
        </p:spPr>
      </p:sp>
      <p:sp>
        <p:nvSpPr>
          <p:cNvPr id="40" name="Text 38"/>
          <p:cNvSpPr txBox="1"/>
          <p:nvPr/>
        </p:nvSpPr>
        <p:spPr>
          <a:xfrm>
            <a:off x="868680" y="5394960"/>
            <a:ext cx="10424160" cy="82296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This is the intended impact of a prototype. No measured environmental outcome is claimed — the platform reports estimated emissions, not verified reductions.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B"/>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next</a:t>
            </a:r>
            <a:endParaRPr lang="en-US" sz="3800" dirty="0"/>
          </a:p>
        </p:txBody>
      </p:sp>
      <p:sp>
        <p:nvSpPr>
          <p:cNvPr id="3" name="Text 1"/>
          <p:cNvSpPr txBox="1"/>
          <p:nvPr/>
        </p:nvSpPr>
        <p:spPr>
          <a:xfrm>
            <a:off x="548640" y="1152144"/>
            <a:ext cx="11064240" cy="329184"/>
          </a:xfrm>
          <a:prstGeom prst="rect">
            <a:avLst/>
          </a:prstGeom>
          <a:noFill/>
          <a:ln/>
        </p:spPr>
        <p:txBody>
          <a:bodyPr wrap="square" lIns="0" tIns="0" rIns="0" bIns="0" rtlCol="0" anchor="ctr"/>
          <a:lstStyle/>
          <a:p>
            <a:pPr indent="0" marL="0">
              <a:buNone/>
            </a:pPr>
            <a:r>
              <a:rPr lang="en-US" sz="1400" dirty="0">
                <a:solidFill>
                  <a:srgbClr val="BFBFBA"/>
                </a:solidFill>
                <a:latin typeface="Arial" pitchFamily="34" charset="0"/>
                <a:ea typeface="Arial" pitchFamily="34" charset="-122"/>
                <a:cs typeface="Arial" pitchFamily="34" charset="-120"/>
              </a:rPr>
              <a:t>Roadmap items still open in the repository.</a:t>
            </a:r>
            <a:endParaRPr lang="en-US" sz="1400" dirty="0"/>
          </a:p>
        </p:txBody>
      </p:sp>
      <p:sp>
        <p:nvSpPr>
          <p:cNvPr id="4" name="Shape 2"/>
          <p:cNvSpPr/>
          <p:nvPr/>
        </p:nvSpPr>
        <p:spPr>
          <a:xfrm>
            <a:off x="548640" y="1847088"/>
            <a:ext cx="182880" cy="182880"/>
          </a:xfrm>
          <a:prstGeom prst="rect">
            <a:avLst/>
          </a:prstGeom>
          <a:solidFill>
            <a:srgbClr val="0B0B0B"/>
          </a:solidFill>
          <a:ln w="19050">
            <a:solidFill>
              <a:srgbClr val="00BFD8"/>
            </a:solidFill>
            <a:prstDash val="solid"/>
          </a:ln>
        </p:spPr>
      </p:sp>
      <p:sp>
        <p:nvSpPr>
          <p:cNvPr id="5" name="Text 3"/>
          <p:cNvSpPr txBox="1"/>
          <p:nvPr/>
        </p:nvSpPr>
        <p:spPr>
          <a:xfrm>
            <a:off x="914400" y="1783080"/>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Admin factor edit &amp; deactivation</a:t>
            </a:r>
            <a:endParaRPr lang="en-US" sz="1300" dirty="0"/>
          </a:p>
        </p:txBody>
      </p:sp>
      <p:sp>
        <p:nvSpPr>
          <p:cNvPr id="6" name="Text 4"/>
          <p:cNvSpPr txBox="1"/>
          <p:nvPr/>
        </p:nvSpPr>
        <p:spPr>
          <a:xfrm>
            <a:off x="914400" y="2039112"/>
            <a:ext cx="5029200" cy="274320"/>
          </a:xfrm>
          <a:prstGeom prst="rect">
            <a:avLst/>
          </a:prstGeom>
          <a:noFill/>
          <a:ln/>
        </p:spPr>
        <p:txBody>
          <a:bodyPr wrap="square" lIns="0" tIns="0" rIns="0" bIns="0" rtlCol="0" anchor="ctr"/>
          <a:lstStyle/>
          <a:p>
            <a:pPr indent="0" marL="0">
              <a:buNone/>
            </a:pPr>
            <a:r>
              <a:rPr lang="en-US" sz="1000" dirty="0">
                <a:solidFill>
                  <a:srgbClr val="9A9A95"/>
                </a:solidFill>
                <a:latin typeface="Arial" pitchFamily="34" charset="0"/>
                <a:ea typeface="Arial" pitchFamily="34" charset="-122"/>
                <a:cs typeface="Arial" pitchFamily="34" charset="-120"/>
              </a:rPr>
              <a:t>Currently list and create only</a:t>
            </a:r>
            <a:endParaRPr lang="en-US" sz="1000" dirty="0"/>
          </a:p>
        </p:txBody>
      </p:sp>
      <p:sp>
        <p:nvSpPr>
          <p:cNvPr id="7" name="Shape 5"/>
          <p:cNvSpPr/>
          <p:nvPr/>
        </p:nvSpPr>
        <p:spPr>
          <a:xfrm>
            <a:off x="548640" y="2514600"/>
            <a:ext cx="182880" cy="182880"/>
          </a:xfrm>
          <a:prstGeom prst="rect">
            <a:avLst/>
          </a:prstGeom>
          <a:solidFill>
            <a:srgbClr val="0B0B0B"/>
          </a:solidFill>
          <a:ln w="19050">
            <a:solidFill>
              <a:srgbClr val="00BFD8"/>
            </a:solidFill>
            <a:prstDash val="solid"/>
          </a:ln>
        </p:spPr>
      </p:sp>
      <p:sp>
        <p:nvSpPr>
          <p:cNvPr id="8" name="Text 6"/>
          <p:cNvSpPr txBox="1"/>
          <p:nvPr/>
        </p:nvSpPr>
        <p:spPr>
          <a:xfrm>
            <a:off x="914400" y="2450592"/>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Browser end-to-end testing</a:t>
            </a:r>
            <a:endParaRPr lang="en-US" sz="1300" dirty="0"/>
          </a:p>
        </p:txBody>
      </p:sp>
      <p:sp>
        <p:nvSpPr>
          <p:cNvPr id="9" name="Text 7"/>
          <p:cNvSpPr txBox="1"/>
          <p:nvPr/>
        </p:nvSpPr>
        <p:spPr>
          <a:xfrm>
            <a:off x="914400" y="2706624"/>
            <a:ext cx="5029200" cy="274320"/>
          </a:xfrm>
          <a:prstGeom prst="rect">
            <a:avLst/>
          </a:prstGeom>
          <a:noFill/>
          <a:ln/>
        </p:spPr>
        <p:txBody>
          <a:bodyPr wrap="square" lIns="0" tIns="0" rIns="0" bIns="0" rtlCol="0" anchor="ctr"/>
          <a:lstStyle/>
          <a:p>
            <a:pPr indent="0" marL="0">
              <a:buNone/>
            </a:pPr>
            <a:r>
              <a:rPr lang="en-US" sz="1000" dirty="0">
                <a:solidFill>
                  <a:srgbClr val="9A9A95"/>
                </a:solidFill>
                <a:latin typeface="Arial" pitchFamily="34" charset="0"/>
                <a:ea typeface="Arial" pitchFamily="34" charset="-122"/>
                <a:cs typeface="Arial" pitchFamily="34" charset="-120"/>
              </a:rPr>
              <a:t>Cypress or Playwright on top of the 67 existing tests</a:t>
            </a:r>
            <a:endParaRPr lang="en-US" sz="1000" dirty="0"/>
          </a:p>
        </p:txBody>
      </p:sp>
      <p:sp>
        <p:nvSpPr>
          <p:cNvPr id="10" name="Shape 8"/>
          <p:cNvSpPr/>
          <p:nvPr/>
        </p:nvSpPr>
        <p:spPr>
          <a:xfrm>
            <a:off x="548640" y="3182112"/>
            <a:ext cx="182880" cy="182880"/>
          </a:xfrm>
          <a:prstGeom prst="rect">
            <a:avLst/>
          </a:prstGeom>
          <a:solidFill>
            <a:srgbClr val="0B0B0B"/>
          </a:solidFill>
          <a:ln w="19050">
            <a:solidFill>
              <a:srgbClr val="00BFD8"/>
            </a:solidFill>
            <a:prstDash val="solid"/>
          </a:ln>
        </p:spPr>
      </p:sp>
      <p:sp>
        <p:nvSpPr>
          <p:cNvPr id="11" name="Text 9"/>
          <p:cNvSpPr txBox="1"/>
          <p:nvPr/>
        </p:nvSpPr>
        <p:spPr>
          <a:xfrm>
            <a:off x="914400" y="3118104"/>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PostgreSQL / multi-tenant support</a:t>
            </a:r>
            <a:endParaRPr lang="en-US" sz="1300" dirty="0"/>
          </a:p>
        </p:txBody>
      </p:sp>
      <p:sp>
        <p:nvSpPr>
          <p:cNvPr id="12" name="Text 10"/>
          <p:cNvSpPr txBox="1"/>
          <p:nvPr/>
        </p:nvSpPr>
        <p:spPr>
          <a:xfrm>
            <a:off x="914400" y="3374136"/>
            <a:ext cx="5029200" cy="274320"/>
          </a:xfrm>
          <a:prstGeom prst="rect">
            <a:avLst/>
          </a:prstGeom>
          <a:noFill/>
          <a:ln/>
        </p:spPr>
        <p:txBody>
          <a:bodyPr wrap="square" lIns="0" tIns="0" rIns="0" bIns="0" rtlCol="0" anchor="ctr"/>
          <a:lstStyle/>
          <a:p>
            <a:pPr indent="0" marL="0">
              <a:buNone/>
            </a:pPr>
            <a:r>
              <a:rPr lang="en-US" sz="1000" dirty="0">
                <a:solidFill>
                  <a:srgbClr val="9A9A95"/>
                </a:solidFill>
                <a:latin typeface="Arial" pitchFamily="34" charset="0"/>
                <a:ea typeface="Arial" pitchFamily="34" charset="-122"/>
                <a:cs typeface="Arial" pitchFamily="34" charset="-120"/>
              </a:rPr>
              <a:t>Move beyond a single-file SQLite database</a:t>
            </a:r>
            <a:endParaRPr lang="en-US" sz="1000" dirty="0"/>
          </a:p>
        </p:txBody>
      </p:sp>
      <p:sp>
        <p:nvSpPr>
          <p:cNvPr id="13" name="Shape 11"/>
          <p:cNvSpPr/>
          <p:nvPr/>
        </p:nvSpPr>
        <p:spPr>
          <a:xfrm>
            <a:off x="548640" y="3849624"/>
            <a:ext cx="182880" cy="182880"/>
          </a:xfrm>
          <a:prstGeom prst="rect">
            <a:avLst/>
          </a:prstGeom>
          <a:solidFill>
            <a:srgbClr val="0B0B0B"/>
          </a:solidFill>
          <a:ln w="19050">
            <a:solidFill>
              <a:srgbClr val="00BFD8"/>
            </a:solidFill>
            <a:prstDash val="solid"/>
          </a:ln>
        </p:spPr>
      </p:sp>
      <p:sp>
        <p:nvSpPr>
          <p:cNvPr id="14" name="Text 12"/>
          <p:cNvSpPr txBox="1"/>
          <p:nvPr/>
        </p:nvSpPr>
        <p:spPr>
          <a:xfrm>
            <a:off x="914400" y="3785616"/>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Persisted reduction plans linked to goals</a:t>
            </a:r>
            <a:endParaRPr lang="en-US" sz="1300" dirty="0"/>
          </a:p>
        </p:txBody>
      </p:sp>
      <p:sp>
        <p:nvSpPr>
          <p:cNvPr id="15" name="Text 13"/>
          <p:cNvSpPr txBox="1"/>
          <p:nvPr/>
        </p:nvSpPr>
        <p:spPr>
          <a:xfrm>
            <a:off x="914400" y="4041648"/>
            <a:ext cx="5029200" cy="274320"/>
          </a:xfrm>
          <a:prstGeom prst="rect">
            <a:avLst/>
          </a:prstGeom>
          <a:noFill/>
          <a:ln/>
        </p:spPr>
        <p:txBody>
          <a:bodyPr wrap="square" lIns="0" tIns="0" rIns="0" bIns="0" rtlCol="0" anchor="ctr"/>
          <a:lstStyle/>
          <a:p>
            <a:pPr indent="0" marL="0">
              <a:buNone/>
            </a:pPr>
            <a:r>
              <a:rPr lang="en-US" sz="1000" dirty="0">
                <a:solidFill>
                  <a:srgbClr val="9A9A95"/>
                </a:solidFill>
                <a:latin typeface="Arial" pitchFamily="34" charset="0"/>
                <a:ea typeface="Arial" pitchFamily="34" charset="-122"/>
                <a:cs typeface="Arial" pitchFamily="34" charset="-120"/>
              </a:rPr>
              <a:t>With automatic re-evaluation as the footprint changes</a:t>
            </a:r>
            <a:endParaRPr lang="en-US" sz="1000" dirty="0"/>
          </a:p>
        </p:txBody>
      </p:sp>
      <p:sp>
        <p:nvSpPr>
          <p:cNvPr id="16" name="Shape 14"/>
          <p:cNvSpPr/>
          <p:nvPr/>
        </p:nvSpPr>
        <p:spPr>
          <a:xfrm>
            <a:off x="548640" y="4517136"/>
            <a:ext cx="182880" cy="182880"/>
          </a:xfrm>
          <a:prstGeom prst="rect">
            <a:avLst/>
          </a:prstGeom>
          <a:solidFill>
            <a:srgbClr val="0B0B0B"/>
          </a:solidFill>
          <a:ln w="19050">
            <a:solidFill>
              <a:srgbClr val="00BFD8"/>
            </a:solidFill>
            <a:prstDash val="solid"/>
          </a:ln>
        </p:spPr>
      </p:sp>
      <p:sp>
        <p:nvSpPr>
          <p:cNvPr id="17" name="Text 15"/>
          <p:cNvSpPr txBox="1"/>
          <p:nvPr/>
        </p:nvSpPr>
        <p:spPr>
          <a:xfrm>
            <a:off x="914400" y="4453128"/>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Improved simulator cost modelling</a:t>
            </a:r>
            <a:endParaRPr lang="en-US" sz="1300" dirty="0"/>
          </a:p>
        </p:txBody>
      </p:sp>
      <p:sp>
        <p:nvSpPr>
          <p:cNvPr id="18" name="Text 16"/>
          <p:cNvSpPr txBox="1"/>
          <p:nvPr/>
        </p:nvSpPr>
        <p:spPr>
          <a:xfrm>
            <a:off x="914400" y="4709160"/>
            <a:ext cx="5029200" cy="274320"/>
          </a:xfrm>
          <a:prstGeom prst="rect">
            <a:avLst/>
          </a:prstGeom>
          <a:noFill/>
          <a:ln/>
        </p:spPr>
        <p:txBody>
          <a:bodyPr wrap="square" lIns="0" tIns="0" rIns="0" bIns="0" rtlCol="0" anchor="ctr"/>
          <a:lstStyle/>
          <a:p>
            <a:pPr indent="0" marL="0">
              <a:buNone/>
            </a:pPr>
            <a:r>
              <a:rPr lang="en-US" sz="1000" dirty="0">
                <a:solidFill>
                  <a:srgbClr val="9A9A95"/>
                </a:solidFill>
                <a:latin typeface="Arial" pitchFamily="34" charset="0"/>
                <a:ea typeface="Arial" pitchFamily="34" charset="-122"/>
                <a:cs typeface="Arial" pitchFamily="34" charset="-120"/>
              </a:rPr>
              <a:t>More realistic spend estimates per action</a:t>
            </a:r>
            <a:endParaRPr lang="en-US" sz="1000" dirty="0"/>
          </a:p>
        </p:txBody>
      </p:sp>
      <p:sp>
        <p:nvSpPr>
          <p:cNvPr id="19" name="Shape 17"/>
          <p:cNvSpPr/>
          <p:nvPr/>
        </p:nvSpPr>
        <p:spPr>
          <a:xfrm>
            <a:off x="548640" y="5184648"/>
            <a:ext cx="182880" cy="182880"/>
          </a:xfrm>
          <a:prstGeom prst="rect">
            <a:avLst/>
          </a:prstGeom>
          <a:solidFill>
            <a:srgbClr val="0B0B0B"/>
          </a:solidFill>
          <a:ln w="19050">
            <a:solidFill>
              <a:srgbClr val="00BFD8"/>
            </a:solidFill>
            <a:prstDash val="solid"/>
          </a:ln>
        </p:spPr>
      </p:sp>
      <p:sp>
        <p:nvSpPr>
          <p:cNvPr id="20" name="Text 18"/>
          <p:cNvSpPr txBox="1"/>
          <p:nvPr/>
        </p:nvSpPr>
        <p:spPr>
          <a:xfrm>
            <a:off x="914400" y="5120640"/>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Broader consumption coverage</a:t>
            </a:r>
            <a:endParaRPr lang="en-US" sz="1300" dirty="0"/>
          </a:p>
        </p:txBody>
      </p:sp>
      <p:sp>
        <p:nvSpPr>
          <p:cNvPr id="21" name="Text 19"/>
          <p:cNvSpPr txBox="1"/>
          <p:nvPr/>
        </p:nvSpPr>
        <p:spPr>
          <a:xfrm>
            <a:off x="914400" y="5376672"/>
            <a:ext cx="5029200" cy="274320"/>
          </a:xfrm>
          <a:prstGeom prst="rect">
            <a:avLst/>
          </a:prstGeom>
          <a:noFill/>
          <a:ln/>
        </p:spPr>
        <p:txBody>
          <a:bodyPr wrap="square" lIns="0" tIns="0" rIns="0" bIns="0" rtlCol="0" anchor="ctr"/>
          <a:lstStyle/>
          <a:p>
            <a:pPr indent="0" marL="0">
              <a:buNone/>
            </a:pPr>
            <a:r>
              <a:rPr lang="en-US" sz="1000" dirty="0">
                <a:solidFill>
                  <a:srgbClr val="9A9A95"/>
                </a:solidFill>
                <a:latin typeface="Arial" pitchFamily="34" charset="0"/>
                <a:ea typeface="Arial" pitchFamily="34" charset="-122"/>
                <a:cs typeface="Arial" pitchFamily="34" charset="-120"/>
              </a:rPr>
              <a:t>Clothing and electronics in onboarding and the simulator</a:t>
            </a:r>
            <a:endParaRPr lang="en-US" sz="1000" dirty="0"/>
          </a:p>
        </p:txBody>
      </p:sp>
      <p:sp>
        <p:nvSpPr>
          <p:cNvPr id="22" name="Shape 20"/>
          <p:cNvSpPr/>
          <p:nvPr/>
        </p:nvSpPr>
        <p:spPr>
          <a:xfrm>
            <a:off x="6400800" y="1783080"/>
            <a:ext cx="0" cy="4023360"/>
          </a:xfrm>
          <a:prstGeom prst="line">
            <a:avLst/>
          </a:prstGeom>
          <a:noFill/>
          <a:ln w="12700">
            <a:solidFill>
              <a:srgbClr val="3A3A38"/>
            </a:solidFill>
            <a:prstDash val="solid"/>
          </a:ln>
        </p:spPr>
      </p:sp>
      <p:sp>
        <p:nvSpPr>
          <p:cNvPr id="23" name="Text 21"/>
          <p:cNvSpPr txBox="1"/>
          <p:nvPr/>
        </p:nvSpPr>
        <p:spPr>
          <a:xfrm>
            <a:off x="6858000" y="1965960"/>
            <a:ext cx="4846320" cy="868680"/>
          </a:xfrm>
          <a:prstGeom prst="rect">
            <a:avLst/>
          </a:prstGeom>
          <a:noFill/>
          <a:ln/>
        </p:spPr>
        <p:txBody>
          <a:bodyPr wrap="square" lIns="0" tIns="0" rIns="0" bIns="0" rtlCol="0" anchor="t"/>
          <a:lstStyle/>
          <a:p>
            <a:pPr indent="0" marL="0">
              <a:lnSpc>
                <a:spcPts val="3100"/>
              </a:lnSpc>
              <a:buNone/>
            </a:pPr>
            <a:r>
              <a:rPr lang="en-US" sz="2700" b="1" dirty="0">
                <a:solidFill>
                  <a:srgbClr val="FFFFFF"/>
                </a:solidFill>
                <a:latin typeface="Arial" pitchFamily="34" charset="0"/>
                <a:ea typeface="Arial" pitchFamily="34" charset="-122"/>
                <a:cs typeface="Arial" pitchFamily="34" charset="-120"/>
              </a:rPr>
              <a:t>Don't just calculate your footprint.</a:t>
            </a:r>
            <a:endParaRPr lang="en-US" sz="2700" dirty="0"/>
          </a:p>
        </p:txBody>
      </p:sp>
      <p:sp>
        <p:nvSpPr>
          <p:cNvPr id="24" name="Text 22"/>
          <p:cNvSpPr txBox="1"/>
          <p:nvPr/>
        </p:nvSpPr>
        <p:spPr>
          <a:xfrm>
            <a:off x="6858000" y="2880360"/>
            <a:ext cx="4846320" cy="868680"/>
          </a:xfrm>
          <a:prstGeom prst="rect">
            <a:avLst/>
          </a:prstGeom>
          <a:noFill/>
          <a:ln/>
        </p:spPr>
        <p:txBody>
          <a:bodyPr wrap="square" lIns="0" tIns="0" rIns="0" bIns="0" rtlCol="0" anchor="t"/>
          <a:lstStyle/>
          <a:p>
            <a:pPr indent="0" marL="0">
              <a:lnSpc>
                <a:spcPts val="3100"/>
              </a:lnSpc>
              <a:buNone/>
            </a:pPr>
            <a:r>
              <a:rPr lang="en-US" sz="2700" b="1" dirty="0">
                <a:solidFill>
                  <a:srgbClr val="00BFD8"/>
                </a:solidFill>
                <a:latin typeface="Arial" pitchFamily="34" charset="0"/>
                <a:ea typeface="Arial" pitchFamily="34" charset="-122"/>
                <a:cs typeface="Arial" pitchFamily="34" charset="-120"/>
              </a:rPr>
              <a:t>Understand it. Change it. Track it.</a:t>
            </a:r>
            <a:endParaRPr lang="en-US" sz="2700" dirty="0"/>
          </a:p>
        </p:txBody>
      </p:sp>
      <p:sp>
        <p:nvSpPr>
          <p:cNvPr id="25" name="Shape 23"/>
          <p:cNvSpPr/>
          <p:nvPr/>
        </p:nvSpPr>
        <p:spPr>
          <a:xfrm>
            <a:off x="6858000" y="3794760"/>
            <a:ext cx="4389120" cy="0"/>
          </a:xfrm>
          <a:prstGeom prst="line">
            <a:avLst/>
          </a:prstGeom>
          <a:noFill/>
          <a:ln w="12700">
            <a:solidFill>
              <a:srgbClr val="3A3A38"/>
            </a:solidFill>
            <a:prstDash val="solid"/>
          </a:ln>
        </p:spPr>
      </p:sp>
      <p:sp>
        <p:nvSpPr>
          <p:cNvPr id="26" name="Text 24"/>
          <p:cNvSpPr txBox="1"/>
          <p:nvPr/>
        </p:nvSpPr>
        <p:spPr>
          <a:xfrm>
            <a:off x="6858000" y="3977640"/>
            <a:ext cx="4572000" cy="914400"/>
          </a:xfrm>
          <a:prstGeom prst="rect">
            <a:avLst/>
          </a:prstGeom>
          <a:noFill/>
          <a:ln/>
        </p:spPr>
        <p:txBody>
          <a:bodyPr wrap="square" lIns="0" tIns="0" rIns="0" bIns="0" rtlCol="0" anchor="ctr"/>
          <a:lstStyle/>
          <a:p>
            <a:pPr indent="0" marL="0">
              <a:lnSpc>
                <a:spcPts val="2000"/>
              </a:lnSpc>
              <a:buNone/>
            </a:pPr>
            <a:r>
              <a:rPr lang="en-US" sz="1400" dirty="0">
                <a:solidFill>
                  <a:srgbClr val="C9C9C4"/>
                </a:solidFill>
                <a:latin typeface="Arial" pitchFamily="34" charset="0"/>
                <a:ea typeface="Arial" pitchFamily="34" charset="-122"/>
                <a:cs typeface="Arial" pitchFamily="34" charset="-120"/>
              </a:rPr>
              <a:t>offset.io turns carbon measurement into an ongoing feedback loop for more informed personal decisions.</a:t>
            </a:r>
            <a:endParaRPr lang="en-US" sz="1400" dirty="0"/>
          </a:p>
        </p:txBody>
      </p:sp>
      <p:sp>
        <p:nvSpPr>
          <p:cNvPr id="27" name="Shape 25"/>
          <p:cNvSpPr/>
          <p:nvPr/>
        </p:nvSpPr>
        <p:spPr>
          <a:xfrm>
            <a:off x="6858000" y="5074920"/>
            <a:ext cx="896112" cy="365760"/>
          </a:xfrm>
          <a:prstGeom prst="roundRect">
            <a:avLst>
              <a:gd name="adj" fmla="val 25000"/>
            </a:avLst>
          </a:prstGeom>
          <a:solidFill>
            <a:srgbClr val="00BFD8"/>
          </a:solidFill>
          <a:ln w="12700">
            <a:solidFill>
              <a:srgbClr val="00BFD8"/>
            </a:solidFill>
            <a:prstDash val="solid"/>
          </a:ln>
        </p:spPr>
      </p:sp>
      <p:sp>
        <p:nvSpPr>
          <p:cNvPr id="28" name="Text 26"/>
          <p:cNvSpPr txBox="1"/>
          <p:nvPr/>
        </p:nvSpPr>
        <p:spPr>
          <a:xfrm>
            <a:off x="6858000" y="5074920"/>
            <a:ext cx="896112" cy="365760"/>
          </a:xfrm>
          <a:prstGeom prst="rect">
            <a:avLst/>
          </a:prstGeom>
          <a:noFill/>
          <a:ln/>
        </p:spPr>
        <p:txBody>
          <a:bodyPr wrap="square" lIns="0" tIns="0" rIns="0" bIns="0" rtlCol="0" anchor="ctr"/>
          <a:lstStyle/>
          <a:p>
            <a:pPr algn="ctr" indent="0" marL="0">
              <a:buNone/>
            </a:pPr>
            <a:r>
              <a:rPr lang="en-US" sz="800" b="1" dirty="0">
                <a:solidFill>
                  <a:srgbClr val="0B0B0B"/>
                </a:solidFill>
                <a:latin typeface="Arial" pitchFamily="34" charset="0"/>
                <a:ea typeface="Arial" pitchFamily="34" charset="-122"/>
                <a:cs typeface="Arial" pitchFamily="34" charset="-120"/>
              </a:rPr>
              <a:t>Measure</a:t>
            </a:r>
            <a:endParaRPr lang="en-US" sz="800" dirty="0"/>
          </a:p>
        </p:txBody>
      </p:sp>
      <p:sp>
        <p:nvSpPr>
          <p:cNvPr id="29" name="Shape 27"/>
          <p:cNvSpPr/>
          <p:nvPr/>
        </p:nvSpPr>
        <p:spPr>
          <a:xfrm>
            <a:off x="7827264" y="5074920"/>
            <a:ext cx="896112" cy="365760"/>
          </a:xfrm>
          <a:prstGeom prst="roundRect">
            <a:avLst>
              <a:gd name="adj" fmla="val 25000"/>
            </a:avLst>
          </a:prstGeom>
          <a:solidFill>
            <a:srgbClr val="1F1F1F"/>
          </a:solidFill>
          <a:ln w="12700">
            <a:solidFill>
              <a:srgbClr val="1F1F1F"/>
            </a:solidFill>
            <a:prstDash val="solid"/>
          </a:ln>
        </p:spPr>
      </p:sp>
      <p:sp>
        <p:nvSpPr>
          <p:cNvPr id="30" name="Text 28"/>
          <p:cNvSpPr txBox="1"/>
          <p:nvPr/>
        </p:nvSpPr>
        <p:spPr>
          <a:xfrm>
            <a:off x="7827264" y="5074920"/>
            <a:ext cx="896112"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Understand</a:t>
            </a:r>
            <a:endParaRPr lang="en-US" sz="800" dirty="0"/>
          </a:p>
        </p:txBody>
      </p:sp>
      <p:sp>
        <p:nvSpPr>
          <p:cNvPr id="31" name="Shape 29"/>
          <p:cNvSpPr/>
          <p:nvPr/>
        </p:nvSpPr>
        <p:spPr>
          <a:xfrm>
            <a:off x="8796528" y="5074920"/>
            <a:ext cx="896112" cy="365760"/>
          </a:xfrm>
          <a:prstGeom prst="roundRect">
            <a:avLst>
              <a:gd name="adj" fmla="val 25000"/>
            </a:avLst>
          </a:prstGeom>
          <a:solidFill>
            <a:srgbClr val="00BFD8"/>
          </a:solidFill>
          <a:ln w="12700">
            <a:solidFill>
              <a:srgbClr val="00BFD8"/>
            </a:solidFill>
            <a:prstDash val="solid"/>
          </a:ln>
        </p:spPr>
      </p:sp>
      <p:sp>
        <p:nvSpPr>
          <p:cNvPr id="32" name="Text 30"/>
          <p:cNvSpPr txBox="1"/>
          <p:nvPr/>
        </p:nvSpPr>
        <p:spPr>
          <a:xfrm>
            <a:off x="8796528" y="5074920"/>
            <a:ext cx="896112" cy="365760"/>
          </a:xfrm>
          <a:prstGeom prst="rect">
            <a:avLst/>
          </a:prstGeom>
          <a:noFill/>
          <a:ln/>
        </p:spPr>
        <p:txBody>
          <a:bodyPr wrap="square" lIns="0" tIns="0" rIns="0" bIns="0" rtlCol="0" anchor="ctr"/>
          <a:lstStyle/>
          <a:p>
            <a:pPr algn="ctr" indent="0" marL="0">
              <a:buNone/>
            </a:pPr>
            <a:r>
              <a:rPr lang="en-US" sz="800" b="1" dirty="0">
                <a:solidFill>
                  <a:srgbClr val="0B0B0B"/>
                </a:solidFill>
                <a:latin typeface="Arial" pitchFamily="34" charset="0"/>
                <a:ea typeface="Arial" pitchFamily="34" charset="-122"/>
                <a:cs typeface="Arial" pitchFamily="34" charset="-120"/>
              </a:rPr>
              <a:t>Simulate</a:t>
            </a:r>
            <a:endParaRPr lang="en-US" sz="800" dirty="0"/>
          </a:p>
        </p:txBody>
      </p:sp>
      <p:sp>
        <p:nvSpPr>
          <p:cNvPr id="33" name="Shape 31"/>
          <p:cNvSpPr/>
          <p:nvPr/>
        </p:nvSpPr>
        <p:spPr>
          <a:xfrm>
            <a:off x="9765792" y="5074920"/>
            <a:ext cx="896112" cy="365760"/>
          </a:xfrm>
          <a:prstGeom prst="roundRect">
            <a:avLst>
              <a:gd name="adj" fmla="val 25000"/>
            </a:avLst>
          </a:prstGeom>
          <a:solidFill>
            <a:srgbClr val="1F1F1F"/>
          </a:solidFill>
          <a:ln w="12700">
            <a:solidFill>
              <a:srgbClr val="1F1F1F"/>
            </a:solidFill>
            <a:prstDash val="solid"/>
          </a:ln>
        </p:spPr>
      </p:sp>
      <p:sp>
        <p:nvSpPr>
          <p:cNvPr id="34" name="Text 32"/>
          <p:cNvSpPr txBox="1"/>
          <p:nvPr/>
        </p:nvSpPr>
        <p:spPr>
          <a:xfrm>
            <a:off x="9765792" y="5074920"/>
            <a:ext cx="896112"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Optimize</a:t>
            </a:r>
            <a:endParaRPr lang="en-US" sz="800" dirty="0"/>
          </a:p>
        </p:txBody>
      </p:sp>
      <p:sp>
        <p:nvSpPr>
          <p:cNvPr id="35" name="Shape 33"/>
          <p:cNvSpPr/>
          <p:nvPr/>
        </p:nvSpPr>
        <p:spPr>
          <a:xfrm>
            <a:off x="10735056" y="5074920"/>
            <a:ext cx="896112" cy="365760"/>
          </a:xfrm>
          <a:prstGeom prst="roundRect">
            <a:avLst>
              <a:gd name="adj" fmla="val 25000"/>
            </a:avLst>
          </a:prstGeom>
          <a:solidFill>
            <a:srgbClr val="00BFD8"/>
          </a:solidFill>
          <a:ln w="12700">
            <a:solidFill>
              <a:srgbClr val="00BFD8"/>
            </a:solidFill>
            <a:prstDash val="solid"/>
          </a:ln>
        </p:spPr>
      </p:sp>
      <p:sp>
        <p:nvSpPr>
          <p:cNvPr id="36" name="Text 34"/>
          <p:cNvSpPr txBox="1"/>
          <p:nvPr/>
        </p:nvSpPr>
        <p:spPr>
          <a:xfrm>
            <a:off x="10735056" y="5074920"/>
            <a:ext cx="896112" cy="365760"/>
          </a:xfrm>
          <a:prstGeom prst="rect">
            <a:avLst/>
          </a:prstGeom>
          <a:noFill/>
          <a:ln/>
        </p:spPr>
        <p:txBody>
          <a:bodyPr wrap="square" lIns="0" tIns="0" rIns="0" bIns="0" rtlCol="0" anchor="ctr"/>
          <a:lstStyle/>
          <a:p>
            <a:pPr algn="ctr" indent="0" marL="0">
              <a:buNone/>
            </a:pPr>
            <a:r>
              <a:rPr lang="en-US" sz="800" b="1" dirty="0">
                <a:solidFill>
                  <a:srgbClr val="0B0B0B"/>
                </a:solidFill>
                <a:latin typeface="Arial" pitchFamily="34" charset="0"/>
                <a:ea typeface="Arial" pitchFamily="34" charset="-122"/>
                <a:cs typeface="Arial" pitchFamily="34" charset="-120"/>
              </a:rPr>
              <a:t>Track</a:t>
            </a:r>
            <a:endParaRPr lang="en-US" sz="800" dirty="0"/>
          </a:p>
        </p:txBody>
      </p:sp>
      <p:sp>
        <p:nvSpPr>
          <p:cNvPr id="37" name="Text 35"/>
          <p:cNvSpPr txBox="1"/>
          <p:nvPr/>
        </p:nvSpPr>
        <p:spPr>
          <a:xfrm>
            <a:off x="548640" y="6080760"/>
            <a:ext cx="11064240" cy="320040"/>
          </a:xfrm>
          <a:prstGeom prst="rect">
            <a:avLst/>
          </a:prstGeom>
          <a:noFill/>
          <a:ln/>
        </p:spPr>
        <p:txBody>
          <a:bodyPr wrap="square" lIns="0" tIns="0" rIns="0" bIns="0" rtlCol="0" anchor="ctr"/>
          <a:lstStyle/>
          <a:p>
            <a:pPr indent="0" marL="0">
              <a:buNone/>
            </a:pPr>
            <a:r>
              <a:rPr lang="en-US" sz="1100" dirty="0">
                <a:solidFill>
                  <a:srgbClr val="9A9A95"/>
                </a:solidFill>
                <a:latin typeface="Arial" pitchFamily="34" charset="0"/>
                <a:ea typeface="Arial" pitchFamily="34" charset="-122"/>
                <a:cs typeface="Arial" pitchFamily="34" charset="-120"/>
              </a:rPr>
              <a:t>Thank you  ·  1M1B AI for Sustainability  ·  IBM SkillsBuild  ·  AICTE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2026-09-18T15:09:11Z</dcterms:created>
  <dcterms:modified xsi:type="dcterms:W3CDTF">2026-09-18T15:09:11Z</dcterms:modified>
</cp:coreProperties>
</file>